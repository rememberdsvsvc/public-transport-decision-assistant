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minutes. About forty of me, twenty of you — more talk than Week 6, deliberately, because this is new content rather than a diagnostic on content you already have. Nobody has their own data yet; everything today is on shared material. On Friday you do it to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nested sample and the shape of the week. Analysis is being taught for the first time today, by design — you could not have used it before you had data to imagine it on. Say plainly what a first pass is so Friday is not frightening.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walked the first four links. Analysis is the step that turns what they collected into something they can say — and the step where teams most often say more than the data allows. Introduce the three-word register here; it is used all the way to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because it lowers the stakes. A first pass is three things. The tools matter only in one way: start in the tool you will finish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harder of the two, and most teams have more of this data than they planned for. Activity A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Codes are many, small and close to the data. Themes are few and each is supported by traceable extracts. Today is codes.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Braun and Clarke’s six phases are the shape of the whole job. Shade the first two and say the shading is the point — nobody is being asked for themes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have both kinds of question and will use both. The same transcript can be coded twice, once each way. This slide is the rule they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for a code: could someone read the code alone and know what the participant did or said? Fifteen to forty codes per transcript on a first pass is typical. Fewer than ten is topics; more than sixty is every sentence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 Nielsen as the default because heuristics map directly onto observed breakdowns in a think-aloud; Norman for questions about discoverability or the participant’s model. Name the framework in the notebook; do not mix them on one question. Then the protective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dimensions of what is happening to and for the person while they use the system. They overlap, and a single moment often codes to two or three of them; the interplay is where the experience finding usually lies. Perception includes the effort of de-coding itself — for a person living with aphasia, decoding a sentence can be the whole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two or three aloud and ask the room where else each could be coded. The confusion extract is Perception and Emotion at once; the “saves automatically” extract is Cognition and, arguably, competence. That overlap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No agreement statistic is needed at this scale — what is needed is the conversation about the disagreements and the tightened definitions,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 — the extract is not yet written. Pass 1 individually so the disagreements appear; Pass 2 as a group. Hold the in-context use question on screen. Twelve minutes total; if the room is slow, Pass 2 only and show an inductive coder’s margin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P10: 25–34, confidence 4, no prior planning habit, one error on Task 1 (64 s), SUS 55, one of the six interviewees. Task 1 is: add an assignment deadline and let the planner schedule study blocks. This slide stays up during both passes; the same page is the handout, and the same text is the sample transcript in the Digital Workspace. Seeded moments for you: Perception at 2 and 12; Action at 4; Cognition at 5 and 10; Emotion at 12 and the relief in 4; hedonia at 8; autonomy at 5 and 12, competence at 12, relatedness at 14; the facilitator’s hint at 9; the in-context material at 7, 8 and 14; and the last sentence of 14 fits no framework — it is a systemic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or three groups. Ask for the link first: which codes had no home in PACE+W (usually fit, routine, reasons), and which PACE+W codes made them notice something skipped (usually Emotion and Perception). Then the disagreement inside a group — the argument for a codebook with definitions and a second 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few and most teams have the same shape of data. Row 4 in Week 6 showed the small-n fault without teaching the fix; this part teaches the fix and goes one step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Week 6: the quantitative strand sets your total, the qualitative strand sets your subset. The six are inside the eighteen. Whether the six were typical of the whole is answerable on Friday from the demographics sheet alone — the first integration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and every column in the CSV is one of them. The kind decides how you summarise it, how you plot it, and — later — which tool you may use on it. Do not name the tests here; they come after the two questions. The Likert trap is the one to land: it looks like a number, it is an order, and a mean of it is a mean of labels. SUS is the exception by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one is the Row 4 fix from Week 6. Rule four is the bridge to the next slide. Percentages from the six interviewees: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the resource page repeats it. Non-completions are never dropped — and they go in the deviation log if they were not planned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introduction — no test names yet. Two questions, one shared rule: plot first. Introduce the p-value idea here in plain words, because it belongs to both questions. With eighteen people, only a big pattern is surprising; a small one is invisible to any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names — and only now. Each tool is a question plus a kind of data. Spearman works on ranks, so an extreme value cannot drag it and it is safe for ordered data; that makes it the default. Pearson wants a straight line through measured values and one extreme point can make or break it — Activity B shows exactly that. Mann–Whitney is Spearman’s cousin for two groups. Fisher’s exact is for the yes/no count table, where chi-square would be wrong at these counts. The notebook picks the right one from the kind of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for association. Decide in advance — thirty possible pairs and one or two will look interesting by chance. Report ρ, n and p together. A null is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discipline, same order. Two groups only. The null message is the one they will get wrong: a test that cannot confirm a difference has not shown there is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 Groups of three or four, four minutes: write two sentences — the strongest claim the data supports, and one claim it cannot support. The data is the study planner sample from the Colab notebook; the six marked ★ are the interviewees, and P10 is the person in the Activity A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Pearson says significant, Spearman does not, and P05 at 97.5 is why — one dot making the line. Right: a 17-second gap in medians that nine-versus-eight cannot confirm — and “performed the same” is wrong. Someone will say each of those; let them, then correct it with the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surface in the room: 83% with the assisted completions folded in; the mean time dragged by P11; “significant” from Pearson with P05 doing the work; and “performed the same” from p=.11. Rewrite one live. Then the interviewee check: the six were the most 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will not go to plan this week. Not writing it down is the problem. The claim-strength check on Friday: the Week 5 prospective claim beside the claim the evidence now supports, with the gap named. Say what “demonstrates” needs so it is used rarely and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state the team is in. Then what not to do. Week 8 is where the strands meet — only possible if both have been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403B"/>
        </a:solidFill>
      </p:bgPr>
    </p:bg>
    <p:spTree>
      <p:nvGrpSpPr>
        <p:cNvPr id="1" name=""/>
        <p:cNvGrpSpPr/>
        <p:nvPr/>
      </p:nvGrpSpPr>
      <p:grpSpPr>
        <a:xfrm>
          <a:off x="0" y="0"/>
          <a:ext cx="0" cy="0"/>
          <a:chOff x="0" y="0"/>
          <a:chExt cx="0" cy="0"/>
        </a:xfrm>
      </p:grpSpPr>
      <p:sp>
        <p:nvSpPr>
          <p:cNvPr id="2" name="Shape 0"/>
          <p:cNvSpPr/>
          <p:nvPr/>
        </p:nvSpPr>
        <p:spPr>
          <a:xfrm>
            <a:off x="9601200" y="-1371600"/>
            <a:ext cx="4023360" cy="4023360"/>
          </a:xfrm>
          <a:prstGeom prst="ellipse">
            <a:avLst/>
          </a:prstGeom>
          <a:solidFill>
            <a:srgbClr val="2C5E52"/>
          </a:solidFill>
          <a:ln w="12700">
            <a:solidFill>
              <a:srgbClr val="2C5E52"/>
            </a:solidFill>
            <a:prstDash val="solid"/>
          </a:ln>
        </p:spPr>
      </p:sp>
      <p:sp>
        <p:nvSpPr>
          <p:cNvPr id="3" name="Text 1"/>
          <p:cNvSpPr txBox="1"/>
          <p:nvPr/>
        </p:nvSpPr>
        <p:spPr>
          <a:xfrm>
            <a:off x="731520" y="2057400"/>
            <a:ext cx="8412480" cy="274320"/>
          </a:xfrm>
          <a:prstGeom prst="rect">
            <a:avLst/>
          </a:prstGeom>
          <a:noFill/>
          <a:ln/>
        </p:spPr>
        <p:txBody>
          <a:bodyPr wrap="square" lIns="0" tIns="0" rIns="0" bIns="0" rtlCol="0" anchor="ctr"/>
          <a:lstStyle/>
          <a:p>
            <a:pPr indent="0" marL="0">
              <a:buNone/>
            </a:pPr>
            <a:r>
              <a:rPr lang="en-US" sz="1050" b="1" spc="200" kern="0" dirty="0">
                <a:solidFill>
                  <a:srgbClr val="9FB5AC"/>
                </a:solidFill>
                <a:latin typeface="Arial" pitchFamily="34" charset="0"/>
                <a:ea typeface="Arial" pitchFamily="34" charset="-122"/>
                <a:cs typeface="Arial" pitchFamily="34" charset="-120"/>
              </a:rPr>
              <a:t>DECO6500 · ADVANCED HUMAN-COMPUTER INTERACTION · SEMESTER 2, 2026</a:t>
            </a:r>
            <a:endParaRPr lang="en-US" sz="1050" dirty="0"/>
          </a:p>
        </p:txBody>
      </p:sp>
      <p:sp>
        <p:nvSpPr>
          <p:cNvPr id="4" name="Text 2"/>
          <p:cNvSpPr txBox="1"/>
          <p:nvPr/>
        </p:nvSpPr>
        <p:spPr>
          <a:xfrm>
            <a:off x="731520" y="2487168"/>
            <a:ext cx="8229600" cy="365760"/>
          </a:xfrm>
          <a:prstGeom prst="rect">
            <a:avLst/>
          </a:prstGeom>
          <a:noFill/>
          <a:ln/>
        </p:spPr>
        <p:txBody>
          <a:bodyPr wrap="square" lIns="0" tIns="0" rIns="0" bIns="0" rtlCol="0" anchor="ctr"/>
          <a:lstStyle/>
          <a:p>
            <a:pPr indent="0" marL="0">
              <a:buNone/>
            </a:pPr>
            <a:r>
              <a:rPr lang="en-US" sz="1900" b="1" dirty="0">
                <a:solidFill>
                  <a:srgbClr val="D9A05B"/>
                </a:solidFill>
                <a:latin typeface="Arial" pitchFamily="34" charset="0"/>
                <a:ea typeface="Arial" pitchFamily="34" charset="-122"/>
                <a:cs typeface="Arial" pitchFamily="34" charset="-120"/>
              </a:rPr>
              <a:t>Week 7 Lecture</a:t>
            </a:r>
            <a:endParaRPr lang="en-US" sz="1900" dirty="0"/>
          </a:p>
        </p:txBody>
      </p:sp>
      <p:sp>
        <p:nvSpPr>
          <p:cNvPr id="5" name="Text 3"/>
          <p:cNvSpPr txBox="1"/>
          <p:nvPr/>
        </p:nvSpPr>
        <p:spPr>
          <a:xfrm>
            <a:off x="731520" y="2999232"/>
            <a:ext cx="10058400" cy="86868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What the Evidence Can Tell You</a:t>
            </a:r>
            <a:endParaRPr lang="en-US" sz="4200" dirty="0"/>
          </a:p>
        </p:txBody>
      </p:sp>
      <p:sp>
        <p:nvSpPr>
          <p:cNvPr id="6" name="Text 4"/>
          <p:cNvSpPr txBox="1"/>
          <p:nvPr/>
        </p:nvSpPr>
        <p:spPr>
          <a:xfrm>
            <a:off x="731520" y="4005072"/>
            <a:ext cx="9875520" cy="457200"/>
          </a:xfrm>
          <a:prstGeom prst="rect">
            <a:avLst/>
          </a:prstGeom>
          <a:noFill/>
          <a:ln/>
        </p:spPr>
        <p:txBody>
          <a:bodyPr wrap="square" lIns="0" tIns="0" rIns="0" bIns="0" rtlCol="0" anchor="ctr"/>
          <a:lstStyle/>
          <a:p>
            <a:pPr indent="0" marL="0">
              <a:buNone/>
            </a:pPr>
            <a:r>
              <a:rPr lang="en-US" sz="1500" dirty="0">
                <a:solidFill>
                  <a:srgbClr val="C3D2CB"/>
                </a:solidFill>
                <a:latin typeface="Calibri" pitchFamily="34" charset="0"/>
                <a:ea typeface="Calibri" pitchFamily="34" charset="-122"/>
                <a:cs typeface="Calibri" pitchFamily="34" charset="-120"/>
              </a:rPr>
              <a:t>A first pass at thematic analysis and descriptive statistics — and how to say no more than your data lets you</a:t>
            </a:r>
            <a:endParaRPr lang="en-US" sz="1500" dirty="0"/>
          </a:p>
        </p:txBody>
      </p:sp>
      <p:sp>
        <p:nvSpPr>
          <p:cNvPr id="7" name="Text 5"/>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7E938B"/>
                </a:solidFill>
                <a:latin typeface="Calibri" pitchFamily="34" charset="0"/>
                <a:ea typeface="Calibri" pitchFamily="34" charset="-122"/>
                <a:cs typeface="Calibri" pitchFamily="34" charset="-120"/>
              </a:rPr>
              <a:t>Week 7 — What the Evidence Can Tell You</a:t>
            </a:r>
            <a:endParaRPr lang="en-US" sz="900" dirty="0"/>
          </a:p>
        </p:txBody>
      </p:sp>
      <p:sp>
        <p:nvSpPr>
          <p:cNvPr id="8" name="Text 6"/>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7E938B"/>
                </a:solidFill>
                <a:latin typeface="Calibri" pitchFamily="34" charset="0"/>
                <a:ea typeface="Calibri" pitchFamily="34" charset="-122"/>
                <a:cs typeface="Calibri" pitchFamily="34" charset="-120"/>
              </a:rPr>
              <a:t>DECO6500 | Week 7 Lecture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ck.png">    </p:cNvPr>
          <p:cNvPicPr>
            <a:picLocks noChangeAspect="1"/>
          </p:cNvPicPr>
          <p:nvPr/>
        </p:nvPicPr>
        <p:blipFill>
          <a:blip r:embed="rId1"/>
          <a:stretch>
            <a:fillRect/>
          </a:stretch>
        </p:blipFill>
        <p:spPr>
          <a:xfrm>
            <a:off x="5605272" y="-18288"/>
            <a:ext cx="6583680" cy="6894576"/>
          </a:xfrm>
          <a:prstGeom prst="rect">
            <a:avLst/>
          </a:prstGeom>
        </p:spPr>
      </p:pic>
      <p:sp>
        <p:nvSpPr>
          <p:cNvPr id="3" name="Text 0"/>
          <p:cNvSpPr txBox="1"/>
          <p:nvPr/>
        </p:nvSpPr>
        <p:spPr>
          <a:xfrm>
            <a:off x="731520" y="1417320"/>
            <a:ext cx="4754880" cy="914400"/>
          </a:xfrm>
          <a:prstGeom prst="rect">
            <a:avLst/>
          </a:prstGeom>
          <a:noFill/>
          <a:ln/>
        </p:spPr>
        <p:txBody>
          <a:bodyPr wrap="square" lIns="0" tIns="0" rIns="0" bIns="0" rtlCol="0" anchor="t"/>
          <a:lstStyle/>
          <a:p>
            <a:pPr indent="0" marL="0">
              <a:buNone/>
            </a:pPr>
            <a:r>
              <a:rPr lang="en-US" sz="2700" b="1" dirty="0">
                <a:solidFill>
                  <a:srgbClr val="13403B"/>
                </a:solidFill>
                <a:latin typeface="Arial" pitchFamily="34" charset="0"/>
                <a:ea typeface="Arial" pitchFamily="34" charset="-122"/>
                <a:cs typeface="Arial" pitchFamily="34" charset="-120"/>
              </a:rPr>
              <a:t>Acknowledgement of Country</a:t>
            </a:r>
            <a:endParaRPr lang="en-US" sz="2700" dirty="0"/>
          </a:p>
        </p:txBody>
      </p:sp>
      <p:sp>
        <p:nvSpPr>
          <p:cNvPr id="4" name="Text 1"/>
          <p:cNvSpPr txBox="1"/>
          <p:nvPr/>
        </p:nvSpPr>
        <p:spPr>
          <a:xfrm>
            <a:off x="731520" y="2514600"/>
            <a:ext cx="4754880" cy="2194560"/>
          </a:xfrm>
          <a:prstGeom prst="rect">
            <a:avLst/>
          </a:prstGeom>
          <a:noFill/>
          <a:ln/>
        </p:spPr>
        <p:txBody>
          <a:bodyPr wrap="square" lIns="0" tIns="0" rIns="0" bIns="0" rtlCol="0" anchor="t"/>
          <a:lstStyle/>
          <a:p>
            <a:pPr indent="0" marL="0">
              <a:spcAft>
                <a:spcPts val="800"/>
              </a:spcAft>
              <a:buNone/>
            </a:pPr>
            <a:r>
              <a:rPr lang="en-US" sz="1600" dirty="0">
                <a:solidFill>
                  <a:srgbClr val="23302C"/>
                </a:solidFill>
                <a:latin typeface="Calibri" pitchFamily="34" charset="0"/>
                <a:ea typeface="Calibri" pitchFamily="34" charset="-122"/>
                <a:cs typeface="Calibri" pitchFamily="34" charset="-120"/>
              </a:rPr>
              <a:t>The University of Queensland (UQ) acknowledges the Traditional Owners and their custodianship of the lands on which we meet.</a:t>
            </a:r>
            <a:endParaRPr lang="en-US" sz="1600" dirty="0"/>
          </a:p>
          <a:p>
            <a:pPr indent="0" marL="0">
              <a:spcAft>
                <a:spcPts val="800"/>
              </a:spcAft>
              <a:buNone/>
            </a:pPr>
            <a:r>
              <a:rPr lang="en-US" sz="1600" dirty="0">
                <a:solidFill>
                  <a:srgbClr val="23302C"/>
                </a:solidFill>
                <a:latin typeface="Calibri" pitchFamily="34" charset="0"/>
                <a:ea typeface="Calibri" pitchFamily="34" charset="-122"/>
                <a:cs typeface="Calibri" pitchFamily="34" charset="-120"/>
              </a:rPr>
              <a:t>We pay our respects to their Ancestors and their descendants, who continue cultural and spiritual connections to Country.</a:t>
            </a:r>
            <a:endParaRPr lang="en-US" sz="1600" dirty="0"/>
          </a:p>
          <a:p>
            <a:pPr indent="0" marL="0">
              <a:buNone/>
            </a:pPr>
            <a:r>
              <a:rPr lang="en-US" sz="1600" dirty="0">
                <a:solidFill>
                  <a:srgbClr val="23302C"/>
                </a:solidFill>
                <a:latin typeface="Calibri" pitchFamily="34" charset="0"/>
                <a:ea typeface="Calibri" pitchFamily="34" charset="-122"/>
                <a:cs typeface="Calibri" pitchFamily="34" charset="-120"/>
              </a:rPr>
              <a:t>We recognise their valuable contributions to Australian and global society.</a:t>
            </a:r>
            <a:endParaRPr lang="en-US" sz="1600" dirty="0"/>
          </a:p>
        </p:txBody>
      </p:sp>
      <p:sp>
        <p:nvSpPr>
          <p:cNvPr id="5" name="Text 2"/>
          <p:cNvSpPr txBox="1"/>
          <p:nvPr/>
        </p:nvSpPr>
        <p:spPr>
          <a:xfrm>
            <a:off x="731520" y="5394960"/>
            <a:ext cx="4754880" cy="457200"/>
          </a:xfrm>
          <a:prstGeom prst="rect">
            <a:avLst/>
          </a:prstGeom>
          <a:noFill/>
          <a:ln/>
        </p:spPr>
        <p:txBody>
          <a:bodyPr wrap="square" lIns="0" tIns="0" rIns="0" bIns="0" rtlCol="0" anchor="ctr"/>
          <a:lstStyle/>
          <a:p>
            <a:pPr indent="0" marL="0">
              <a:buNone/>
            </a:pPr>
            <a:r>
              <a:rPr lang="en-US" sz="850" dirty="0">
                <a:solidFill>
                  <a:srgbClr val="6B7A72"/>
                </a:solidFill>
                <a:latin typeface="Calibri" pitchFamily="34" charset="0"/>
                <a:ea typeface="Calibri" pitchFamily="34" charset="-122"/>
                <a:cs typeface="Calibri" pitchFamily="34" charset="-120"/>
              </a:rPr>
              <a:t>The Brisbane River pattern from A Guidance Through Time</a:t>
            </a:r>
            <a:endParaRPr lang="en-US" sz="850" dirty="0"/>
          </a:p>
          <a:p>
            <a:pPr indent="0" marL="0">
              <a:buNone/>
            </a:pPr>
            <a:r>
              <a:rPr lang="en-US" sz="850" dirty="0">
                <a:solidFill>
                  <a:srgbClr val="6B7A72"/>
                </a:solidFill>
                <a:latin typeface="Calibri" pitchFamily="34" charset="0"/>
                <a:ea typeface="Calibri" pitchFamily="34" charset="-122"/>
                <a:cs typeface="Calibri" pitchFamily="34" charset="-120"/>
              </a:rPr>
              <a:t>by Casey Coolwell and Kyra Mancktelow.</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diversity.jpg">    </p:cNvPr>
          <p:cNvPicPr>
            <a:picLocks noChangeAspect="1"/>
          </p:cNvPicPr>
          <p:nvPr/>
        </p:nvPicPr>
        <p:blipFill>
          <a:blip r:embed="rId1"/>
          <a:srcRect l="0" r="0" t="0" b="0"/>
          <a:stretch/>
        </p:blipFill>
        <p:spPr>
          <a:xfrm>
            <a:off x="5605272" y="-18288"/>
            <a:ext cx="6583680" cy="6894576"/>
          </a:xfrm>
          <a:prstGeom prst="rect">
            <a:avLst/>
          </a:prstGeom>
        </p:spPr>
      </p:pic>
      <p:sp>
        <p:nvSpPr>
          <p:cNvPr id="3" name="Text 0"/>
          <p:cNvSpPr txBox="1"/>
          <p:nvPr/>
        </p:nvSpPr>
        <p:spPr>
          <a:xfrm>
            <a:off x="731520" y="1417320"/>
            <a:ext cx="4754880" cy="914400"/>
          </a:xfrm>
          <a:prstGeom prst="rect">
            <a:avLst/>
          </a:prstGeom>
          <a:noFill/>
          <a:ln/>
        </p:spPr>
        <p:txBody>
          <a:bodyPr wrap="square" lIns="0" tIns="0" rIns="0" bIns="0" rtlCol="0" anchor="t"/>
          <a:lstStyle/>
          <a:p>
            <a:pPr indent="0" marL="0">
              <a:buNone/>
            </a:pPr>
            <a:r>
              <a:rPr lang="en-US" sz="2700" b="1" dirty="0">
                <a:solidFill>
                  <a:srgbClr val="13403B"/>
                </a:solidFill>
                <a:latin typeface="Arial" pitchFamily="34" charset="0"/>
                <a:ea typeface="Arial" pitchFamily="34" charset="-122"/>
                <a:cs typeface="Arial" pitchFamily="34" charset="-120"/>
              </a:rPr>
              <a:t>Commitment to Diversity and Inclusion</a:t>
            </a:r>
            <a:endParaRPr lang="en-US" sz="2700" dirty="0"/>
          </a:p>
        </p:txBody>
      </p:sp>
      <p:sp>
        <p:nvSpPr>
          <p:cNvPr id="4" name="Text 1"/>
          <p:cNvSpPr txBox="1"/>
          <p:nvPr/>
        </p:nvSpPr>
        <p:spPr>
          <a:xfrm>
            <a:off x="731520" y="2514600"/>
            <a:ext cx="4754880" cy="2377440"/>
          </a:xfrm>
          <a:prstGeom prst="rect">
            <a:avLst/>
          </a:prstGeom>
          <a:noFill/>
          <a:ln/>
        </p:spPr>
        <p:txBody>
          <a:bodyPr wrap="square" lIns="0" tIns="0" rIns="0" bIns="0" rtlCol="0" anchor="t"/>
          <a:lstStyle/>
          <a:p>
            <a:pPr indent="0" marL="0">
              <a:spcAft>
                <a:spcPts val="800"/>
              </a:spcAft>
              <a:buNone/>
            </a:pPr>
            <a:r>
              <a:rPr lang="en-US" sz="1600" dirty="0">
                <a:solidFill>
                  <a:srgbClr val="23302C"/>
                </a:solidFill>
                <a:latin typeface="Calibri" pitchFamily="34" charset="0"/>
                <a:ea typeface="Calibri" pitchFamily="34" charset="-122"/>
                <a:cs typeface="Calibri" pitchFamily="34" charset="-120"/>
              </a:rPr>
              <a:t>Diverse perspectives, abilities, experiences and backgrounds inspire creativity, encourage innovation and enrich our communities.</a:t>
            </a:r>
            <a:endParaRPr lang="en-US" sz="1600" dirty="0"/>
          </a:p>
          <a:p>
            <a:pPr indent="0" marL="0">
              <a:spcAft>
                <a:spcPts val="800"/>
              </a:spcAft>
              <a:buNone/>
            </a:pPr>
            <a:r>
              <a:rPr lang="en-US" sz="1600" dirty="0">
                <a:solidFill>
                  <a:srgbClr val="23302C"/>
                </a:solidFill>
                <a:latin typeface="Calibri" pitchFamily="34" charset="0"/>
                <a:ea typeface="Calibri" pitchFamily="34" charset="-122"/>
                <a:cs typeface="Calibri" pitchFamily="34" charset="-120"/>
              </a:rPr>
              <a:t>Members of our broad community are valued and respected for their individuality.</a:t>
            </a:r>
            <a:endParaRPr lang="en-US" sz="1600" dirty="0"/>
          </a:p>
          <a:p>
            <a:pPr indent="0" marL="0">
              <a:buNone/>
            </a:pPr>
            <a:r>
              <a:rPr lang="en-US" sz="1600" dirty="0">
                <a:solidFill>
                  <a:srgbClr val="23302C"/>
                </a:solidFill>
                <a:latin typeface="Calibri" pitchFamily="34" charset="0"/>
                <a:ea typeface="Calibri" pitchFamily="34" charset="-122"/>
                <a:cs typeface="Calibri" pitchFamily="34" charset="-120"/>
              </a:rPr>
              <a:t>UQ strives to create a culturally safe, welcoming and inclusive workplace, with strong community connections and partnerships.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WHERE WE ARE</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You Are Collecting Evidence. Now Find Out What It Says.</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3429000" cy="2331720"/>
          </a:xfrm>
          <a:prstGeom prst="roundRect">
            <a:avLst>
              <a:gd name="adj" fmla="val 3137"/>
            </a:avLst>
          </a:prstGeom>
          <a:solidFill>
            <a:srgbClr val="FFFFFF"/>
          </a:solidFill>
          <a:ln w="9525">
            <a:solidFill>
              <a:srgbClr val="DCE3DC"/>
            </a:solidFill>
            <a:prstDash val="solid"/>
          </a:ln>
        </p:spPr>
      </p:sp>
      <p:sp>
        <p:nvSpPr>
          <p:cNvPr id="8" name="Text 5"/>
          <p:cNvSpPr txBox="1"/>
          <p:nvPr/>
        </p:nvSpPr>
        <p:spPr>
          <a:xfrm>
            <a:off x="987552" y="164592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What you will have by Friday</a:t>
            </a:r>
            <a:endParaRPr lang="en-US" sz="1350" dirty="0"/>
          </a:p>
        </p:txBody>
      </p:sp>
      <p:sp>
        <p:nvSpPr>
          <p:cNvPr id="9" name="Text 6"/>
          <p:cNvSpPr txBox="1"/>
          <p:nvPr/>
        </p:nvSpPr>
        <p:spPr>
          <a:xfrm>
            <a:off x="987552" y="1993392"/>
            <a:ext cx="2916936" cy="16642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Measures, demographics and psychographics from 16–20 participants.</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Think-aloud or interview talk from 6 of them — the same 6 who are inside the 16–20.</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deviation log that is already growing.</a:t>
            </a:r>
            <a:endParaRPr lang="en-US" sz="1250" dirty="0"/>
          </a:p>
        </p:txBody>
      </p:sp>
      <p:sp>
        <p:nvSpPr>
          <p:cNvPr id="10" name="Shape 7"/>
          <p:cNvSpPr/>
          <p:nvPr/>
        </p:nvSpPr>
        <p:spPr>
          <a:xfrm>
            <a:off x="4389120" y="1463040"/>
            <a:ext cx="3429000" cy="2331720"/>
          </a:xfrm>
          <a:prstGeom prst="roundRect">
            <a:avLst>
              <a:gd name="adj" fmla="val 3137"/>
            </a:avLst>
          </a:prstGeom>
          <a:solidFill>
            <a:srgbClr val="FFFFFF"/>
          </a:solidFill>
          <a:ln w="9525">
            <a:solidFill>
              <a:srgbClr val="DCE3DC"/>
            </a:solidFill>
            <a:prstDash val="solid"/>
          </a:ln>
        </p:spPr>
      </p:sp>
      <p:sp>
        <p:nvSpPr>
          <p:cNvPr id="11" name="Text 8"/>
          <p:cNvSpPr txBox="1"/>
          <p:nvPr/>
        </p:nvSpPr>
        <p:spPr>
          <a:xfrm>
            <a:off x="4645152" y="164592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What this hour does</a:t>
            </a:r>
            <a:endParaRPr lang="en-US" sz="1350" dirty="0"/>
          </a:p>
        </p:txBody>
      </p:sp>
      <p:sp>
        <p:nvSpPr>
          <p:cNvPr id="12" name="Text 9"/>
          <p:cNvSpPr txBox="1"/>
          <p:nvPr/>
        </p:nvSpPr>
        <p:spPr>
          <a:xfrm>
            <a:off x="4645152" y="1993392"/>
            <a:ext cx="2916936" cy="16642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Gives you two ways of finding out what the evidence shows: thematic analysis for the talk, descriptive statistics for the numbers.</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Works on shared material; you apply it to your own on Friday.</a:t>
            </a:r>
            <a:endParaRPr lang="en-US" sz="1250" dirty="0"/>
          </a:p>
        </p:txBody>
      </p:sp>
      <p:sp>
        <p:nvSpPr>
          <p:cNvPr id="13" name="Shape 10"/>
          <p:cNvSpPr/>
          <p:nvPr/>
        </p:nvSpPr>
        <p:spPr>
          <a:xfrm>
            <a:off x="8046720" y="1463040"/>
            <a:ext cx="3383280" cy="2331720"/>
          </a:xfrm>
          <a:prstGeom prst="roundRect">
            <a:avLst>
              <a:gd name="adj" fmla="val 3137"/>
            </a:avLst>
          </a:prstGeom>
          <a:solidFill>
            <a:srgbClr val="EDF0EA"/>
          </a:solidFill>
          <a:ln w="9525">
            <a:solidFill>
              <a:srgbClr val="EDF0EA"/>
            </a:solidFill>
            <a:prstDash val="solid"/>
          </a:ln>
        </p:spPr>
      </p:sp>
      <p:sp>
        <p:nvSpPr>
          <p:cNvPr id="14" name="Text 11"/>
          <p:cNvSpPr txBox="1"/>
          <p:nvPr/>
        </p:nvSpPr>
        <p:spPr>
          <a:xfrm>
            <a:off x="8302752" y="1645920"/>
            <a:ext cx="287121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What it is not</a:t>
            </a:r>
            <a:endParaRPr lang="en-US" sz="1350" dirty="0"/>
          </a:p>
        </p:txBody>
      </p:sp>
      <p:sp>
        <p:nvSpPr>
          <p:cNvPr id="15" name="Text 12"/>
          <p:cNvSpPr txBox="1"/>
          <p:nvPr/>
        </p:nvSpPr>
        <p:spPr>
          <a:xfrm>
            <a:off x="8302752" y="1993392"/>
            <a:ext cx="2871216" cy="16642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Not a tool demonstration — the NVivo and Colab walkthroughs are videos and guides on the course website.</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Not themes, not findings, not the report. Today and Friday are the first pass.</a:t>
            </a:r>
            <a:endParaRPr lang="en-US" sz="1250" dirty="0"/>
          </a:p>
        </p:txBody>
      </p:sp>
      <p:sp>
        <p:nvSpPr>
          <p:cNvPr id="16" name="Shape 13"/>
          <p:cNvSpPr/>
          <p:nvPr/>
        </p:nvSpPr>
        <p:spPr>
          <a:xfrm>
            <a:off x="731520" y="4114800"/>
            <a:ext cx="10698480" cy="822960"/>
          </a:xfrm>
          <a:prstGeom prst="roundRect">
            <a:avLst>
              <a:gd name="adj" fmla="val 8889"/>
            </a:avLst>
          </a:prstGeom>
          <a:solidFill>
            <a:srgbClr val="13403B"/>
          </a:solidFill>
          <a:ln w="12700">
            <a:solidFill>
              <a:srgbClr val="13403B"/>
            </a:solidFill>
            <a:prstDash val="solid"/>
          </a:ln>
        </p:spPr>
      </p:sp>
      <p:sp>
        <p:nvSpPr>
          <p:cNvPr id="17" name="Text 14"/>
          <p:cNvSpPr txBox="1"/>
          <p:nvPr/>
        </p:nvSpPr>
        <p:spPr>
          <a:xfrm>
            <a:off x="1024128" y="4114800"/>
            <a:ext cx="10113264" cy="8229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Analysis is the discipline of saying no more than the data lets you — and no less.</a:t>
            </a:r>
            <a:endParaRPr lang="en-US" sz="1450" dirty="0"/>
          </a:p>
        </p:txBody>
      </p:sp>
      <p:sp>
        <p:nvSpPr>
          <p:cNvPr id="18" name="Text 15"/>
          <p:cNvSpPr txBox="1"/>
          <p:nvPr/>
        </p:nvSpPr>
        <p:spPr>
          <a:xfrm>
            <a:off x="731520" y="516636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Forty minutes of me. Twenty minutes of you, in two activities.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THE CHAIN, ONE MORE TIME</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Today Is Link Five. Link Six Is Where It Is Going.</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600200" cy="685800"/>
          </a:xfrm>
          <a:prstGeom prst="roundRect">
            <a:avLst>
              <a:gd name="adj" fmla="val 8000"/>
            </a:avLst>
          </a:prstGeom>
          <a:solidFill>
            <a:srgbClr val="13403B"/>
          </a:solidFill>
          <a:ln w="9525">
            <a:solidFill>
              <a:srgbClr val="13403B"/>
            </a:solidFill>
            <a:prstDash val="solid"/>
          </a:ln>
        </p:spPr>
      </p:sp>
      <p:sp>
        <p:nvSpPr>
          <p:cNvPr id="8" name="Text 5"/>
          <p:cNvSpPr txBox="1"/>
          <p:nvPr/>
        </p:nvSpPr>
        <p:spPr>
          <a:xfrm>
            <a:off x="731520" y="1463040"/>
            <a:ext cx="16002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Question</a:t>
            </a:r>
            <a:endParaRPr lang="en-US" sz="1300" dirty="0"/>
          </a:p>
        </p:txBody>
      </p:sp>
      <p:sp>
        <p:nvSpPr>
          <p:cNvPr id="9" name="Text 6"/>
          <p:cNvSpPr txBox="1"/>
          <p:nvPr/>
        </p:nvSpPr>
        <p:spPr>
          <a:xfrm>
            <a:off x="2331720" y="1463040"/>
            <a:ext cx="219456" cy="685800"/>
          </a:xfrm>
          <a:prstGeom prst="rect">
            <a:avLst/>
          </a:prstGeom>
          <a:noFill/>
          <a:ln/>
        </p:spPr>
        <p:txBody>
          <a:bodyPr wrap="square" lIns="0" tIns="0" rIns="0" bIns="0" rtlCol="0" anchor="ctr"/>
          <a:lstStyle/>
          <a:p>
            <a:pPr algn="ctr" indent="0" marL="0">
              <a:buNone/>
            </a:pPr>
            <a:r>
              <a:rPr lang="en-US" sz="1200" dirty="0">
                <a:solidFill>
                  <a:srgbClr val="6B7A72"/>
                </a:solidFill>
              </a:rPr>
              <a:t>→</a:t>
            </a:r>
            <a:endParaRPr lang="en-US" sz="1200" dirty="0"/>
          </a:p>
        </p:txBody>
      </p:sp>
      <p:sp>
        <p:nvSpPr>
          <p:cNvPr id="10" name="Shape 7"/>
          <p:cNvSpPr/>
          <p:nvPr/>
        </p:nvSpPr>
        <p:spPr>
          <a:xfrm>
            <a:off x="2551176" y="1463040"/>
            <a:ext cx="1600200" cy="685800"/>
          </a:xfrm>
          <a:prstGeom prst="roundRect">
            <a:avLst>
              <a:gd name="adj" fmla="val 8000"/>
            </a:avLst>
          </a:prstGeom>
          <a:solidFill>
            <a:srgbClr val="FFFFFF"/>
          </a:solidFill>
          <a:ln w="9525">
            <a:solidFill>
              <a:srgbClr val="DCE3DC"/>
            </a:solidFill>
            <a:prstDash val="solid"/>
          </a:ln>
        </p:spPr>
      </p:sp>
      <p:sp>
        <p:nvSpPr>
          <p:cNvPr id="11" name="Text 8"/>
          <p:cNvSpPr txBox="1"/>
          <p:nvPr/>
        </p:nvSpPr>
        <p:spPr>
          <a:xfrm>
            <a:off x="2551176" y="1463040"/>
            <a:ext cx="1600200" cy="685800"/>
          </a:xfrm>
          <a:prstGeom prst="rect">
            <a:avLst/>
          </a:prstGeom>
          <a:noFill/>
          <a:ln/>
        </p:spPr>
        <p:txBody>
          <a:bodyPr wrap="square" lIns="0" tIns="0" rIns="0" bIns="0" rtlCol="0" anchor="ctr"/>
          <a:lstStyle/>
          <a:p>
            <a:pPr algn="ctr" indent="0" marL="0">
              <a:buNone/>
            </a:pPr>
            <a:r>
              <a:rPr lang="en-US" sz="1300" b="1" dirty="0">
                <a:solidFill>
                  <a:srgbClr val="13403B"/>
                </a:solidFill>
                <a:latin typeface="Arial" pitchFamily="34" charset="0"/>
                <a:ea typeface="Arial" pitchFamily="34" charset="-122"/>
                <a:cs typeface="Arial" pitchFamily="34" charset="-120"/>
              </a:rPr>
              <a:t>Method</a:t>
            </a:r>
            <a:endParaRPr lang="en-US" sz="1300" dirty="0"/>
          </a:p>
        </p:txBody>
      </p:sp>
      <p:sp>
        <p:nvSpPr>
          <p:cNvPr id="12" name="Text 9"/>
          <p:cNvSpPr txBox="1"/>
          <p:nvPr/>
        </p:nvSpPr>
        <p:spPr>
          <a:xfrm>
            <a:off x="4151376" y="1463040"/>
            <a:ext cx="219456" cy="685800"/>
          </a:xfrm>
          <a:prstGeom prst="rect">
            <a:avLst/>
          </a:prstGeom>
          <a:noFill/>
          <a:ln/>
        </p:spPr>
        <p:txBody>
          <a:bodyPr wrap="square" lIns="0" tIns="0" rIns="0" bIns="0" rtlCol="0" anchor="ctr"/>
          <a:lstStyle/>
          <a:p>
            <a:pPr algn="ctr" indent="0" marL="0">
              <a:buNone/>
            </a:pPr>
            <a:r>
              <a:rPr lang="en-US" sz="1200" dirty="0">
                <a:solidFill>
                  <a:srgbClr val="6B7A72"/>
                </a:solidFill>
              </a:rPr>
              <a:t>→</a:t>
            </a:r>
            <a:endParaRPr lang="en-US" sz="1200" dirty="0"/>
          </a:p>
        </p:txBody>
      </p:sp>
      <p:sp>
        <p:nvSpPr>
          <p:cNvPr id="13" name="Shape 10"/>
          <p:cNvSpPr/>
          <p:nvPr/>
        </p:nvSpPr>
        <p:spPr>
          <a:xfrm>
            <a:off x="4370832" y="1463040"/>
            <a:ext cx="1600200" cy="685800"/>
          </a:xfrm>
          <a:prstGeom prst="roundRect">
            <a:avLst>
              <a:gd name="adj" fmla="val 8000"/>
            </a:avLst>
          </a:prstGeom>
          <a:solidFill>
            <a:srgbClr val="FFFFFF"/>
          </a:solidFill>
          <a:ln w="9525">
            <a:solidFill>
              <a:srgbClr val="DCE3DC"/>
            </a:solidFill>
            <a:prstDash val="solid"/>
          </a:ln>
        </p:spPr>
      </p:sp>
      <p:sp>
        <p:nvSpPr>
          <p:cNvPr id="14" name="Text 11"/>
          <p:cNvSpPr txBox="1"/>
          <p:nvPr/>
        </p:nvSpPr>
        <p:spPr>
          <a:xfrm>
            <a:off x="4370832" y="1463040"/>
            <a:ext cx="1600200" cy="685800"/>
          </a:xfrm>
          <a:prstGeom prst="rect">
            <a:avLst/>
          </a:prstGeom>
          <a:noFill/>
          <a:ln/>
        </p:spPr>
        <p:txBody>
          <a:bodyPr wrap="square" lIns="0" tIns="0" rIns="0" bIns="0" rtlCol="0" anchor="ctr"/>
          <a:lstStyle/>
          <a:p>
            <a:pPr algn="ctr" indent="0" marL="0">
              <a:buNone/>
            </a:pPr>
            <a:r>
              <a:rPr lang="en-US" sz="1300" b="1" dirty="0">
                <a:solidFill>
                  <a:srgbClr val="13403B"/>
                </a:solidFill>
                <a:latin typeface="Arial" pitchFamily="34" charset="0"/>
                <a:ea typeface="Arial" pitchFamily="34" charset="-122"/>
                <a:cs typeface="Arial" pitchFamily="34" charset="-120"/>
              </a:rPr>
              <a:t>Instrument</a:t>
            </a:r>
            <a:endParaRPr lang="en-US" sz="1300" dirty="0"/>
          </a:p>
        </p:txBody>
      </p:sp>
      <p:sp>
        <p:nvSpPr>
          <p:cNvPr id="15" name="Text 12"/>
          <p:cNvSpPr txBox="1"/>
          <p:nvPr/>
        </p:nvSpPr>
        <p:spPr>
          <a:xfrm>
            <a:off x="5971032" y="1463040"/>
            <a:ext cx="219456" cy="685800"/>
          </a:xfrm>
          <a:prstGeom prst="rect">
            <a:avLst/>
          </a:prstGeom>
          <a:noFill/>
          <a:ln/>
        </p:spPr>
        <p:txBody>
          <a:bodyPr wrap="square" lIns="0" tIns="0" rIns="0" bIns="0" rtlCol="0" anchor="ctr"/>
          <a:lstStyle/>
          <a:p>
            <a:pPr algn="ctr" indent="0" marL="0">
              <a:buNone/>
            </a:pPr>
            <a:r>
              <a:rPr lang="en-US" sz="1200" dirty="0">
                <a:solidFill>
                  <a:srgbClr val="6B7A72"/>
                </a:solidFill>
              </a:rPr>
              <a:t>→</a:t>
            </a:r>
            <a:endParaRPr lang="en-US" sz="1200" dirty="0"/>
          </a:p>
        </p:txBody>
      </p:sp>
      <p:sp>
        <p:nvSpPr>
          <p:cNvPr id="16" name="Shape 13"/>
          <p:cNvSpPr/>
          <p:nvPr/>
        </p:nvSpPr>
        <p:spPr>
          <a:xfrm>
            <a:off x="6190488" y="1463040"/>
            <a:ext cx="1600200" cy="685800"/>
          </a:xfrm>
          <a:prstGeom prst="roundRect">
            <a:avLst>
              <a:gd name="adj" fmla="val 8000"/>
            </a:avLst>
          </a:prstGeom>
          <a:solidFill>
            <a:srgbClr val="FFFFFF"/>
          </a:solidFill>
          <a:ln w="9525">
            <a:solidFill>
              <a:srgbClr val="DCE3DC"/>
            </a:solidFill>
            <a:prstDash val="solid"/>
          </a:ln>
        </p:spPr>
      </p:sp>
      <p:sp>
        <p:nvSpPr>
          <p:cNvPr id="17" name="Text 14"/>
          <p:cNvSpPr txBox="1"/>
          <p:nvPr/>
        </p:nvSpPr>
        <p:spPr>
          <a:xfrm>
            <a:off x="6190488" y="1463040"/>
            <a:ext cx="1600200" cy="685800"/>
          </a:xfrm>
          <a:prstGeom prst="rect">
            <a:avLst/>
          </a:prstGeom>
          <a:noFill/>
          <a:ln/>
        </p:spPr>
        <p:txBody>
          <a:bodyPr wrap="square" lIns="0" tIns="0" rIns="0" bIns="0" rtlCol="0" anchor="ctr"/>
          <a:lstStyle/>
          <a:p>
            <a:pPr algn="ctr" indent="0" marL="0">
              <a:buNone/>
            </a:pPr>
            <a:r>
              <a:rPr lang="en-US" sz="1300" b="1" dirty="0">
                <a:solidFill>
                  <a:srgbClr val="13403B"/>
                </a:solidFill>
                <a:latin typeface="Arial" pitchFamily="34" charset="0"/>
                <a:ea typeface="Arial" pitchFamily="34" charset="-122"/>
                <a:cs typeface="Arial" pitchFamily="34" charset="-120"/>
              </a:rPr>
              <a:t>Data produced</a:t>
            </a:r>
            <a:endParaRPr lang="en-US" sz="1300" dirty="0"/>
          </a:p>
        </p:txBody>
      </p:sp>
      <p:sp>
        <p:nvSpPr>
          <p:cNvPr id="18" name="Text 15"/>
          <p:cNvSpPr txBox="1"/>
          <p:nvPr/>
        </p:nvSpPr>
        <p:spPr>
          <a:xfrm>
            <a:off x="7790688" y="1463040"/>
            <a:ext cx="219456" cy="685800"/>
          </a:xfrm>
          <a:prstGeom prst="rect">
            <a:avLst/>
          </a:prstGeom>
          <a:noFill/>
          <a:ln/>
        </p:spPr>
        <p:txBody>
          <a:bodyPr wrap="square" lIns="0" tIns="0" rIns="0" bIns="0" rtlCol="0" anchor="ctr"/>
          <a:lstStyle/>
          <a:p>
            <a:pPr algn="ctr" indent="0" marL="0">
              <a:buNone/>
            </a:pPr>
            <a:r>
              <a:rPr lang="en-US" sz="1200" dirty="0">
                <a:solidFill>
                  <a:srgbClr val="6B7A72"/>
                </a:solidFill>
              </a:rPr>
              <a:t>→</a:t>
            </a:r>
            <a:endParaRPr lang="en-US" sz="1200" dirty="0"/>
          </a:p>
        </p:txBody>
      </p:sp>
      <p:sp>
        <p:nvSpPr>
          <p:cNvPr id="19" name="Shape 16"/>
          <p:cNvSpPr/>
          <p:nvPr/>
        </p:nvSpPr>
        <p:spPr>
          <a:xfrm>
            <a:off x="8010144" y="1463040"/>
            <a:ext cx="1600200" cy="685800"/>
          </a:xfrm>
          <a:prstGeom prst="roundRect">
            <a:avLst>
              <a:gd name="adj" fmla="val 8000"/>
            </a:avLst>
          </a:prstGeom>
          <a:solidFill>
            <a:srgbClr val="8A5F22"/>
          </a:solidFill>
          <a:ln w="9525">
            <a:solidFill>
              <a:srgbClr val="8A5F22"/>
            </a:solidFill>
            <a:prstDash val="solid"/>
          </a:ln>
        </p:spPr>
      </p:sp>
      <p:sp>
        <p:nvSpPr>
          <p:cNvPr id="20" name="Text 17"/>
          <p:cNvSpPr txBox="1"/>
          <p:nvPr/>
        </p:nvSpPr>
        <p:spPr>
          <a:xfrm>
            <a:off x="8010144" y="1463040"/>
            <a:ext cx="16002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Analysis</a:t>
            </a:r>
            <a:endParaRPr lang="en-US" sz="1300" dirty="0"/>
          </a:p>
        </p:txBody>
      </p:sp>
      <p:sp>
        <p:nvSpPr>
          <p:cNvPr id="21" name="Text 18"/>
          <p:cNvSpPr txBox="1"/>
          <p:nvPr/>
        </p:nvSpPr>
        <p:spPr>
          <a:xfrm>
            <a:off x="9610344" y="1463040"/>
            <a:ext cx="219456" cy="685800"/>
          </a:xfrm>
          <a:prstGeom prst="rect">
            <a:avLst/>
          </a:prstGeom>
          <a:noFill/>
          <a:ln/>
        </p:spPr>
        <p:txBody>
          <a:bodyPr wrap="square" lIns="0" tIns="0" rIns="0" bIns="0" rtlCol="0" anchor="ctr"/>
          <a:lstStyle/>
          <a:p>
            <a:pPr algn="ctr" indent="0" marL="0">
              <a:buNone/>
            </a:pPr>
            <a:r>
              <a:rPr lang="en-US" sz="1200" dirty="0">
                <a:solidFill>
                  <a:srgbClr val="6B7A72"/>
                </a:solidFill>
              </a:rPr>
              <a:t>→</a:t>
            </a:r>
            <a:endParaRPr lang="en-US" sz="1200" dirty="0"/>
          </a:p>
        </p:txBody>
      </p:sp>
      <p:sp>
        <p:nvSpPr>
          <p:cNvPr id="22" name="Shape 19"/>
          <p:cNvSpPr/>
          <p:nvPr/>
        </p:nvSpPr>
        <p:spPr>
          <a:xfrm>
            <a:off x="9829800" y="1463040"/>
            <a:ext cx="1600200" cy="685800"/>
          </a:xfrm>
          <a:prstGeom prst="roundRect">
            <a:avLst>
              <a:gd name="adj" fmla="val 8000"/>
            </a:avLst>
          </a:prstGeom>
          <a:solidFill>
            <a:srgbClr val="13403B"/>
          </a:solidFill>
          <a:ln w="9525">
            <a:solidFill>
              <a:srgbClr val="13403B"/>
            </a:solidFill>
            <a:prstDash val="solid"/>
          </a:ln>
        </p:spPr>
      </p:sp>
      <p:sp>
        <p:nvSpPr>
          <p:cNvPr id="23" name="Text 20"/>
          <p:cNvSpPr txBox="1"/>
          <p:nvPr/>
        </p:nvSpPr>
        <p:spPr>
          <a:xfrm>
            <a:off x="9829800" y="1463040"/>
            <a:ext cx="16002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Claim</a:t>
            </a:r>
            <a:endParaRPr lang="en-US" sz="1300" dirty="0"/>
          </a:p>
        </p:txBody>
      </p:sp>
      <p:sp>
        <p:nvSpPr>
          <p:cNvPr id="24" name="Text 21"/>
          <p:cNvSpPr txBox="1"/>
          <p:nvPr/>
        </p:nvSpPr>
        <p:spPr>
          <a:xfrm>
            <a:off x="731520" y="2331720"/>
            <a:ext cx="10698480" cy="365760"/>
          </a:xfrm>
          <a:prstGeom prst="rect">
            <a:avLst/>
          </a:prstGeom>
          <a:noFill/>
          <a:ln/>
        </p:spPr>
        <p:txBody>
          <a:bodyPr wrap="square" lIns="0" tIns="0" rIns="0" bIns="0" rtlCol="0" anchor="ctr"/>
          <a:lstStyle/>
          <a:p>
            <a:pPr indent="0" marL="0">
              <a:buNone/>
            </a:pPr>
            <a:r>
              <a:rPr lang="en-US" sz="1400" b="1" dirty="0">
                <a:solidFill>
                  <a:srgbClr val="13403B"/>
                </a:solidFill>
                <a:latin typeface="Arial" pitchFamily="34" charset="0"/>
                <a:ea typeface="Arial" pitchFamily="34" charset="-122"/>
                <a:cs typeface="Arial" pitchFamily="34" charset="-120"/>
              </a:rPr>
              <a:t>Three words for what evidence can do. You wrote them prospectively in Week 5; today you learn what has to be true in the data for each.</a:t>
            </a:r>
            <a:endParaRPr lang="en-US" sz="1400" dirty="0"/>
          </a:p>
        </p:txBody>
      </p:sp>
      <p:sp>
        <p:nvSpPr>
          <p:cNvPr id="25" name="Shape 22"/>
          <p:cNvSpPr/>
          <p:nvPr/>
        </p:nvSpPr>
        <p:spPr>
          <a:xfrm>
            <a:off x="731520" y="2834640"/>
            <a:ext cx="10698480" cy="640080"/>
          </a:xfrm>
          <a:prstGeom prst="roundRect">
            <a:avLst>
              <a:gd name="adj" fmla="val 8571"/>
            </a:avLst>
          </a:prstGeom>
          <a:solidFill>
            <a:srgbClr val="FFFFFF"/>
          </a:solidFill>
          <a:ln w="9525">
            <a:solidFill>
              <a:srgbClr val="DCE3DC"/>
            </a:solidFill>
            <a:prstDash val="solid"/>
          </a:ln>
        </p:spPr>
      </p:sp>
      <p:sp>
        <p:nvSpPr>
          <p:cNvPr id="26" name="Text 23"/>
          <p:cNvSpPr txBox="1"/>
          <p:nvPr/>
        </p:nvSpPr>
        <p:spPr>
          <a:xfrm>
            <a:off x="960120" y="2834640"/>
            <a:ext cx="1544422" cy="6400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Demonstrates</a:t>
            </a:r>
            <a:endParaRPr lang="en-US" sz="1250" dirty="0"/>
          </a:p>
        </p:txBody>
      </p:sp>
      <p:sp>
        <p:nvSpPr>
          <p:cNvPr id="27" name="Text 24"/>
          <p:cNvSpPr txBox="1"/>
          <p:nvPr/>
        </p:nvSpPr>
        <p:spPr>
          <a:xfrm>
            <a:off x="2778862" y="2834640"/>
            <a:ext cx="1758391" cy="6400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Rare at this scale</a:t>
            </a:r>
            <a:endParaRPr lang="en-US" sz="1250" dirty="0"/>
          </a:p>
        </p:txBody>
      </p:sp>
      <p:sp>
        <p:nvSpPr>
          <p:cNvPr id="28" name="Text 25"/>
          <p:cNvSpPr txBox="1"/>
          <p:nvPr/>
        </p:nvSpPr>
        <p:spPr>
          <a:xfrm>
            <a:off x="4811573" y="2834640"/>
            <a:ext cx="6572707" cy="6400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Directly observed, in every relevant case, with no plausible other explanation. Mostly 1.1 questions: “all eighteen completed the sign-up unaided.”</a:t>
            </a:r>
            <a:endParaRPr lang="en-US" sz="1200" dirty="0"/>
          </a:p>
        </p:txBody>
      </p:sp>
      <p:sp>
        <p:nvSpPr>
          <p:cNvPr id="29" name="Shape 26"/>
          <p:cNvSpPr/>
          <p:nvPr/>
        </p:nvSpPr>
        <p:spPr>
          <a:xfrm>
            <a:off x="731520" y="3529584"/>
            <a:ext cx="10698480" cy="640080"/>
          </a:xfrm>
          <a:prstGeom prst="roundRect">
            <a:avLst>
              <a:gd name="adj" fmla="val 8571"/>
            </a:avLst>
          </a:prstGeom>
          <a:solidFill>
            <a:srgbClr val="EDF0EA"/>
          </a:solidFill>
          <a:ln w="9525">
            <a:solidFill>
              <a:srgbClr val="DCE3DC"/>
            </a:solidFill>
            <a:prstDash val="solid"/>
          </a:ln>
        </p:spPr>
      </p:sp>
      <p:sp>
        <p:nvSpPr>
          <p:cNvPr id="30" name="Text 27"/>
          <p:cNvSpPr txBox="1"/>
          <p:nvPr/>
        </p:nvSpPr>
        <p:spPr>
          <a:xfrm>
            <a:off x="960120" y="3529584"/>
            <a:ext cx="1544422" cy="6400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Suggests</a:t>
            </a:r>
            <a:endParaRPr lang="en-US" sz="1250" dirty="0"/>
          </a:p>
        </p:txBody>
      </p:sp>
      <p:sp>
        <p:nvSpPr>
          <p:cNvPr id="31" name="Text 28"/>
          <p:cNvSpPr txBox="1"/>
          <p:nvPr/>
        </p:nvSpPr>
        <p:spPr>
          <a:xfrm>
            <a:off x="2778862" y="3529584"/>
            <a:ext cx="1758391" cy="6400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The normal register</a:t>
            </a:r>
            <a:endParaRPr lang="en-US" sz="1250" dirty="0"/>
          </a:p>
        </p:txBody>
      </p:sp>
      <p:sp>
        <p:nvSpPr>
          <p:cNvPr id="32" name="Text 29"/>
          <p:cNvSpPr txBox="1"/>
          <p:nvPr/>
        </p:nvSpPr>
        <p:spPr>
          <a:xfrm>
            <a:off x="4811573" y="3529584"/>
            <a:ext cx="6572707" cy="6400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The evidence points this way, and here is why it might not. Almost everything you will write in A2 lives here.</a:t>
            </a:r>
            <a:endParaRPr lang="en-US" sz="1200" dirty="0"/>
          </a:p>
        </p:txBody>
      </p:sp>
      <p:sp>
        <p:nvSpPr>
          <p:cNvPr id="33" name="Shape 30"/>
          <p:cNvSpPr/>
          <p:nvPr/>
        </p:nvSpPr>
        <p:spPr>
          <a:xfrm>
            <a:off x="731520" y="4224528"/>
            <a:ext cx="10698480" cy="640080"/>
          </a:xfrm>
          <a:prstGeom prst="roundRect">
            <a:avLst>
              <a:gd name="adj" fmla="val 8571"/>
            </a:avLst>
          </a:prstGeom>
          <a:solidFill>
            <a:srgbClr val="FFFFFF"/>
          </a:solidFill>
          <a:ln w="9525">
            <a:solidFill>
              <a:srgbClr val="DCE3DC"/>
            </a:solidFill>
            <a:prstDash val="solid"/>
          </a:ln>
        </p:spPr>
      </p:sp>
      <p:sp>
        <p:nvSpPr>
          <p:cNvPr id="34" name="Text 31"/>
          <p:cNvSpPr txBox="1"/>
          <p:nvPr/>
        </p:nvSpPr>
        <p:spPr>
          <a:xfrm>
            <a:off x="960120" y="4224528"/>
            <a:ext cx="1544422" cy="6400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Cannot establish</a:t>
            </a:r>
            <a:endParaRPr lang="en-US" sz="1250" dirty="0"/>
          </a:p>
        </p:txBody>
      </p:sp>
      <p:sp>
        <p:nvSpPr>
          <p:cNvPr id="35" name="Text 32"/>
          <p:cNvSpPr txBox="1"/>
          <p:nvPr/>
        </p:nvSpPr>
        <p:spPr>
          <a:xfrm>
            <a:off x="2778862" y="4224528"/>
            <a:ext cx="1758391" cy="6400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A finding, not a failure</a:t>
            </a:r>
            <a:endParaRPr lang="en-US" sz="1250" dirty="0"/>
          </a:p>
        </p:txBody>
      </p:sp>
      <p:sp>
        <p:nvSpPr>
          <p:cNvPr id="36" name="Text 33"/>
          <p:cNvSpPr txBox="1"/>
          <p:nvPr/>
        </p:nvSpPr>
        <p:spPr>
          <a:xfrm>
            <a:off x="4811573" y="4224528"/>
            <a:ext cx="6572707" cy="6400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The evidence is silent, contradictory, or the wrong kind. Saying so honestly is assessed; hiding it is not.</a:t>
            </a:r>
            <a:endParaRPr lang="en-US" sz="1200" dirty="0"/>
          </a:p>
        </p:txBody>
      </p:sp>
      <p:sp>
        <p:nvSpPr>
          <p:cNvPr id="37" name="Shape 34"/>
          <p:cNvSpPr/>
          <p:nvPr/>
        </p:nvSpPr>
        <p:spPr>
          <a:xfrm>
            <a:off x="731520" y="5029200"/>
            <a:ext cx="10698480" cy="731520"/>
          </a:xfrm>
          <a:prstGeom prst="roundRect">
            <a:avLst>
              <a:gd name="adj" fmla="val 10000"/>
            </a:avLst>
          </a:prstGeom>
          <a:solidFill>
            <a:srgbClr val="13403B"/>
          </a:solidFill>
          <a:ln w="12700">
            <a:solidFill>
              <a:srgbClr val="13403B"/>
            </a:solidFill>
            <a:prstDash val="solid"/>
          </a:ln>
        </p:spPr>
      </p:sp>
      <p:sp>
        <p:nvSpPr>
          <p:cNvPr id="38" name="Text 35"/>
          <p:cNvSpPr txBox="1"/>
          <p:nvPr/>
        </p:nvSpPr>
        <p:spPr>
          <a:xfrm>
            <a:off x="1024128" y="5029200"/>
            <a:ext cx="10113264" cy="7315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broken claim is almost always a claim one register too strong. Walk the chain to link five and ask: what does the analysis actually license?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WHAT A FIRST PASS IS</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Nobody Finishes on Friday. Everybody Starts.</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3429000" cy="2103120"/>
          </a:xfrm>
          <a:prstGeom prst="roundRect">
            <a:avLst>
              <a:gd name="adj" fmla="val 3478"/>
            </a:avLst>
          </a:prstGeom>
          <a:solidFill>
            <a:srgbClr val="FFFFFF"/>
          </a:solidFill>
          <a:ln w="9525">
            <a:solidFill>
              <a:srgbClr val="DCE3DC"/>
            </a:solidFill>
            <a:prstDash val="solid"/>
          </a:ln>
        </p:spPr>
      </p:sp>
      <p:sp>
        <p:nvSpPr>
          <p:cNvPr id="8" name="Text 5"/>
          <p:cNvSpPr txBox="1"/>
          <p:nvPr/>
        </p:nvSpPr>
        <p:spPr>
          <a:xfrm>
            <a:off x="987552" y="164592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Read everything once</a:t>
            </a:r>
            <a:endParaRPr lang="en-US" sz="1350" dirty="0"/>
          </a:p>
        </p:txBody>
      </p:sp>
      <p:sp>
        <p:nvSpPr>
          <p:cNvPr id="9" name="Text 6"/>
          <p:cNvSpPr txBox="1"/>
          <p:nvPr/>
        </p:nvSpPr>
        <p:spPr>
          <a:xfrm>
            <a:off x="987552" y="1993392"/>
            <a:ext cx="2916936" cy="1435608"/>
          </a:xfrm>
          <a:prstGeom prst="rect">
            <a:avLst/>
          </a:prstGeom>
          <a:noFill/>
          <a:ln/>
        </p:spPr>
        <p:txBody>
          <a:bodyPr wrap="square" lIns="0" tIns="0" rIns="0" bIns="0" rtlCol="0" anchor="t"/>
          <a:lstStyle/>
          <a:p>
            <a:pPr indent="0" marL="0">
              <a:buNone/>
            </a:pPr>
            <a:r>
              <a:rPr lang="en-US" sz="1250" dirty="0">
                <a:solidFill>
                  <a:srgbClr val="23302C"/>
                </a:solidFill>
                <a:latin typeface="Calibri" pitchFamily="34" charset="0"/>
                <a:ea typeface="Calibri" pitchFamily="34" charset="-122"/>
                <a:cs typeface="Calibri" pitchFamily="34" charset="-120"/>
              </a:rPr>
              <a:t>Every transcript, start to finish, before a single code. Familiarisation is where you notice P03 was confused for the whole session, not just at the moment you were watching for.</a:t>
            </a:r>
            <a:endParaRPr lang="en-US" sz="1250" dirty="0"/>
          </a:p>
        </p:txBody>
      </p:sp>
      <p:sp>
        <p:nvSpPr>
          <p:cNvPr id="10" name="Shape 7"/>
          <p:cNvSpPr/>
          <p:nvPr/>
        </p:nvSpPr>
        <p:spPr>
          <a:xfrm>
            <a:off x="4389120" y="1463040"/>
            <a:ext cx="3429000" cy="2103120"/>
          </a:xfrm>
          <a:prstGeom prst="roundRect">
            <a:avLst>
              <a:gd name="adj" fmla="val 3478"/>
            </a:avLst>
          </a:prstGeom>
          <a:solidFill>
            <a:srgbClr val="FFFFFF"/>
          </a:solidFill>
          <a:ln w="9525">
            <a:solidFill>
              <a:srgbClr val="DCE3DC"/>
            </a:solidFill>
            <a:prstDash val="solid"/>
          </a:ln>
        </p:spPr>
      </p:sp>
      <p:sp>
        <p:nvSpPr>
          <p:cNvPr id="11" name="Text 8"/>
          <p:cNvSpPr txBox="1"/>
          <p:nvPr/>
        </p:nvSpPr>
        <p:spPr>
          <a:xfrm>
            <a:off x="4645152" y="164592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Put initial codes on the talk</a:t>
            </a:r>
            <a:endParaRPr lang="en-US" sz="1350" dirty="0"/>
          </a:p>
        </p:txBody>
      </p:sp>
      <p:sp>
        <p:nvSpPr>
          <p:cNvPr id="12" name="Text 9"/>
          <p:cNvSpPr txBox="1"/>
          <p:nvPr/>
        </p:nvSpPr>
        <p:spPr>
          <a:xfrm>
            <a:off x="4645152" y="1993392"/>
            <a:ext cx="2916936" cy="1435608"/>
          </a:xfrm>
          <a:prstGeom prst="rect">
            <a:avLst/>
          </a:prstGeom>
          <a:noFill/>
          <a:ln/>
        </p:spPr>
        <p:txBody>
          <a:bodyPr wrap="square" lIns="0" tIns="0" rIns="0" bIns="0" rtlCol="0" anchor="t"/>
          <a:lstStyle/>
          <a:p>
            <a:pPr indent="0" marL="0">
              <a:buNone/>
            </a:pPr>
            <a:r>
              <a:rPr lang="en-US" sz="1250" dirty="0">
                <a:solidFill>
                  <a:srgbClr val="23302C"/>
                </a:solidFill>
                <a:latin typeface="Calibri" pitchFamily="34" charset="0"/>
                <a:ea typeface="Calibri" pitchFamily="34" charset="-122"/>
                <a:cs typeface="Calibri" pitchFamily="34" charset="-120"/>
              </a:rPr>
              <a:t>In NVivo, through the UQ Digital Workspace. Codes, not themes. One transcript coded well, then compared with a second coder, beats six coded alone.</a:t>
            </a:r>
            <a:endParaRPr lang="en-US" sz="1250" dirty="0"/>
          </a:p>
        </p:txBody>
      </p:sp>
      <p:sp>
        <p:nvSpPr>
          <p:cNvPr id="13" name="Shape 10"/>
          <p:cNvSpPr/>
          <p:nvPr/>
        </p:nvSpPr>
        <p:spPr>
          <a:xfrm>
            <a:off x="8046720" y="1463040"/>
            <a:ext cx="3383280" cy="2103120"/>
          </a:xfrm>
          <a:prstGeom prst="roundRect">
            <a:avLst>
              <a:gd name="adj" fmla="val 3478"/>
            </a:avLst>
          </a:prstGeom>
          <a:solidFill>
            <a:srgbClr val="FFFFFF"/>
          </a:solidFill>
          <a:ln w="9525">
            <a:solidFill>
              <a:srgbClr val="DCE3DC"/>
            </a:solidFill>
            <a:prstDash val="solid"/>
          </a:ln>
        </p:spPr>
      </p:sp>
      <p:sp>
        <p:nvSpPr>
          <p:cNvPr id="14" name="Text 11"/>
          <p:cNvSpPr txBox="1"/>
          <p:nvPr/>
        </p:nvSpPr>
        <p:spPr>
          <a:xfrm>
            <a:off x="8302752" y="1645920"/>
            <a:ext cx="287121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Put the numbers in a table and count</a:t>
            </a:r>
            <a:endParaRPr lang="en-US" sz="1350" dirty="0"/>
          </a:p>
        </p:txBody>
      </p:sp>
      <p:sp>
        <p:nvSpPr>
          <p:cNvPr id="15" name="Text 12"/>
          <p:cNvSpPr txBox="1"/>
          <p:nvPr/>
        </p:nvSpPr>
        <p:spPr>
          <a:xfrm>
            <a:off x="8302752" y="1993392"/>
            <a:ext cx="2871216" cy="1435608"/>
          </a:xfrm>
          <a:prstGeom prst="rect">
            <a:avLst/>
          </a:prstGeom>
          <a:noFill/>
          <a:ln/>
        </p:spPr>
        <p:txBody>
          <a:bodyPr wrap="square" lIns="0" tIns="0" rIns="0" bIns="0" rtlCol="0" anchor="t"/>
          <a:lstStyle/>
          <a:p>
            <a:pPr indent="0" marL="0">
              <a:buNone/>
            </a:pPr>
            <a:r>
              <a:rPr lang="en-US" sz="1250" dirty="0">
                <a:solidFill>
                  <a:srgbClr val="23302C"/>
                </a:solidFill>
                <a:latin typeface="Calibri" pitchFamily="34" charset="0"/>
                <a:ea typeface="Calibri" pitchFamily="34" charset="-122"/>
                <a:cs typeface="Calibri" pitchFamily="34" charset="-120"/>
              </a:rPr>
              <a:t>One row per participant in a de-identified CSV; the Colab notebook does the counting. Counts, medians, one plot per measure — and one look at association and difference.</a:t>
            </a:r>
            <a:endParaRPr lang="en-US" sz="1250" dirty="0"/>
          </a:p>
        </p:txBody>
      </p:sp>
      <p:sp>
        <p:nvSpPr>
          <p:cNvPr id="16" name="Shape 13"/>
          <p:cNvSpPr/>
          <p:nvPr/>
        </p:nvSpPr>
        <p:spPr>
          <a:xfrm>
            <a:off x="731520" y="3886200"/>
            <a:ext cx="10698480" cy="822960"/>
          </a:xfrm>
          <a:prstGeom prst="roundRect">
            <a:avLst>
              <a:gd name="adj" fmla="val 8889"/>
            </a:avLst>
          </a:prstGeom>
          <a:solidFill>
            <a:srgbClr val="13403B"/>
          </a:solidFill>
          <a:ln w="12700">
            <a:solidFill>
              <a:srgbClr val="13403B"/>
            </a:solidFill>
            <a:prstDash val="solid"/>
          </a:ln>
        </p:spPr>
      </p:sp>
      <p:sp>
        <p:nvSpPr>
          <p:cNvPr id="17" name="Text 14"/>
          <p:cNvSpPr txBox="1"/>
          <p:nvPr/>
        </p:nvSpPr>
        <p:spPr>
          <a:xfrm>
            <a:off x="1024128" y="3886200"/>
            <a:ext cx="10113264" cy="8229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Nobody is expected to finish analysis on Friday. Everybody is expected to have started it — in the tools they will finish it in, on their own data or on the sample.</a:t>
            </a:r>
            <a:endParaRPr lang="en-US" sz="1450" dirty="0"/>
          </a:p>
        </p:txBody>
      </p:sp>
      <p:sp>
        <p:nvSpPr>
          <p:cNvPr id="18" name="Shape 15"/>
          <p:cNvSpPr/>
          <p:nvPr/>
        </p:nvSpPr>
        <p:spPr>
          <a:xfrm>
            <a:off x="731520" y="4937760"/>
            <a:ext cx="10698480" cy="594360"/>
          </a:xfrm>
          <a:prstGeom prst="roundRect">
            <a:avLst>
              <a:gd name="adj" fmla="val 12308"/>
            </a:avLst>
          </a:prstGeom>
          <a:solidFill>
            <a:srgbClr val="F7EFDF"/>
          </a:solidFill>
          <a:ln w="12700">
            <a:solidFill>
              <a:srgbClr val="F7EFDF"/>
            </a:solidFill>
            <a:prstDash val="solid"/>
          </a:ln>
        </p:spPr>
      </p:sp>
      <p:sp>
        <p:nvSpPr>
          <p:cNvPr id="19" name="Text 16"/>
          <p:cNvSpPr txBox="1"/>
          <p:nvPr/>
        </p:nvSpPr>
        <p:spPr>
          <a:xfrm>
            <a:off x="1042416" y="4937760"/>
            <a:ext cx="10076688" cy="59436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Both tools have a step-by-step guide on the course website under Resources. The applied class is where you use them with a tutor beside you.</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403B"/>
        </a:solidFill>
      </p:bgPr>
    </p:bg>
    <p:spTree>
      <p:nvGrpSpPr>
        <p:cNvPr id="1" name=""/>
        <p:cNvGrpSpPr/>
        <p:nvPr/>
      </p:nvGrpSpPr>
      <p:grpSpPr>
        <a:xfrm>
          <a:off x="0" y="0"/>
          <a:ext cx="0" cy="0"/>
          <a:chOff x="0" y="0"/>
          <a:chExt cx="0" cy="0"/>
        </a:xfrm>
      </p:grpSpPr>
      <p:sp>
        <p:nvSpPr>
          <p:cNvPr id="2" name="Shape 0"/>
          <p:cNvSpPr/>
          <p:nvPr/>
        </p:nvSpPr>
        <p:spPr>
          <a:xfrm>
            <a:off x="9875520" y="-1143000"/>
            <a:ext cx="3383280" cy="3383280"/>
          </a:xfrm>
          <a:prstGeom prst="ellipse">
            <a:avLst/>
          </a:prstGeom>
          <a:solidFill>
            <a:srgbClr val="2C5E52"/>
          </a:solidFill>
          <a:ln w="12700">
            <a:solidFill>
              <a:srgbClr val="2C5E52"/>
            </a:solidFill>
            <a:prstDash val="solid"/>
          </a:ln>
        </p:spPr>
      </p:sp>
      <p:sp>
        <p:nvSpPr>
          <p:cNvPr id="3" name="Text 1"/>
          <p:cNvSpPr txBox="1"/>
          <p:nvPr/>
        </p:nvSpPr>
        <p:spPr>
          <a:xfrm>
            <a:off x="731520" y="2514600"/>
            <a:ext cx="3657600" cy="274320"/>
          </a:xfrm>
          <a:prstGeom prst="rect">
            <a:avLst/>
          </a:prstGeom>
          <a:noFill/>
          <a:ln/>
        </p:spPr>
        <p:txBody>
          <a:bodyPr wrap="square" lIns="0" tIns="0" rIns="0" bIns="0" rtlCol="0" anchor="ctr"/>
          <a:lstStyle/>
          <a:p>
            <a:pPr indent="0" marL="0">
              <a:buNone/>
            </a:pPr>
            <a:r>
              <a:rPr lang="en-US" sz="1150" b="1" spc="200" kern="0" dirty="0">
                <a:solidFill>
                  <a:srgbClr val="D9A05B"/>
                </a:solidFill>
                <a:latin typeface="Arial" pitchFamily="34" charset="0"/>
                <a:ea typeface="Arial" pitchFamily="34" charset="-122"/>
                <a:cs typeface="Arial" pitchFamily="34" charset="-120"/>
              </a:rPr>
              <a:t>PART 1</a:t>
            </a:r>
            <a:endParaRPr lang="en-US" sz="1150" dirty="0"/>
          </a:p>
        </p:txBody>
      </p:sp>
      <p:sp>
        <p:nvSpPr>
          <p:cNvPr id="4" name="Text 2"/>
          <p:cNvSpPr txBox="1"/>
          <p:nvPr/>
        </p:nvSpPr>
        <p:spPr>
          <a:xfrm>
            <a:off x="731520" y="2907792"/>
            <a:ext cx="1005840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Thematic Analysis: Two Types, One Discipline</a:t>
            </a:r>
            <a:endParaRPr lang="en-US" sz="3600" dirty="0"/>
          </a:p>
        </p:txBody>
      </p:sp>
      <p:sp>
        <p:nvSpPr>
          <p:cNvPr id="5" name="Text 3"/>
          <p:cNvSpPr txBox="1"/>
          <p:nvPr/>
        </p:nvSpPr>
        <p:spPr>
          <a:xfrm>
            <a:off x="731520" y="3794760"/>
            <a:ext cx="8961120" cy="640080"/>
          </a:xfrm>
          <a:prstGeom prst="rect">
            <a:avLst/>
          </a:prstGeom>
          <a:noFill/>
          <a:ln/>
        </p:spPr>
        <p:txBody>
          <a:bodyPr wrap="square" lIns="0" tIns="0" rIns="0" bIns="0" rtlCol="0" anchor="t"/>
          <a:lstStyle/>
          <a:p>
            <a:pPr indent="0" marL="0">
              <a:buNone/>
            </a:pPr>
            <a:r>
              <a:rPr lang="en-US" sz="1450" dirty="0">
                <a:solidFill>
                  <a:srgbClr val="C3D2CB"/>
                </a:solidFill>
                <a:latin typeface="Calibri" pitchFamily="34" charset="0"/>
                <a:ea typeface="Calibri" pitchFamily="34" charset="-122"/>
                <a:cs typeface="Calibri" pitchFamily="34" charset="-120"/>
              </a:rPr>
              <a:t>Finding patterned meaning in talk, and reporting it in a form someone else could check.</a:t>
            </a:r>
            <a:endParaRPr lang="en-US" sz="1450" dirty="0"/>
          </a:p>
        </p:txBody>
      </p:sp>
      <p:sp>
        <p:nvSpPr>
          <p:cNvPr id="6" name="Text 4"/>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7E938B"/>
                </a:solidFill>
                <a:latin typeface="Calibri" pitchFamily="34" charset="0"/>
                <a:ea typeface="Calibri" pitchFamily="34" charset="-122"/>
                <a:cs typeface="Calibri" pitchFamily="34" charset="-120"/>
              </a:rPr>
              <a:t>Week 7 — What the Evidence Can Tell You</a:t>
            </a:r>
            <a:endParaRPr lang="en-US" sz="900" dirty="0"/>
          </a:p>
        </p:txBody>
      </p:sp>
      <p:sp>
        <p:nvSpPr>
          <p:cNvPr id="7" name="Text 5"/>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7E938B"/>
                </a:solidFill>
                <a:latin typeface="Calibri" pitchFamily="34" charset="0"/>
                <a:ea typeface="Calibri" pitchFamily="34" charset="-122"/>
                <a:cs typeface="Calibri" pitchFamily="34" charset="-120"/>
              </a:rPr>
              <a:t>DECO6500 | Week 7 Lecture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TWO IDEAS CARRY THE WHOLE THING</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A Code Is Not a Theme</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5257800" cy="2651760"/>
          </a:xfrm>
          <a:prstGeom prst="roundRect">
            <a:avLst>
              <a:gd name="adj" fmla="val 2759"/>
            </a:avLst>
          </a:prstGeom>
          <a:solidFill>
            <a:srgbClr val="FFFFFF"/>
          </a:solidFill>
          <a:ln w="9525">
            <a:solidFill>
              <a:srgbClr val="DCE3DC"/>
            </a:solidFill>
            <a:prstDash val="solid"/>
          </a:ln>
        </p:spPr>
      </p:sp>
      <p:sp>
        <p:nvSpPr>
          <p:cNvPr id="8" name="Text 5"/>
          <p:cNvSpPr txBox="1"/>
          <p:nvPr/>
        </p:nvSpPr>
        <p:spPr>
          <a:xfrm>
            <a:off x="98755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TODAY</a:t>
            </a:r>
            <a:endParaRPr lang="en-US" sz="1000" dirty="0"/>
          </a:p>
        </p:txBody>
      </p:sp>
      <p:sp>
        <p:nvSpPr>
          <p:cNvPr id="9" name="Text 6"/>
          <p:cNvSpPr txBox="1"/>
          <p:nvPr/>
        </p:nvSpPr>
        <p:spPr>
          <a:xfrm>
            <a:off x="98755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A code</a:t>
            </a:r>
            <a:endParaRPr lang="en-US" sz="1350" dirty="0"/>
          </a:p>
        </p:txBody>
      </p:sp>
      <p:sp>
        <p:nvSpPr>
          <p:cNvPr id="10" name="Text 7"/>
          <p:cNvSpPr txBox="1"/>
          <p:nvPr/>
        </p:nvSpPr>
        <p:spPr>
          <a:xfrm>
            <a:off x="987552" y="2267712"/>
            <a:ext cx="4745736" cy="17099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short label on a piece of data that says what is happening there.</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“Re-read the instruction three times.”</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“Asked the facilitator what the icon meant.”</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“Said it felt like being told off.”</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Many, small, and close to the data. Fifteen to forty on a first pass of one transcript.</a:t>
            </a:r>
            <a:endParaRPr lang="en-US" sz="1250" dirty="0"/>
          </a:p>
        </p:txBody>
      </p:sp>
      <p:sp>
        <p:nvSpPr>
          <p:cNvPr id="11" name="Shape 8"/>
          <p:cNvSpPr/>
          <p:nvPr/>
        </p:nvSpPr>
        <p:spPr>
          <a:xfrm>
            <a:off x="6172200" y="1463040"/>
            <a:ext cx="5257800" cy="2651760"/>
          </a:xfrm>
          <a:prstGeom prst="roundRect">
            <a:avLst>
              <a:gd name="adj" fmla="val 2759"/>
            </a:avLst>
          </a:prstGeom>
          <a:solidFill>
            <a:srgbClr val="EDF0EA"/>
          </a:solidFill>
          <a:ln w="9525">
            <a:solidFill>
              <a:srgbClr val="EDF0EA"/>
            </a:solidFill>
            <a:prstDash val="solid"/>
          </a:ln>
        </p:spPr>
      </p:sp>
      <p:sp>
        <p:nvSpPr>
          <p:cNvPr id="12" name="Text 9"/>
          <p:cNvSpPr txBox="1"/>
          <p:nvPr/>
        </p:nvSpPr>
        <p:spPr>
          <a:xfrm>
            <a:off x="642823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WEEK 8</a:t>
            </a:r>
            <a:endParaRPr lang="en-US" sz="1000" dirty="0"/>
          </a:p>
        </p:txBody>
      </p:sp>
      <p:sp>
        <p:nvSpPr>
          <p:cNvPr id="13" name="Text 10"/>
          <p:cNvSpPr txBox="1"/>
          <p:nvPr/>
        </p:nvSpPr>
        <p:spPr>
          <a:xfrm>
            <a:off x="642823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A theme</a:t>
            </a:r>
            <a:endParaRPr lang="en-US" sz="1350" dirty="0"/>
          </a:p>
        </p:txBody>
      </p:sp>
      <p:sp>
        <p:nvSpPr>
          <p:cNvPr id="14" name="Text 11"/>
          <p:cNvSpPr txBox="1"/>
          <p:nvPr/>
        </p:nvSpPr>
        <p:spPr>
          <a:xfrm>
            <a:off x="6428232" y="2267712"/>
            <a:ext cx="4745736" cy="17099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pattern across codes that says something in answer to the evaluation question.</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“Participants could not tell which elements on the screen were actionable.”</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Few — three to five for a question at this scale.</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Every one supported by extracts a reader can trace back to a participant and a moment.</a:t>
            </a:r>
            <a:endParaRPr lang="en-US" sz="1250" dirty="0"/>
          </a:p>
        </p:txBody>
      </p:sp>
      <p:sp>
        <p:nvSpPr>
          <p:cNvPr id="15" name="Shape 12"/>
          <p:cNvSpPr/>
          <p:nvPr/>
        </p:nvSpPr>
        <p:spPr>
          <a:xfrm>
            <a:off x="731520" y="4343400"/>
            <a:ext cx="10698480" cy="868680"/>
          </a:xfrm>
          <a:prstGeom prst="roundRect">
            <a:avLst>
              <a:gd name="adj" fmla="val 8421"/>
            </a:avLst>
          </a:prstGeom>
          <a:solidFill>
            <a:srgbClr val="13403B"/>
          </a:solidFill>
          <a:ln w="12700">
            <a:solidFill>
              <a:srgbClr val="13403B"/>
            </a:solidFill>
            <a:prstDash val="solid"/>
          </a:ln>
        </p:spPr>
      </p:sp>
      <p:sp>
        <p:nvSpPr>
          <p:cNvPr id="16" name="Text 13"/>
          <p:cNvSpPr txBox="1"/>
          <p:nvPr/>
        </p:nvSpPr>
        <p:spPr>
          <a:xfrm>
            <a:off x="1024128" y="4343400"/>
            <a:ext cx="10113264"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Familiarisation comes before either. Read the transcript through once, start to finish, before you code anything. Teams skip it because it feels unproductive; it is where the session as a whole becomes visible.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THE PHASES, COMPRESSED</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Six Phases. This Week Is the First Two.</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508760"/>
            <a:ext cx="1627632" cy="914400"/>
          </a:xfrm>
          <a:prstGeom prst="roundRect">
            <a:avLst>
              <a:gd name="adj" fmla="val 6000"/>
            </a:avLst>
          </a:prstGeom>
          <a:solidFill>
            <a:srgbClr val="13403B"/>
          </a:solidFill>
          <a:ln w="9525">
            <a:solidFill>
              <a:srgbClr val="13403B"/>
            </a:solidFill>
            <a:prstDash val="solid"/>
          </a:ln>
        </p:spPr>
      </p:sp>
      <p:sp>
        <p:nvSpPr>
          <p:cNvPr id="8" name="Text 5"/>
          <p:cNvSpPr txBox="1"/>
          <p:nvPr/>
        </p:nvSpPr>
        <p:spPr>
          <a:xfrm>
            <a:off x="868680" y="1572768"/>
            <a:ext cx="365760" cy="274320"/>
          </a:xfrm>
          <a:prstGeom prst="rect">
            <a:avLst/>
          </a:prstGeom>
          <a:noFill/>
          <a:ln/>
        </p:spPr>
        <p:txBody>
          <a:bodyPr wrap="square" lIns="0" tIns="0" rIns="0" bIns="0" rtlCol="0" anchor="ctr"/>
          <a:lstStyle/>
          <a:p>
            <a:pPr indent="0" marL="0">
              <a:buNone/>
            </a:pPr>
            <a:r>
              <a:rPr lang="en-US" sz="1100" b="1" dirty="0">
                <a:solidFill>
                  <a:srgbClr val="D9A05B"/>
                </a:solidFill>
                <a:latin typeface="Arial" pitchFamily="34" charset="0"/>
                <a:ea typeface="Arial" pitchFamily="34" charset="-122"/>
                <a:cs typeface="Arial" pitchFamily="34" charset="-120"/>
              </a:rPr>
              <a:t>1</a:t>
            </a:r>
            <a:endParaRPr lang="en-US" sz="1100" dirty="0"/>
          </a:p>
        </p:txBody>
      </p:sp>
      <p:sp>
        <p:nvSpPr>
          <p:cNvPr id="9" name="Text 6"/>
          <p:cNvSpPr txBox="1"/>
          <p:nvPr/>
        </p:nvSpPr>
        <p:spPr>
          <a:xfrm>
            <a:off x="868680" y="1847088"/>
            <a:ext cx="1353312" cy="5029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Familiarise</a:t>
            </a:r>
            <a:endParaRPr lang="en-US" sz="1250" dirty="0"/>
          </a:p>
        </p:txBody>
      </p:sp>
      <p:sp>
        <p:nvSpPr>
          <p:cNvPr id="10" name="Shape 7"/>
          <p:cNvSpPr/>
          <p:nvPr/>
        </p:nvSpPr>
        <p:spPr>
          <a:xfrm>
            <a:off x="2542032" y="1508760"/>
            <a:ext cx="1627632" cy="914400"/>
          </a:xfrm>
          <a:prstGeom prst="roundRect">
            <a:avLst>
              <a:gd name="adj" fmla="val 6000"/>
            </a:avLst>
          </a:prstGeom>
          <a:solidFill>
            <a:srgbClr val="13403B"/>
          </a:solidFill>
          <a:ln w="9525">
            <a:solidFill>
              <a:srgbClr val="13403B"/>
            </a:solidFill>
            <a:prstDash val="solid"/>
          </a:ln>
        </p:spPr>
      </p:sp>
      <p:sp>
        <p:nvSpPr>
          <p:cNvPr id="11" name="Text 8"/>
          <p:cNvSpPr txBox="1"/>
          <p:nvPr/>
        </p:nvSpPr>
        <p:spPr>
          <a:xfrm>
            <a:off x="2679192" y="1572768"/>
            <a:ext cx="365760" cy="274320"/>
          </a:xfrm>
          <a:prstGeom prst="rect">
            <a:avLst/>
          </a:prstGeom>
          <a:noFill/>
          <a:ln/>
        </p:spPr>
        <p:txBody>
          <a:bodyPr wrap="square" lIns="0" tIns="0" rIns="0" bIns="0" rtlCol="0" anchor="ctr"/>
          <a:lstStyle/>
          <a:p>
            <a:pPr indent="0" marL="0">
              <a:buNone/>
            </a:pPr>
            <a:r>
              <a:rPr lang="en-US" sz="1100" b="1" dirty="0">
                <a:solidFill>
                  <a:srgbClr val="D9A05B"/>
                </a:solidFill>
                <a:latin typeface="Arial" pitchFamily="34" charset="0"/>
                <a:ea typeface="Arial" pitchFamily="34" charset="-122"/>
                <a:cs typeface="Arial" pitchFamily="34" charset="-120"/>
              </a:rPr>
              <a:t>2</a:t>
            </a:r>
            <a:endParaRPr lang="en-US" sz="1100" dirty="0"/>
          </a:p>
        </p:txBody>
      </p:sp>
      <p:sp>
        <p:nvSpPr>
          <p:cNvPr id="12" name="Text 9"/>
          <p:cNvSpPr txBox="1"/>
          <p:nvPr/>
        </p:nvSpPr>
        <p:spPr>
          <a:xfrm>
            <a:off x="2679192" y="1847088"/>
            <a:ext cx="1353312" cy="5029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Generate initial codes</a:t>
            </a:r>
            <a:endParaRPr lang="en-US" sz="1250" dirty="0"/>
          </a:p>
        </p:txBody>
      </p:sp>
      <p:sp>
        <p:nvSpPr>
          <p:cNvPr id="13" name="Shape 10"/>
          <p:cNvSpPr/>
          <p:nvPr/>
        </p:nvSpPr>
        <p:spPr>
          <a:xfrm>
            <a:off x="4352544" y="1508760"/>
            <a:ext cx="1627632" cy="914400"/>
          </a:xfrm>
          <a:prstGeom prst="roundRect">
            <a:avLst>
              <a:gd name="adj" fmla="val 6000"/>
            </a:avLst>
          </a:prstGeom>
          <a:solidFill>
            <a:srgbClr val="FFFFFF"/>
          </a:solidFill>
          <a:ln w="9525">
            <a:solidFill>
              <a:srgbClr val="DCE3DC"/>
            </a:solidFill>
            <a:prstDash val="solid"/>
          </a:ln>
        </p:spPr>
      </p:sp>
      <p:sp>
        <p:nvSpPr>
          <p:cNvPr id="14" name="Text 11"/>
          <p:cNvSpPr txBox="1"/>
          <p:nvPr/>
        </p:nvSpPr>
        <p:spPr>
          <a:xfrm>
            <a:off x="4489704" y="1572768"/>
            <a:ext cx="365760" cy="274320"/>
          </a:xfrm>
          <a:prstGeom prst="rect">
            <a:avLst/>
          </a:prstGeom>
          <a:noFill/>
          <a:ln/>
        </p:spPr>
        <p:txBody>
          <a:bodyPr wrap="square" lIns="0" tIns="0" rIns="0" bIns="0" rtlCol="0" anchor="ctr"/>
          <a:lstStyle/>
          <a:p>
            <a:pPr indent="0" marL="0">
              <a:buNone/>
            </a:pPr>
            <a:r>
              <a:rPr lang="en-US" sz="1100" b="1" dirty="0">
                <a:solidFill>
                  <a:srgbClr val="6B7A72"/>
                </a:solidFill>
                <a:latin typeface="Arial" pitchFamily="34" charset="0"/>
                <a:ea typeface="Arial" pitchFamily="34" charset="-122"/>
                <a:cs typeface="Arial" pitchFamily="34" charset="-120"/>
              </a:rPr>
              <a:t>3</a:t>
            </a:r>
            <a:endParaRPr lang="en-US" sz="1100" dirty="0"/>
          </a:p>
        </p:txBody>
      </p:sp>
      <p:sp>
        <p:nvSpPr>
          <p:cNvPr id="15" name="Text 12"/>
          <p:cNvSpPr txBox="1"/>
          <p:nvPr/>
        </p:nvSpPr>
        <p:spPr>
          <a:xfrm>
            <a:off x="4489704" y="1847088"/>
            <a:ext cx="1353312" cy="502920"/>
          </a:xfrm>
          <a:prstGeom prst="rect">
            <a:avLst/>
          </a:prstGeom>
          <a:noFill/>
          <a:ln/>
        </p:spPr>
        <p:txBody>
          <a:bodyPr wrap="square" lIns="0" tIns="0" rIns="0" bIns="0" rtlCol="0" anchor="t"/>
          <a:lstStyle/>
          <a:p>
            <a:pPr indent="0" marL="0">
              <a:buNone/>
            </a:pPr>
            <a:r>
              <a:rPr lang="en-US" sz="1250" b="1" dirty="0">
                <a:solidFill>
                  <a:srgbClr val="13403B"/>
                </a:solidFill>
                <a:latin typeface="Arial" pitchFamily="34" charset="0"/>
                <a:ea typeface="Arial" pitchFamily="34" charset="-122"/>
                <a:cs typeface="Arial" pitchFamily="34" charset="-120"/>
              </a:rPr>
              <a:t>Search for themes</a:t>
            </a:r>
            <a:endParaRPr lang="en-US" sz="1250" dirty="0"/>
          </a:p>
        </p:txBody>
      </p:sp>
      <p:sp>
        <p:nvSpPr>
          <p:cNvPr id="16" name="Shape 13"/>
          <p:cNvSpPr/>
          <p:nvPr/>
        </p:nvSpPr>
        <p:spPr>
          <a:xfrm>
            <a:off x="6163056" y="1508760"/>
            <a:ext cx="1627632" cy="914400"/>
          </a:xfrm>
          <a:prstGeom prst="roundRect">
            <a:avLst>
              <a:gd name="adj" fmla="val 6000"/>
            </a:avLst>
          </a:prstGeom>
          <a:solidFill>
            <a:srgbClr val="FFFFFF"/>
          </a:solidFill>
          <a:ln w="9525">
            <a:solidFill>
              <a:srgbClr val="DCE3DC"/>
            </a:solidFill>
            <a:prstDash val="solid"/>
          </a:ln>
        </p:spPr>
      </p:sp>
      <p:sp>
        <p:nvSpPr>
          <p:cNvPr id="17" name="Text 14"/>
          <p:cNvSpPr txBox="1"/>
          <p:nvPr/>
        </p:nvSpPr>
        <p:spPr>
          <a:xfrm>
            <a:off x="6300216" y="1572768"/>
            <a:ext cx="365760" cy="274320"/>
          </a:xfrm>
          <a:prstGeom prst="rect">
            <a:avLst/>
          </a:prstGeom>
          <a:noFill/>
          <a:ln/>
        </p:spPr>
        <p:txBody>
          <a:bodyPr wrap="square" lIns="0" tIns="0" rIns="0" bIns="0" rtlCol="0" anchor="ctr"/>
          <a:lstStyle/>
          <a:p>
            <a:pPr indent="0" marL="0">
              <a:buNone/>
            </a:pPr>
            <a:r>
              <a:rPr lang="en-US" sz="1100" b="1" dirty="0">
                <a:solidFill>
                  <a:srgbClr val="6B7A72"/>
                </a:solidFill>
                <a:latin typeface="Arial" pitchFamily="34" charset="0"/>
                <a:ea typeface="Arial" pitchFamily="34" charset="-122"/>
                <a:cs typeface="Arial" pitchFamily="34" charset="-120"/>
              </a:rPr>
              <a:t>4</a:t>
            </a:r>
            <a:endParaRPr lang="en-US" sz="1100" dirty="0"/>
          </a:p>
        </p:txBody>
      </p:sp>
      <p:sp>
        <p:nvSpPr>
          <p:cNvPr id="18" name="Text 15"/>
          <p:cNvSpPr txBox="1"/>
          <p:nvPr/>
        </p:nvSpPr>
        <p:spPr>
          <a:xfrm>
            <a:off x="6300216" y="1847088"/>
            <a:ext cx="1353312" cy="502920"/>
          </a:xfrm>
          <a:prstGeom prst="rect">
            <a:avLst/>
          </a:prstGeom>
          <a:noFill/>
          <a:ln/>
        </p:spPr>
        <p:txBody>
          <a:bodyPr wrap="square" lIns="0" tIns="0" rIns="0" bIns="0" rtlCol="0" anchor="t"/>
          <a:lstStyle/>
          <a:p>
            <a:pPr indent="0" marL="0">
              <a:buNone/>
            </a:pPr>
            <a:r>
              <a:rPr lang="en-US" sz="1250" b="1" dirty="0">
                <a:solidFill>
                  <a:srgbClr val="13403B"/>
                </a:solidFill>
                <a:latin typeface="Arial" pitchFamily="34" charset="0"/>
                <a:ea typeface="Arial" pitchFamily="34" charset="-122"/>
                <a:cs typeface="Arial" pitchFamily="34" charset="-120"/>
              </a:rPr>
              <a:t>Review themes</a:t>
            </a:r>
            <a:endParaRPr lang="en-US" sz="1250" dirty="0"/>
          </a:p>
        </p:txBody>
      </p:sp>
      <p:sp>
        <p:nvSpPr>
          <p:cNvPr id="19" name="Shape 16"/>
          <p:cNvSpPr/>
          <p:nvPr/>
        </p:nvSpPr>
        <p:spPr>
          <a:xfrm>
            <a:off x="7973568" y="1508760"/>
            <a:ext cx="1627632" cy="914400"/>
          </a:xfrm>
          <a:prstGeom prst="roundRect">
            <a:avLst>
              <a:gd name="adj" fmla="val 6000"/>
            </a:avLst>
          </a:prstGeom>
          <a:solidFill>
            <a:srgbClr val="FFFFFF"/>
          </a:solidFill>
          <a:ln w="9525">
            <a:solidFill>
              <a:srgbClr val="DCE3DC"/>
            </a:solidFill>
            <a:prstDash val="solid"/>
          </a:ln>
        </p:spPr>
      </p:sp>
      <p:sp>
        <p:nvSpPr>
          <p:cNvPr id="20" name="Text 17"/>
          <p:cNvSpPr txBox="1"/>
          <p:nvPr/>
        </p:nvSpPr>
        <p:spPr>
          <a:xfrm>
            <a:off x="8110728" y="1572768"/>
            <a:ext cx="365760" cy="274320"/>
          </a:xfrm>
          <a:prstGeom prst="rect">
            <a:avLst/>
          </a:prstGeom>
          <a:noFill/>
          <a:ln/>
        </p:spPr>
        <p:txBody>
          <a:bodyPr wrap="square" lIns="0" tIns="0" rIns="0" bIns="0" rtlCol="0" anchor="ctr"/>
          <a:lstStyle/>
          <a:p>
            <a:pPr indent="0" marL="0">
              <a:buNone/>
            </a:pPr>
            <a:r>
              <a:rPr lang="en-US" sz="1100" b="1" dirty="0">
                <a:solidFill>
                  <a:srgbClr val="6B7A72"/>
                </a:solidFill>
                <a:latin typeface="Arial" pitchFamily="34" charset="0"/>
                <a:ea typeface="Arial" pitchFamily="34" charset="-122"/>
                <a:cs typeface="Arial" pitchFamily="34" charset="-120"/>
              </a:rPr>
              <a:t>5</a:t>
            </a:r>
            <a:endParaRPr lang="en-US" sz="1100" dirty="0"/>
          </a:p>
        </p:txBody>
      </p:sp>
      <p:sp>
        <p:nvSpPr>
          <p:cNvPr id="21" name="Text 18"/>
          <p:cNvSpPr txBox="1"/>
          <p:nvPr/>
        </p:nvSpPr>
        <p:spPr>
          <a:xfrm>
            <a:off x="8110728" y="1847088"/>
            <a:ext cx="1353312" cy="502920"/>
          </a:xfrm>
          <a:prstGeom prst="rect">
            <a:avLst/>
          </a:prstGeom>
          <a:noFill/>
          <a:ln/>
        </p:spPr>
        <p:txBody>
          <a:bodyPr wrap="square" lIns="0" tIns="0" rIns="0" bIns="0" rtlCol="0" anchor="t"/>
          <a:lstStyle/>
          <a:p>
            <a:pPr indent="0" marL="0">
              <a:buNone/>
            </a:pPr>
            <a:r>
              <a:rPr lang="en-US" sz="1250" b="1" dirty="0">
                <a:solidFill>
                  <a:srgbClr val="13403B"/>
                </a:solidFill>
                <a:latin typeface="Arial" pitchFamily="34" charset="0"/>
                <a:ea typeface="Arial" pitchFamily="34" charset="-122"/>
                <a:cs typeface="Arial" pitchFamily="34" charset="-120"/>
              </a:rPr>
              <a:t>Define and name</a:t>
            </a:r>
            <a:endParaRPr lang="en-US" sz="1250" dirty="0"/>
          </a:p>
        </p:txBody>
      </p:sp>
      <p:sp>
        <p:nvSpPr>
          <p:cNvPr id="22" name="Shape 19"/>
          <p:cNvSpPr/>
          <p:nvPr/>
        </p:nvSpPr>
        <p:spPr>
          <a:xfrm>
            <a:off x="9784080" y="1508760"/>
            <a:ext cx="1627632" cy="914400"/>
          </a:xfrm>
          <a:prstGeom prst="roundRect">
            <a:avLst>
              <a:gd name="adj" fmla="val 6000"/>
            </a:avLst>
          </a:prstGeom>
          <a:solidFill>
            <a:srgbClr val="FFFFFF"/>
          </a:solidFill>
          <a:ln w="9525">
            <a:solidFill>
              <a:srgbClr val="DCE3DC"/>
            </a:solidFill>
            <a:prstDash val="solid"/>
          </a:ln>
        </p:spPr>
      </p:sp>
      <p:sp>
        <p:nvSpPr>
          <p:cNvPr id="23" name="Text 20"/>
          <p:cNvSpPr txBox="1"/>
          <p:nvPr/>
        </p:nvSpPr>
        <p:spPr>
          <a:xfrm>
            <a:off x="9921240" y="1572768"/>
            <a:ext cx="365760" cy="274320"/>
          </a:xfrm>
          <a:prstGeom prst="rect">
            <a:avLst/>
          </a:prstGeom>
          <a:noFill/>
          <a:ln/>
        </p:spPr>
        <p:txBody>
          <a:bodyPr wrap="square" lIns="0" tIns="0" rIns="0" bIns="0" rtlCol="0" anchor="ctr"/>
          <a:lstStyle/>
          <a:p>
            <a:pPr indent="0" marL="0">
              <a:buNone/>
            </a:pPr>
            <a:r>
              <a:rPr lang="en-US" sz="1100" b="1" dirty="0">
                <a:solidFill>
                  <a:srgbClr val="6B7A72"/>
                </a:solidFill>
                <a:latin typeface="Arial" pitchFamily="34" charset="0"/>
                <a:ea typeface="Arial" pitchFamily="34" charset="-122"/>
                <a:cs typeface="Arial" pitchFamily="34" charset="-120"/>
              </a:rPr>
              <a:t>6</a:t>
            </a:r>
            <a:endParaRPr lang="en-US" sz="1100" dirty="0"/>
          </a:p>
        </p:txBody>
      </p:sp>
      <p:sp>
        <p:nvSpPr>
          <p:cNvPr id="24" name="Text 21"/>
          <p:cNvSpPr txBox="1"/>
          <p:nvPr/>
        </p:nvSpPr>
        <p:spPr>
          <a:xfrm>
            <a:off x="9921240" y="1847088"/>
            <a:ext cx="1353312" cy="502920"/>
          </a:xfrm>
          <a:prstGeom prst="rect">
            <a:avLst/>
          </a:prstGeom>
          <a:noFill/>
          <a:ln/>
        </p:spPr>
        <p:txBody>
          <a:bodyPr wrap="square" lIns="0" tIns="0" rIns="0" bIns="0" rtlCol="0" anchor="t"/>
          <a:lstStyle/>
          <a:p>
            <a:pPr indent="0" marL="0">
              <a:buNone/>
            </a:pPr>
            <a:r>
              <a:rPr lang="en-US" sz="1250" b="1" dirty="0">
                <a:solidFill>
                  <a:srgbClr val="13403B"/>
                </a:solidFill>
                <a:latin typeface="Arial" pitchFamily="34" charset="0"/>
                <a:ea typeface="Arial" pitchFamily="34" charset="-122"/>
                <a:cs typeface="Arial" pitchFamily="34" charset="-120"/>
              </a:rPr>
              <a:t>Write up</a:t>
            </a:r>
            <a:endParaRPr lang="en-US" sz="1250" dirty="0"/>
          </a:p>
        </p:txBody>
      </p:sp>
      <p:sp>
        <p:nvSpPr>
          <p:cNvPr id="25" name="Text 22"/>
          <p:cNvSpPr txBox="1"/>
          <p:nvPr/>
        </p:nvSpPr>
        <p:spPr>
          <a:xfrm>
            <a:off x="731520" y="2514600"/>
            <a:ext cx="3383280" cy="274320"/>
          </a:xfrm>
          <a:prstGeom prst="rect">
            <a:avLst/>
          </a:prstGeom>
          <a:noFill/>
          <a:ln/>
        </p:spPr>
        <p:txBody>
          <a:bodyPr wrap="square" lIns="0" tIns="0" rIns="0" bIns="0" rtlCol="0" anchor="ctr"/>
          <a:lstStyle/>
          <a:p>
            <a:pPr indent="0" marL="0">
              <a:buNone/>
            </a:pPr>
            <a:r>
              <a:rPr lang="en-US" sz="1100" b="1" dirty="0">
                <a:solidFill>
                  <a:srgbClr val="8A5F22"/>
                </a:solidFill>
                <a:latin typeface="Arial" pitchFamily="34" charset="0"/>
                <a:ea typeface="Arial" pitchFamily="34" charset="-122"/>
                <a:cs typeface="Arial" pitchFamily="34" charset="-120"/>
              </a:rPr>
              <a:t>Weeks 7 and Friday</a:t>
            </a:r>
            <a:endParaRPr lang="en-US" sz="1100" dirty="0"/>
          </a:p>
        </p:txBody>
      </p:sp>
      <p:sp>
        <p:nvSpPr>
          <p:cNvPr id="26" name="Text 23"/>
          <p:cNvSpPr txBox="1"/>
          <p:nvPr/>
        </p:nvSpPr>
        <p:spPr>
          <a:xfrm>
            <a:off x="4352544" y="2514600"/>
            <a:ext cx="7040880" cy="274320"/>
          </a:xfrm>
          <a:prstGeom prst="rect">
            <a:avLst/>
          </a:prstGeom>
          <a:noFill/>
          <a:ln/>
        </p:spPr>
        <p:txBody>
          <a:bodyPr wrap="square" lIns="0" tIns="0" rIns="0" bIns="0" rtlCol="0" anchor="ctr"/>
          <a:lstStyle/>
          <a:p>
            <a:pPr indent="0" marL="0">
              <a:buNone/>
            </a:pPr>
            <a:r>
              <a:rPr lang="en-US" sz="1100" b="1" dirty="0">
                <a:solidFill>
                  <a:srgbClr val="6B7A72"/>
                </a:solidFill>
                <a:latin typeface="Arial" pitchFamily="34" charset="0"/>
                <a:ea typeface="Arial" pitchFamily="34" charset="-122"/>
                <a:cs typeface="Arial" pitchFamily="34" charset="-120"/>
              </a:rPr>
              <a:t>Week 8</a:t>
            </a:r>
            <a:endParaRPr lang="en-US" sz="1100" dirty="0"/>
          </a:p>
        </p:txBody>
      </p:sp>
      <p:sp>
        <p:nvSpPr>
          <p:cNvPr id="27" name="Shape 24"/>
          <p:cNvSpPr/>
          <p:nvPr/>
        </p:nvSpPr>
        <p:spPr>
          <a:xfrm>
            <a:off x="731520" y="3017520"/>
            <a:ext cx="5257800" cy="1828800"/>
          </a:xfrm>
          <a:prstGeom prst="roundRect">
            <a:avLst>
              <a:gd name="adj" fmla="val 4000"/>
            </a:avLst>
          </a:prstGeom>
          <a:solidFill>
            <a:srgbClr val="FFFFFF"/>
          </a:solidFill>
          <a:ln w="9525">
            <a:solidFill>
              <a:srgbClr val="DCE3DC"/>
            </a:solidFill>
            <a:prstDash val="solid"/>
          </a:ln>
        </p:spPr>
      </p:sp>
      <p:sp>
        <p:nvSpPr>
          <p:cNvPr id="28" name="Text 25"/>
          <p:cNvSpPr txBox="1"/>
          <p:nvPr/>
        </p:nvSpPr>
        <p:spPr>
          <a:xfrm>
            <a:off x="987552" y="320040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What phases one and two produce</a:t>
            </a:r>
            <a:endParaRPr lang="en-US" sz="1350" dirty="0"/>
          </a:p>
        </p:txBody>
      </p:sp>
      <p:sp>
        <p:nvSpPr>
          <p:cNvPr id="29" name="Text 26"/>
          <p:cNvSpPr txBox="1"/>
          <p:nvPr/>
        </p:nvSpPr>
        <p:spPr>
          <a:xfrm>
            <a:off x="987552" y="3547872"/>
            <a:ext cx="4745736" cy="116128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memo per transcript from familiarisation.</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Initial codes on the talk, with definitions.</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second coder’s pass on a sample, and the disagreements resolved into tighter definitions.</a:t>
            </a:r>
            <a:endParaRPr lang="en-US" sz="1250" dirty="0"/>
          </a:p>
        </p:txBody>
      </p:sp>
      <p:sp>
        <p:nvSpPr>
          <p:cNvPr id="30" name="Shape 27"/>
          <p:cNvSpPr/>
          <p:nvPr/>
        </p:nvSpPr>
        <p:spPr>
          <a:xfrm>
            <a:off x="6172200" y="3017520"/>
            <a:ext cx="5257800" cy="1828800"/>
          </a:xfrm>
          <a:prstGeom prst="roundRect">
            <a:avLst>
              <a:gd name="adj" fmla="val 4000"/>
            </a:avLst>
          </a:prstGeom>
          <a:solidFill>
            <a:srgbClr val="EDF0EA"/>
          </a:solidFill>
          <a:ln w="9525">
            <a:solidFill>
              <a:srgbClr val="EDF0EA"/>
            </a:solidFill>
            <a:prstDash val="solid"/>
          </a:ln>
        </p:spPr>
      </p:sp>
      <p:sp>
        <p:nvSpPr>
          <p:cNvPr id="31" name="Text 28"/>
          <p:cNvSpPr txBox="1"/>
          <p:nvPr/>
        </p:nvSpPr>
        <p:spPr>
          <a:xfrm>
            <a:off x="6428232" y="320040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What they do not produce yet</a:t>
            </a:r>
            <a:endParaRPr lang="en-US" sz="1350" dirty="0"/>
          </a:p>
        </p:txBody>
      </p:sp>
      <p:sp>
        <p:nvSpPr>
          <p:cNvPr id="32" name="Text 29"/>
          <p:cNvSpPr txBox="1"/>
          <p:nvPr/>
        </p:nvSpPr>
        <p:spPr>
          <a:xfrm>
            <a:off x="6428232" y="3547872"/>
            <a:ext cx="4745736" cy="116128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Themes. A theme written before the coding is stable is a hunch with a heading.</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Findings. The claim-strength check on Friday tells you what the evidence can bear; the finding comes after.</a:t>
            </a:r>
            <a:endParaRPr lang="en-US" sz="1250" dirty="0"/>
          </a:p>
        </p:txBody>
      </p:sp>
      <p:sp>
        <p:nvSpPr>
          <p:cNvPr id="33" name="Shape 30"/>
          <p:cNvSpPr/>
          <p:nvPr/>
        </p:nvSpPr>
        <p:spPr>
          <a:xfrm>
            <a:off x="731520" y="5074920"/>
            <a:ext cx="10698480" cy="594360"/>
          </a:xfrm>
          <a:prstGeom prst="roundRect">
            <a:avLst>
              <a:gd name="adj" fmla="val 12308"/>
            </a:avLst>
          </a:prstGeom>
          <a:solidFill>
            <a:srgbClr val="F7EFDF"/>
          </a:solidFill>
          <a:ln w="12700">
            <a:solidFill>
              <a:srgbClr val="F7EFDF"/>
            </a:solidFill>
            <a:prstDash val="solid"/>
          </a:ln>
        </p:spPr>
      </p:sp>
      <p:sp>
        <p:nvSpPr>
          <p:cNvPr id="34" name="Text 31"/>
          <p:cNvSpPr txBox="1"/>
          <p:nvPr/>
        </p:nvSpPr>
        <p:spPr>
          <a:xfrm>
            <a:off x="1042416" y="5074920"/>
            <a:ext cx="10076688" cy="59436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If you find yourself writing a theme on Friday, stop and check whether every code under it has extracts. If it does not, you are in phase three with phase two unfinished.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TWO TYPES</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The Type Follows From the Question</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0698480" cy="868680"/>
          </a:xfrm>
          <a:prstGeom prst="roundRect">
            <a:avLst>
              <a:gd name="adj" fmla="val 6316"/>
            </a:avLst>
          </a:prstGeom>
          <a:solidFill>
            <a:srgbClr val="FFFFFF"/>
          </a:solidFill>
          <a:ln w="9525">
            <a:solidFill>
              <a:srgbClr val="DCE3DC"/>
            </a:solidFill>
            <a:prstDash val="solid"/>
          </a:ln>
        </p:spPr>
      </p:sp>
      <p:sp>
        <p:nvSpPr>
          <p:cNvPr id="8" name="Text 5"/>
          <p:cNvSpPr txBox="1"/>
          <p:nvPr/>
        </p:nvSpPr>
        <p:spPr>
          <a:xfrm>
            <a:off x="960120" y="1463040"/>
            <a:ext cx="1437437" cy="8686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In-context use</a:t>
            </a:r>
            <a:endParaRPr lang="en-US" sz="1250" dirty="0"/>
          </a:p>
        </p:txBody>
      </p:sp>
      <p:sp>
        <p:nvSpPr>
          <p:cNvPr id="9" name="Text 6"/>
          <p:cNvSpPr txBox="1"/>
          <p:nvPr/>
        </p:nvSpPr>
        <p:spPr>
          <a:xfrm>
            <a:off x="2671877" y="1463040"/>
            <a:ext cx="2293315" cy="8686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Inductive</a:t>
            </a:r>
            <a:endParaRPr lang="en-US" sz="1250" dirty="0"/>
          </a:p>
        </p:txBody>
      </p:sp>
      <p:sp>
        <p:nvSpPr>
          <p:cNvPr id="10" name="Text 7"/>
          <p:cNvSpPr txBox="1"/>
          <p:nvPr/>
        </p:nvSpPr>
        <p:spPr>
          <a:xfrm>
            <a:off x="5239512" y="1463040"/>
            <a:ext cx="6144768" cy="8686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How the intervention fits, or fails to fit, into what people already do. No framework anticipates a particular person’s routine, so codes are built up from the data.</a:t>
            </a:r>
            <a:endParaRPr lang="en-US" sz="1200" dirty="0"/>
          </a:p>
        </p:txBody>
      </p:sp>
      <p:sp>
        <p:nvSpPr>
          <p:cNvPr id="11" name="Shape 8"/>
          <p:cNvSpPr/>
          <p:nvPr/>
        </p:nvSpPr>
        <p:spPr>
          <a:xfrm>
            <a:off x="731520" y="2386584"/>
            <a:ext cx="10698480" cy="868680"/>
          </a:xfrm>
          <a:prstGeom prst="roundRect">
            <a:avLst>
              <a:gd name="adj" fmla="val 6316"/>
            </a:avLst>
          </a:prstGeom>
          <a:solidFill>
            <a:srgbClr val="EDF0EA"/>
          </a:solidFill>
          <a:ln w="9525">
            <a:solidFill>
              <a:srgbClr val="DCE3DC"/>
            </a:solidFill>
            <a:prstDash val="solid"/>
          </a:ln>
        </p:spPr>
      </p:sp>
      <p:sp>
        <p:nvSpPr>
          <p:cNvPr id="12" name="Text 9"/>
          <p:cNvSpPr txBox="1"/>
          <p:nvPr/>
        </p:nvSpPr>
        <p:spPr>
          <a:xfrm>
            <a:off x="960120" y="2386584"/>
            <a:ext cx="1437437" cy="8686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Usability</a:t>
            </a:r>
            <a:endParaRPr lang="en-US" sz="1250" dirty="0"/>
          </a:p>
        </p:txBody>
      </p:sp>
      <p:sp>
        <p:nvSpPr>
          <p:cNvPr id="13" name="Text 10"/>
          <p:cNvSpPr txBox="1"/>
          <p:nvPr/>
        </p:nvSpPr>
        <p:spPr>
          <a:xfrm>
            <a:off x="2671877" y="2386584"/>
            <a:ext cx="2293315" cy="8686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Deductive · Nielsen or Norman</a:t>
            </a:r>
            <a:endParaRPr lang="en-US" sz="1250" dirty="0"/>
          </a:p>
        </p:txBody>
      </p:sp>
      <p:sp>
        <p:nvSpPr>
          <p:cNvPr id="14" name="Text 11"/>
          <p:cNvSpPr txBox="1"/>
          <p:nvPr/>
        </p:nvSpPr>
        <p:spPr>
          <a:xfrm>
            <a:off x="5239512" y="2386584"/>
            <a:ext cx="6144768" cy="8686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Whether the interface could be perceived, understood and operated. Code against a framework of known breakdowns — Nielsen’s heuristics by default; Norman’s principles when the question is about discoverability or the user’s model.</a:t>
            </a:r>
            <a:endParaRPr lang="en-US" sz="1200" dirty="0"/>
          </a:p>
        </p:txBody>
      </p:sp>
      <p:sp>
        <p:nvSpPr>
          <p:cNvPr id="15" name="Shape 12"/>
          <p:cNvSpPr/>
          <p:nvPr/>
        </p:nvSpPr>
        <p:spPr>
          <a:xfrm>
            <a:off x="731520" y="3310128"/>
            <a:ext cx="10698480" cy="868680"/>
          </a:xfrm>
          <a:prstGeom prst="roundRect">
            <a:avLst>
              <a:gd name="adj" fmla="val 6316"/>
            </a:avLst>
          </a:prstGeom>
          <a:solidFill>
            <a:srgbClr val="FFFFFF"/>
          </a:solidFill>
          <a:ln w="9525">
            <a:solidFill>
              <a:srgbClr val="DCE3DC"/>
            </a:solidFill>
            <a:prstDash val="solid"/>
          </a:ln>
        </p:spPr>
      </p:sp>
      <p:sp>
        <p:nvSpPr>
          <p:cNvPr id="16" name="Text 13"/>
          <p:cNvSpPr txBox="1"/>
          <p:nvPr/>
        </p:nvSpPr>
        <p:spPr>
          <a:xfrm>
            <a:off x="960120" y="3310128"/>
            <a:ext cx="1437437" cy="8686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Experience</a:t>
            </a:r>
            <a:endParaRPr lang="en-US" sz="1250" dirty="0"/>
          </a:p>
        </p:txBody>
      </p:sp>
      <p:sp>
        <p:nvSpPr>
          <p:cNvPr id="17" name="Text 14"/>
          <p:cNvSpPr txBox="1"/>
          <p:nvPr/>
        </p:nvSpPr>
        <p:spPr>
          <a:xfrm>
            <a:off x="2671877" y="3310128"/>
            <a:ext cx="2293315" cy="8686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Deductive · PACE+W</a:t>
            </a:r>
            <a:endParaRPr lang="en-US" sz="1250" dirty="0"/>
          </a:p>
        </p:txBody>
      </p:sp>
      <p:sp>
        <p:nvSpPr>
          <p:cNvPr id="18" name="Text 15"/>
          <p:cNvSpPr txBox="1"/>
          <p:nvPr/>
        </p:nvSpPr>
        <p:spPr>
          <a:xfrm>
            <a:off x="5239512" y="3310128"/>
            <a:ext cx="6144768" cy="8686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What happened to and for the person while using it. Code against the course’s model of the human, so every team reports experience in the same terms.</a:t>
            </a:r>
            <a:endParaRPr lang="en-US" sz="1200" dirty="0"/>
          </a:p>
        </p:txBody>
      </p:sp>
      <p:sp>
        <p:nvSpPr>
          <p:cNvPr id="19" name="Shape 16"/>
          <p:cNvSpPr/>
          <p:nvPr/>
        </p:nvSpPr>
        <p:spPr>
          <a:xfrm>
            <a:off x="731520" y="4343400"/>
            <a:ext cx="5257800" cy="1325880"/>
          </a:xfrm>
          <a:prstGeom prst="roundRect">
            <a:avLst>
              <a:gd name="adj" fmla="val 5517"/>
            </a:avLst>
          </a:prstGeom>
          <a:solidFill>
            <a:srgbClr val="FFFFFF"/>
          </a:solidFill>
          <a:ln w="9525">
            <a:solidFill>
              <a:srgbClr val="DCE3DC"/>
            </a:solidFill>
            <a:prstDash val="solid"/>
          </a:ln>
        </p:spPr>
      </p:sp>
      <p:sp>
        <p:nvSpPr>
          <p:cNvPr id="20" name="Text 17"/>
          <p:cNvSpPr txBox="1"/>
          <p:nvPr/>
        </p:nvSpPr>
        <p:spPr>
          <a:xfrm>
            <a:off x="987552" y="4526280"/>
            <a:ext cx="4745736" cy="27432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Inductive: codes come up from the data</a:t>
            </a:r>
            <a:endParaRPr lang="en-US" sz="1300" dirty="0"/>
          </a:p>
        </p:txBody>
      </p:sp>
      <p:sp>
        <p:nvSpPr>
          <p:cNvPr id="21" name="Text 18"/>
          <p:cNvSpPr txBox="1"/>
          <p:nvPr/>
        </p:nvSpPr>
        <p:spPr>
          <a:xfrm>
            <a:off x="987552" y="4873752"/>
            <a:ext cx="4745736" cy="658368"/>
          </a:xfrm>
          <a:prstGeom prst="rect">
            <a:avLst/>
          </a:prstGeom>
          <a:noFill/>
          <a:ln/>
        </p:spPr>
        <p:txBody>
          <a:bodyPr wrap="square" lIns="0" tIns="0" rIns="0" bIns="0" rtlCol="0" anchor="t"/>
          <a:lstStyle/>
          <a:p>
            <a:pPr indent="0" marL="0">
              <a:buNone/>
            </a:pPr>
            <a:r>
              <a:rPr lang="en-US" sz="1250" dirty="0">
                <a:solidFill>
                  <a:srgbClr val="23302C"/>
                </a:solidFill>
                <a:latin typeface="Calibri" pitchFamily="34" charset="0"/>
                <a:ea typeface="Calibri" pitchFamily="34" charset="-122"/>
                <a:cs typeface="Calibri" pitchFamily="34" charset="-120"/>
              </a:rPr>
              <a:t>Strength: sees what no framework named. Risk: codes that are topics rather than events, and a codebook that drifts between coders.</a:t>
            </a:r>
            <a:endParaRPr lang="en-US" sz="1250" dirty="0"/>
          </a:p>
        </p:txBody>
      </p:sp>
      <p:sp>
        <p:nvSpPr>
          <p:cNvPr id="22" name="Shape 19"/>
          <p:cNvSpPr/>
          <p:nvPr/>
        </p:nvSpPr>
        <p:spPr>
          <a:xfrm>
            <a:off x="6172200" y="4343400"/>
            <a:ext cx="5257800" cy="1325880"/>
          </a:xfrm>
          <a:prstGeom prst="roundRect">
            <a:avLst>
              <a:gd name="adj" fmla="val 5517"/>
            </a:avLst>
          </a:prstGeom>
          <a:solidFill>
            <a:srgbClr val="EDF0EA"/>
          </a:solidFill>
          <a:ln w="9525">
            <a:solidFill>
              <a:srgbClr val="EDF0EA"/>
            </a:solidFill>
            <a:prstDash val="solid"/>
          </a:ln>
        </p:spPr>
      </p:sp>
      <p:sp>
        <p:nvSpPr>
          <p:cNvPr id="23" name="Text 20"/>
          <p:cNvSpPr txBox="1"/>
          <p:nvPr/>
        </p:nvSpPr>
        <p:spPr>
          <a:xfrm>
            <a:off x="6428232" y="4526280"/>
            <a:ext cx="4745736" cy="27432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Deductive: codes come down from a framework</a:t>
            </a:r>
            <a:endParaRPr lang="en-US" sz="1300" dirty="0"/>
          </a:p>
        </p:txBody>
      </p:sp>
      <p:sp>
        <p:nvSpPr>
          <p:cNvPr id="24" name="Text 21"/>
          <p:cNvSpPr txBox="1"/>
          <p:nvPr/>
        </p:nvSpPr>
        <p:spPr>
          <a:xfrm>
            <a:off x="6428232" y="4873752"/>
            <a:ext cx="4745736" cy="658368"/>
          </a:xfrm>
          <a:prstGeom prst="rect">
            <a:avLst/>
          </a:prstGeom>
          <a:noFill/>
          <a:ln/>
        </p:spPr>
        <p:txBody>
          <a:bodyPr wrap="square" lIns="0" tIns="0" rIns="0" bIns="0" rtlCol="0" anchor="t"/>
          <a:lstStyle/>
          <a:p>
            <a:pPr indent="0" marL="0">
              <a:buNone/>
            </a:pPr>
            <a:r>
              <a:rPr lang="en-US" sz="1250" dirty="0">
                <a:solidFill>
                  <a:srgbClr val="23302C"/>
                </a:solidFill>
                <a:latin typeface="Calibri" pitchFamily="34" charset="0"/>
                <a:ea typeface="Calibri" pitchFamily="34" charset="-122"/>
                <a:cs typeface="Calibri" pitchFamily="34" charset="-120"/>
              </a:rPr>
              <a:t>Strength: comparability and a shared language. Risk: force-fitting — reading everything as an instance of the framework and missing what it does not name.</a:t>
            </a:r>
            <a:endParaRPr lang="en-US" sz="1250" dirty="0"/>
          </a:p>
        </p:txBody>
      </p:sp>
      <p:sp>
        <p:nvSpPr>
          <p:cNvPr id="25" name="Text 22"/>
          <p:cNvSpPr txBox="1"/>
          <p:nvPr/>
        </p:nvSpPr>
        <p:spPr>
          <a:xfrm>
            <a:off x="731520" y="580644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Both types share one discipline — traceable extracts, a second coder, and the facilitator coded as part of the data. That comes after the two of them.</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INDUCTIVE ANALYSIS · THE IN-CONTEXT USE QUESTION</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Code What Happened, Not What It Was About</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0698480" cy="658368"/>
          </a:xfrm>
          <a:prstGeom prst="roundRect">
            <a:avLst>
              <a:gd name="adj" fmla="val 8333"/>
            </a:avLst>
          </a:prstGeom>
          <a:solidFill>
            <a:srgbClr val="FFFFFF"/>
          </a:solidFill>
          <a:ln w="9525">
            <a:solidFill>
              <a:srgbClr val="DCE3DC"/>
            </a:solidFill>
            <a:prstDash val="solid"/>
          </a:ln>
        </p:spPr>
      </p:sp>
      <p:sp>
        <p:nvSpPr>
          <p:cNvPr id="8" name="Text 5"/>
          <p:cNvSpPr txBox="1"/>
          <p:nvPr/>
        </p:nvSpPr>
        <p:spPr>
          <a:xfrm>
            <a:off x="960120" y="1463040"/>
            <a:ext cx="1865376" cy="65836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A topic</a:t>
            </a:r>
            <a:endParaRPr lang="en-US" sz="1250" dirty="0"/>
          </a:p>
        </p:txBody>
      </p:sp>
      <p:sp>
        <p:nvSpPr>
          <p:cNvPr id="9" name="Text 6"/>
          <p:cNvSpPr txBox="1"/>
          <p:nvPr/>
        </p:nvSpPr>
        <p:spPr>
          <a:xfrm>
            <a:off x="3099816" y="1463040"/>
            <a:ext cx="1223467" cy="65836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Not a code</a:t>
            </a:r>
            <a:endParaRPr lang="en-US" sz="1250" dirty="0"/>
          </a:p>
        </p:txBody>
      </p:sp>
      <p:sp>
        <p:nvSpPr>
          <p:cNvPr id="10" name="Text 7"/>
          <p:cNvSpPr txBox="1"/>
          <p:nvPr/>
        </p:nvSpPr>
        <p:spPr>
          <a:xfrm>
            <a:off x="4597603" y="1463040"/>
            <a:ext cx="6786677" cy="658368"/>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“The menu.” Tells a reader what the passage is about and nothing about what happened in it.</a:t>
            </a:r>
            <a:endParaRPr lang="en-US" sz="1200" dirty="0"/>
          </a:p>
        </p:txBody>
      </p:sp>
      <p:sp>
        <p:nvSpPr>
          <p:cNvPr id="11" name="Shape 8"/>
          <p:cNvSpPr/>
          <p:nvPr/>
        </p:nvSpPr>
        <p:spPr>
          <a:xfrm>
            <a:off x="731520" y="2176272"/>
            <a:ext cx="10698480" cy="658368"/>
          </a:xfrm>
          <a:prstGeom prst="roundRect">
            <a:avLst>
              <a:gd name="adj" fmla="val 8333"/>
            </a:avLst>
          </a:prstGeom>
          <a:solidFill>
            <a:srgbClr val="EDF0EA"/>
          </a:solidFill>
          <a:ln w="9525">
            <a:solidFill>
              <a:srgbClr val="DCE3DC"/>
            </a:solidFill>
            <a:prstDash val="solid"/>
          </a:ln>
        </p:spPr>
      </p:sp>
      <p:sp>
        <p:nvSpPr>
          <p:cNvPr id="12" name="Text 9"/>
          <p:cNvSpPr txBox="1"/>
          <p:nvPr/>
        </p:nvSpPr>
        <p:spPr>
          <a:xfrm>
            <a:off x="960120" y="2176272"/>
            <a:ext cx="1865376" cy="65836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An event</a:t>
            </a:r>
            <a:endParaRPr lang="en-US" sz="1250" dirty="0"/>
          </a:p>
        </p:txBody>
      </p:sp>
      <p:sp>
        <p:nvSpPr>
          <p:cNvPr id="13" name="Text 10"/>
          <p:cNvSpPr txBox="1"/>
          <p:nvPr/>
        </p:nvSpPr>
        <p:spPr>
          <a:xfrm>
            <a:off x="3099816" y="2176272"/>
            <a:ext cx="1223467" cy="65836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A code</a:t>
            </a:r>
            <a:endParaRPr lang="en-US" sz="1250" dirty="0"/>
          </a:p>
        </p:txBody>
      </p:sp>
      <p:sp>
        <p:nvSpPr>
          <p:cNvPr id="14" name="Text 11"/>
          <p:cNvSpPr txBox="1"/>
          <p:nvPr/>
        </p:nvSpPr>
        <p:spPr>
          <a:xfrm>
            <a:off x="4597603" y="2176272"/>
            <a:ext cx="6786677" cy="658368"/>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“Could not find the menu.” What the participant did. Someone who reads only the code knows what they would see in the extract.</a:t>
            </a:r>
            <a:endParaRPr lang="en-US" sz="1200" dirty="0"/>
          </a:p>
        </p:txBody>
      </p:sp>
      <p:sp>
        <p:nvSpPr>
          <p:cNvPr id="15" name="Shape 12"/>
          <p:cNvSpPr/>
          <p:nvPr/>
        </p:nvSpPr>
        <p:spPr>
          <a:xfrm>
            <a:off x="731520" y="2889504"/>
            <a:ext cx="10698480" cy="658368"/>
          </a:xfrm>
          <a:prstGeom prst="roundRect">
            <a:avLst>
              <a:gd name="adj" fmla="val 8333"/>
            </a:avLst>
          </a:prstGeom>
          <a:solidFill>
            <a:srgbClr val="FFFFFF"/>
          </a:solidFill>
          <a:ln w="9525">
            <a:solidFill>
              <a:srgbClr val="DCE3DC"/>
            </a:solidFill>
            <a:prstDash val="solid"/>
          </a:ln>
        </p:spPr>
      </p:sp>
      <p:sp>
        <p:nvSpPr>
          <p:cNvPr id="16" name="Text 13"/>
          <p:cNvSpPr txBox="1"/>
          <p:nvPr/>
        </p:nvSpPr>
        <p:spPr>
          <a:xfrm>
            <a:off x="960120" y="2889504"/>
            <a:ext cx="1865376" cy="65836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An event with its reason</a:t>
            </a:r>
            <a:endParaRPr lang="en-US" sz="1250" dirty="0"/>
          </a:p>
        </p:txBody>
      </p:sp>
      <p:sp>
        <p:nvSpPr>
          <p:cNvPr id="17" name="Text 14"/>
          <p:cNvSpPr txBox="1"/>
          <p:nvPr/>
        </p:nvSpPr>
        <p:spPr>
          <a:xfrm>
            <a:off x="3099816" y="2889504"/>
            <a:ext cx="1223467" cy="65836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A better code</a:t>
            </a:r>
            <a:endParaRPr lang="en-US" sz="1250" dirty="0"/>
          </a:p>
        </p:txBody>
      </p:sp>
      <p:sp>
        <p:nvSpPr>
          <p:cNvPr id="18" name="Text 15"/>
          <p:cNvSpPr txBox="1"/>
          <p:nvPr/>
        </p:nvSpPr>
        <p:spPr>
          <a:xfrm>
            <a:off x="4597603" y="2889504"/>
            <a:ext cx="6786677" cy="658368"/>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“Assumed the menu would be where it is in the app they already use.” Carries why — and why is what the in-context use question is asking.</a:t>
            </a:r>
            <a:endParaRPr lang="en-US" sz="1200" dirty="0"/>
          </a:p>
        </p:txBody>
      </p:sp>
      <p:sp>
        <p:nvSpPr>
          <p:cNvPr id="19" name="Shape 16"/>
          <p:cNvSpPr/>
          <p:nvPr/>
        </p:nvSpPr>
        <p:spPr>
          <a:xfrm>
            <a:off x="731520" y="3703320"/>
            <a:ext cx="3429000" cy="1737360"/>
          </a:xfrm>
          <a:prstGeom prst="roundRect">
            <a:avLst>
              <a:gd name="adj" fmla="val 4211"/>
            </a:avLst>
          </a:prstGeom>
          <a:solidFill>
            <a:srgbClr val="FFFFFF"/>
          </a:solidFill>
          <a:ln w="9525">
            <a:solidFill>
              <a:srgbClr val="DCE3DC"/>
            </a:solidFill>
            <a:prstDash val="solid"/>
          </a:ln>
        </p:spPr>
      </p:sp>
      <p:sp>
        <p:nvSpPr>
          <p:cNvPr id="20" name="Text 17"/>
          <p:cNvSpPr txBox="1"/>
          <p:nvPr/>
        </p:nvSpPr>
        <p:spPr>
          <a:xfrm>
            <a:off x="987552" y="3886200"/>
            <a:ext cx="2916936" cy="27432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Semantic and latent</a:t>
            </a:r>
            <a:endParaRPr lang="en-US" sz="1300" dirty="0"/>
          </a:p>
        </p:txBody>
      </p:sp>
      <p:sp>
        <p:nvSpPr>
          <p:cNvPr id="21" name="Text 18"/>
          <p:cNvSpPr txBox="1"/>
          <p:nvPr/>
        </p:nvSpPr>
        <p:spPr>
          <a:xfrm>
            <a:off x="987552" y="4233672"/>
            <a:ext cx="2916936" cy="1069848"/>
          </a:xfrm>
          <a:prstGeom prst="rect">
            <a:avLst/>
          </a:prstGeom>
          <a:noFill/>
          <a:ln/>
        </p:spPr>
        <p:txBody>
          <a:bodyPr wrap="square" lIns="0" tIns="0" rIns="0" bIns="0" rtlCol="0" anchor="t"/>
          <a:lstStyle/>
          <a:p>
            <a:pPr indent="0" marL="0">
              <a:buNone/>
            </a:pPr>
            <a:r>
              <a:rPr lang="en-US" sz="1200" dirty="0">
                <a:solidFill>
                  <a:srgbClr val="23302C"/>
                </a:solidFill>
                <a:latin typeface="Calibri" pitchFamily="34" charset="0"/>
                <a:ea typeface="Calibri" pitchFamily="34" charset="-122"/>
                <a:cs typeface="Calibri" pitchFamily="34" charset="-120"/>
              </a:rPr>
              <a:t>Most first-pass codes are semantic: what was said or done, on the surface. Some are latent: what lies beneath (“treats the app as something to get through”). Both legitimate; latent codes need more evidence and a second coder.</a:t>
            </a:r>
            <a:endParaRPr lang="en-US" sz="1200" dirty="0"/>
          </a:p>
        </p:txBody>
      </p:sp>
      <p:sp>
        <p:nvSpPr>
          <p:cNvPr id="22" name="Shape 19"/>
          <p:cNvSpPr/>
          <p:nvPr/>
        </p:nvSpPr>
        <p:spPr>
          <a:xfrm>
            <a:off x="4389120" y="3703320"/>
            <a:ext cx="3429000" cy="1737360"/>
          </a:xfrm>
          <a:prstGeom prst="roundRect">
            <a:avLst>
              <a:gd name="adj" fmla="val 4211"/>
            </a:avLst>
          </a:prstGeom>
          <a:solidFill>
            <a:srgbClr val="FFFFFF"/>
          </a:solidFill>
          <a:ln w="9525">
            <a:solidFill>
              <a:srgbClr val="DCE3DC"/>
            </a:solidFill>
            <a:prstDash val="solid"/>
          </a:ln>
        </p:spPr>
      </p:sp>
      <p:sp>
        <p:nvSpPr>
          <p:cNvPr id="23" name="Text 20"/>
          <p:cNvSpPr txBox="1"/>
          <p:nvPr/>
        </p:nvSpPr>
        <p:spPr>
          <a:xfrm>
            <a:off x="4645152" y="3886200"/>
            <a:ext cx="2916936" cy="27432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How many</a:t>
            </a:r>
            <a:endParaRPr lang="en-US" sz="1300" dirty="0"/>
          </a:p>
        </p:txBody>
      </p:sp>
      <p:sp>
        <p:nvSpPr>
          <p:cNvPr id="24" name="Text 21"/>
          <p:cNvSpPr txBox="1"/>
          <p:nvPr/>
        </p:nvSpPr>
        <p:spPr>
          <a:xfrm>
            <a:off x="4645152" y="4233672"/>
            <a:ext cx="2916936" cy="1069848"/>
          </a:xfrm>
          <a:prstGeom prst="rect">
            <a:avLst/>
          </a:prstGeom>
          <a:noFill/>
          <a:ln/>
        </p:spPr>
        <p:txBody>
          <a:bodyPr wrap="square" lIns="0" tIns="0" rIns="0" bIns="0" rtlCol="0" anchor="t"/>
          <a:lstStyle/>
          <a:p>
            <a:pPr indent="0" marL="0">
              <a:buNone/>
            </a:pPr>
            <a:r>
              <a:rPr lang="en-US" sz="1200" dirty="0">
                <a:solidFill>
                  <a:srgbClr val="23302C"/>
                </a:solidFill>
                <a:latin typeface="Calibri" pitchFamily="34" charset="0"/>
                <a:ea typeface="Calibri" pitchFamily="34" charset="-122"/>
                <a:cs typeface="Calibri" pitchFamily="34" charset="-120"/>
              </a:rPr>
              <a:t>Fifteen to forty for one thirty-minute transcript. Codes merge and split as more transcripts are coded — that is normal, and it is recorded in the code memo.</a:t>
            </a:r>
            <a:endParaRPr lang="en-US" sz="1200" dirty="0"/>
          </a:p>
        </p:txBody>
      </p:sp>
      <p:sp>
        <p:nvSpPr>
          <p:cNvPr id="25" name="Shape 22"/>
          <p:cNvSpPr/>
          <p:nvPr/>
        </p:nvSpPr>
        <p:spPr>
          <a:xfrm>
            <a:off x="8046720" y="3703320"/>
            <a:ext cx="3383280" cy="1737360"/>
          </a:xfrm>
          <a:prstGeom prst="roundRect">
            <a:avLst>
              <a:gd name="adj" fmla="val 4211"/>
            </a:avLst>
          </a:prstGeom>
          <a:solidFill>
            <a:srgbClr val="EDF0EA"/>
          </a:solidFill>
          <a:ln w="9525">
            <a:solidFill>
              <a:srgbClr val="EDF0EA"/>
            </a:solidFill>
            <a:prstDash val="solid"/>
          </a:ln>
        </p:spPr>
      </p:sp>
      <p:sp>
        <p:nvSpPr>
          <p:cNvPr id="26" name="Text 23"/>
          <p:cNvSpPr txBox="1"/>
          <p:nvPr/>
        </p:nvSpPr>
        <p:spPr>
          <a:xfrm>
            <a:off x="8302752" y="3886200"/>
            <a:ext cx="2871216" cy="27432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Where it goes</a:t>
            </a:r>
            <a:endParaRPr lang="en-US" sz="1300" dirty="0"/>
          </a:p>
        </p:txBody>
      </p:sp>
      <p:sp>
        <p:nvSpPr>
          <p:cNvPr id="27" name="Text 24"/>
          <p:cNvSpPr txBox="1"/>
          <p:nvPr/>
        </p:nvSpPr>
        <p:spPr>
          <a:xfrm>
            <a:off x="8302752" y="4233672"/>
            <a:ext cx="2871216" cy="1069848"/>
          </a:xfrm>
          <a:prstGeom prst="rect">
            <a:avLst/>
          </a:prstGeom>
          <a:noFill/>
          <a:ln/>
        </p:spPr>
        <p:txBody>
          <a:bodyPr wrap="square" lIns="0" tIns="0" rIns="0" bIns="0" rtlCol="0" anchor="t"/>
          <a:lstStyle/>
          <a:p>
            <a:pPr indent="0" marL="0">
              <a:buNone/>
            </a:pPr>
            <a:r>
              <a:rPr lang="en-US" sz="1200" dirty="0">
                <a:solidFill>
                  <a:srgbClr val="23302C"/>
                </a:solidFill>
                <a:latin typeface="Calibri" pitchFamily="34" charset="0"/>
                <a:ea typeface="Calibri" pitchFamily="34" charset="-122"/>
                <a:cs typeface="Calibri" pitchFamily="34" charset="-120"/>
              </a:rPr>
              <a:t>In Week 8, codes group into candidate themes about fit, friction and substitution: what the intervention displaced, what it added, what people did instead.</a:t>
            </a:r>
            <a:endParaRPr lang="en-US" sz="1200" dirty="0"/>
          </a:p>
        </p:txBody>
      </p:sp>
      <p:sp>
        <p:nvSpPr>
          <p:cNvPr id="28" name="Shape 25"/>
          <p:cNvSpPr/>
          <p:nvPr/>
        </p:nvSpPr>
        <p:spPr>
          <a:xfrm>
            <a:off x="731520" y="5623560"/>
            <a:ext cx="10698480" cy="548640"/>
          </a:xfrm>
          <a:prstGeom prst="roundRect">
            <a:avLst>
              <a:gd name="adj" fmla="val 13333"/>
            </a:avLst>
          </a:prstGeom>
          <a:solidFill>
            <a:srgbClr val="F7EFDF"/>
          </a:solidFill>
          <a:ln w="12700">
            <a:solidFill>
              <a:srgbClr val="F7EFDF"/>
            </a:solidFill>
            <a:prstDash val="solid"/>
          </a:ln>
        </p:spPr>
      </p:sp>
      <p:sp>
        <p:nvSpPr>
          <p:cNvPr id="29" name="Text 26"/>
          <p:cNvSpPr txBox="1"/>
          <p:nvPr/>
        </p:nvSpPr>
        <p:spPr>
          <a:xfrm>
            <a:off x="1042416" y="5623560"/>
            <a:ext cx="10076688" cy="54864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Code the facilitator too. “Facilitator intervened” bounds the claim: a task completed after a hint is not the evidence a task completed unaided is.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DEDUCTIVE ANALYSIS · USABILITY QUESTIONS</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A Framework Is a Codebook — and a Lens, Not a Cage</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5257800" cy="3291840"/>
          </a:xfrm>
          <a:prstGeom prst="roundRect">
            <a:avLst>
              <a:gd name="adj" fmla="val 2222"/>
            </a:avLst>
          </a:prstGeom>
          <a:solidFill>
            <a:srgbClr val="FFFFFF"/>
          </a:solidFill>
          <a:ln w="9525">
            <a:solidFill>
              <a:srgbClr val="DCE3DC"/>
            </a:solidFill>
            <a:prstDash val="solid"/>
          </a:ln>
        </p:spPr>
      </p:sp>
      <p:sp>
        <p:nvSpPr>
          <p:cNvPr id="8" name="Text 5"/>
          <p:cNvSpPr txBox="1"/>
          <p:nvPr/>
        </p:nvSpPr>
        <p:spPr>
          <a:xfrm>
            <a:off x="98755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DEFAULT FOR USABILITY</a:t>
            </a:r>
            <a:endParaRPr lang="en-US" sz="1000" dirty="0"/>
          </a:p>
        </p:txBody>
      </p:sp>
      <p:sp>
        <p:nvSpPr>
          <p:cNvPr id="9" name="Text 6"/>
          <p:cNvSpPr txBox="1"/>
          <p:nvPr/>
        </p:nvSpPr>
        <p:spPr>
          <a:xfrm>
            <a:off x="98755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Nielsen’s ten heuristics</a:t>
            </a:r>
            <a:endParaRPr lang="en-US" sz="1350" dirty="0"/>
          </a:p>
        </p:txBody>
      </p:sp>
      <p:sp>
        <p:nvSpPr>
          <p:cNvPr id="10" name="Text 7"/>
          <p:cNvSpPr txBox="1"/>
          <p:nvPr/>
        </p:nvSpPr>
        <p:spPr>
          <a:xfrm>
            <a:off x="987552" y="2267712"/>
            <a:ext cx="4745736" cy="2350008"/>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Visibility of system status</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Match between system and the real world</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User control and freedom</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Consistency and standards</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Error prevention</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Recognition rather than recall</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Flexibility and efficiency of use</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Aesthetic and minimalist design</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Help users recognise, diagnose and recover from errors</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Help and documentation</a:t>
            </a:r>
            <a:endParaRPr lang="en-US" sz="1150" dirty="0"/>
          </a:p>
        </p:txBody>
      </p:sp>
      <p:sp>
        <p:nvSpPr>
          <p:cNvPr id="11" name="Shape 8"/>
          <p:cNvSpPr/>
          <p:nvPr/>
        </p:nvSpPr>
        <p:spPr>
          <a:xfrm>
            <a:off x="6172200" y="1463040"/>
            <a:ext cx="5257800" cy="3291840"/>
          </a:xfrm>
          <a:prstGeom prst="roundRect">
            <a:avLst>
              <a:gd name="adj" fmla="val 2222"/>
            </a:avLst>
          </a:prstGeom>
          <a:solidFill>
            <a:srgbClr val="EDF0EA"/>
          </a:solidFill>
          <a:ln w="9525">
            <a:solidFill>
              <a:srgbClr val="EDF0EA"/>
            </a:solidFill>
            <a:prstDash val="solid"/>
          </a:ln>
        </p:spPr>
      </p:sp>
      <p:sp>
        <p:nvSpPr>
          <p:cNvPr id="12" name="Text 9"/>
          <p:cNvSpPr txBox="1"/>
          <p:nvPr/>
        </p:nvSpPr>
        <p:spPr>
          <a:xfrm>
            <a:off x="642823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WHEN THE QUESTION IS ABOUT UNDERSTANDING</a:t>
            </a:r>
            <a:endParaRPr lang="en-US" sz="1000" dirty="0"/>
          </a:p>
        </p:txBody>
      </p:sp>
      <p:sp>
        <p:nvSpPr>
          <p:cNvPr id="13" name="Text 10"/>
          <p:cNvSpPr txBox="1"/>
          <p:nvPr/>
        </p:nvSpPr>
        <p:spPr>
          <a:xfrm>
            <a:off x="642823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Norman’s seven principles</a:t>
            </a:r>
            <a:endParaRPr lang="en-US" sz="1350" dirty="0"/>
          </a:p>
        </p:txBody>
      </p:sp>
      <p:sp>
        <p:nvSpPr>
          <p:cNvPr id="14" name="Text 11"/>
          <p:cNvSpPr txBox="1"/>
          <p:nvPr/>
        </p:nvSpPr>
        <p:spPr>
          <a:xfrm>
            <a:off x="6428232" y="2267712"/>
            <a:ext cx="4745736" cy="2350008"/>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Discoverability</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Feedback</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Conceptual model</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Affordances</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Signifiers</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Mappings</a:t>
            </a:r>
            <a:endParaRPr lang="en-US" sz="1150" dirty="0"/>
          </a:p>
          <a:p>
            <a:pPr marL="342900" indent="-342900">
              <a:spcAft>
                <a:spcPts val="500"/>
              </a:spcAft>
              <a:buSzPct val="100000"/>
              <a:buChar char="•"/>
            </a:pPr>
            <a:r>
              <a:rPr lang="en-US" sz="1150" dirty="0">
                <a:solidFill>
                  <a:srgbClr val="23302C"/>
                </a:solidFill>
                <a:latin typeface="Calibri" pitchFamily="34" charset="0"/>
                <a:ea typeface="Calibri" pitchFamily="34" charset="-122"/>
                <a:cs typeface="Calibri" pitchFamily="34" charset="-120"/>
              </a:rPr>
              <a:t>Constraints</a:t>
            </a:r>
            <a:endParaRPr lang="en-US" sz="1150" dirty="0"/>
          </a:p>
        </p:txBody>
      </p:sp>
      <p:sp>
        <p:nvSpPr>
          <p:cNvPr id="15" name="Text 12"/>
          <p:cNvSpPr txBox="1"/>
          <p:nvPr/>
        </p:nvSpPr>
        <p:spPr>
          <a:xfrm>
            <a:off x="6428232" y="4114800"/>
            <a:ext cx="4754880" cy="548640"/>
          </a:xfrm>
          <a:prstGeom prst="rect">
            <a:avLst/>
          </a:prstGeom>
          <a:noFill/>
          <a:ln/>
        </p:spPr>
        <p:txBody>
          <a:bodyPr wrap="square" lIns="0" tIns="0" rIns="0" bIns="0" rtlCol="0" anchor="t"/>
          <a:lstStyle/>
          <a:p>
            <a:pPr indent="0" marL="0">
              <a:buNone/>
            </a:pPr>
            <a:r>
              <a:rPr lang="en-US" sz="1150" i="1" dirty="0">
                <a:solidFill>
                  <a:srgbClr val="6B7A72"/>
                </a:solidFill>
                <a:latin typeface="Calibri" pitchFamily="34" charset="0"/>
                <a:ea typeface="Calibri" pitchFamily="34" charset="-122"/>
                <a:cs typeface="Calibri" pitchFamily="34" charset="-120"/>
              </a:rPr>
              <a:t>Better when the question is why an interface was or was not understood — the participant’s model of the system.</a:t>
            </a:r>
            <a:endParaRPr lang="en-US" sz="1150" dirty="0"/>
          </a:p>
        </p:txBody>
      </p:sp>
      <p:sp>
        <p:nvSpPr>
          <p:cNvPr id="16" name="Shape 13"/>
          <p:cNvSpPr/>
          <p:nvPr/>
        </p:nvSpPr>
        <p:spPr>
          <a:xfrm>
            <a:off x="731520" y="4937760"/>
            <a:ext cx="10698480" cy="868680"/>
          </a:xfrm>
          <a:prstGeom prst="roundRect">
            <a:avLst>
              <a:gd name="adj" fmla="val 8421"/>
            </a:avLst>
          </a:prstGeom>
          <a:solidFill>
            <a:srgbClr val="13403B"/>
          </a:solidFill>
          <a:ln w="12700">
            <a:solidFill>
              <a:srgbClr val="13403B"/>
            </a:solidFill>
            <a:prstDash val="solid"/>
          </a:ln>
        </p:spPr>
      </p:sp>
      <p:sp>
        <p:nvSpPr>
          <p:cNvPr id="17" name="Text 14"/>
          <p:cNvSpPr txBox="1"/>
          <p:nvPr/>
        </p:nvSpPr>
        <p:spPr>
          <a:xfrm>
            <a:off x="1024128" y="4937760"/>
            <a:ext cx="10113264"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Every deductive codebook gets one extra top-level code: “Does not fit the framework.” Passages that matter but land nowhere go there and are read together at the end. If it is empty after three transcripts, you are forcing the data.</a:t>
            </a:r>
            <a:endParaRPr lang="en-US" sz="1400" dirty="0"/>
          </a:p>
        </p:txBody>
      </p:sp>
      <p:sp>
        <p:nvSpPr>
          <p:cNvPr id="18" name="Text 15"/>
          <p:cNvSpPr txBox="1"/>
          <p:nvPr/>
        </p:nvSpPr>
        <p:spPr>
          <a:xfrm>
            <a:off x="731520" y="594360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Both frameworks are on the course website as codebooks you can set up in NVivo directly, with definitions and an example passage per code.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DEDUCTIVE ANALYSIS · EXPERIENCE QUESTIONS</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PACE+W — The Course’s Model of the Human</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1828800"/>
                <a:gridCol w="4206240"/>
                <a:gridCol w="4663440"/>
              </a:tblGrid>
              <a:tr h="292608">
                <a:tc>
                  <a:txBody>
                    <a:bodyPr/>
                    <a:lstStyle/>
                    <a:p>
                      <a:pPr indent="0" marL="0">
                        <a:buNone/>
                      </a:pPr>
                      <a:r>
                        <a:rPr lang="en-US" sz="1050" b="1" dirty="0">
                          <a:solidFill>
                            <a:srgbClr val="13403B"/>
                          </a:solidFill>
                          <a:latin typeface="Arial" pitchFamily="34" charset="0"/>
                          <a:ea typeface="Arial" pitchFamily="34" charset="-122"/>
                          <a:cs typeface="Arial" pitchFamily="34" charset="-120"/>
                        </a:rPr>
                        <a:t>Dimension</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tcPr>
                </a:tc>
                <a:tc>
                  <a:txBody>
                    <a:bodyPr/>
                    <a:lstStyle/>
                    <a:p>
                      <a:pPr indent="0" marL="0">
                        <a:buNone/>
                      </a:pPr>
                      <a:r>
                        <a:rPr lang="en-US" sz="1050" b="1" dirty="0">
                          <a:solidFill>
                            <a:srgbClr val="13403B"/>
                          </a:solidFill>
                          <a:latin typeface="Arial" pitchFamily="34" charset="0"/>
                          <a:ea typeface="Arial" pitchFamily="34" charset="-122"/>
                          <a:cs typeface="Arial" pitchFamily="34" charset="-120"/>
                        </a:rPr>
                        <a:t>What it covers</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tcPr>
                </a:tc>
                <a:tc>
                  <a:txBody>
                    <a:bodyPr/>
                    <a:lstStyle/>
                    <a:p>
                      <a:pPr indent="0" marL="0">
                        <a:buNone/>
                      </a:pPr>
                      <a:r>
                        <a:rPr lang="en-US" sz="1050" b="1" dirty="0">
                          <a:solidFill>
                            <a:srgbClr val="13403B"/>
                          </a:solidFill>
                          <a:latin typeface="Arial" pitchFamily="34" charset="0"/>
                          <a:ea typeface="Arial" pitchFamily="34" charset="-122"/>
                          <a:cs typeface="Arial" pitchFamily="34" charset="-120"/>
                        </a:rPr>
                        <a:t>What it looks like in the data</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tcPr>
                </a:tc>
              </a:tr>
              <a:tr h="658368">
                <a:tc>
                  <a:txBody>
                    <a:bodyPr/>
                    <a:lstStyle/>
                    <a:p>
                      <a:pPr indent="0" marL="0">
                        <a:buNone/>
                      </a:pPr>
                      <a:r>
                        <a:rPr lang="en-US" sz="1050" b="1" dirty="0">
                          <a:solidFill>
                            <a:srgbClr val="13403B"/>
                          </a:solidFill>
                          <a:latin typeface="Arial" pitchFamily="34" charset="0"/>
                          <a:ea typeface="Arial" pitchFamily="34" charset="-122"/>
                          <a:cs typeface="Arial" pitchFamily="34" charset="-120"/>
                        </a:rPr>
                        <a:t>Perception</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Taking in and de-coding information — seeing, hearing, reading, recognising what something is. Includes the effort of de-coding itself.</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Misreadings; re-reading; not noticing an element; asking what something is; slowing at dense text; relying on colour or position rather than words.</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13403B"/>
                          </a:solidFill>
                          <a:latin typeface="Arial" pitchFamily="34" charset="0"/>
                          <a:ea typeface="Arial" pitchFamily="34" charset="-122"/>
                          <a:cs typeface="Arial" pitchFamily="34" charset="-120"/>
                        </a:rPr>
                        <a:t>Action</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What the person does and can do — the motor and procedural side.</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Errors and slips; repeated attempts; hesitation before acting; workarounds; abandoning a step; physical difficulty with a control.</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658368">
                <a:tc>
                  <a:txBody>
                    <a:bodyPr/>
                    <a:lstStyle/>
                    <a:p>
                      <a:pPr indent="0" marL="0">
                        <a:buNone/>
                      </a:pPr>
                      <a:r>
                        <a:rPr lang="en-US" sz="1050" b="1" dirty="0">
                          <a:solidFill>
                            <a:srgbClr val="13403B"/>
                          </a:solidFill>
                          <a:latin typeface="Arial" pitchFamily="34" charset="0"/>
                          <a:ea typeface="Arial" pitchFamily="34" charset="-122"/>
                          <a:cs typeface="Arial" pitchFamily="34" charset="-120"/>
                        </a:rPr>
                        <a:t>Cognition</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Attention, memory, understanding, reasoning, deciding. The person’s model of how the system works.</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Wrong predictions about the system; forgetting where something was; working out a rule; asking “so does that mean…”; deliberate strategies.</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13403B"/>
                          </a:solidFill>
                          <a:latin typeface="Arial" pitchFamily="34" charset="0"/>
                          <a:ea typeface="Arial" pitchFamily="34" charset="-122"/>
                          <a:cs typeface="Arial" pitchFamily="34" charset="-120"/>
                        </a:rPr>
                        <a:t>Emotion</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The felt response in the moment — frustration, relief, embarrassment, delight, anxiety, boredom.</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Tone and exclamations; self-criticism; laughter; sighing; apologising to the facilitator; visible relief on success.</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548640">
                <a:tc>
                  <a:txBody>
                    <a:bodyPr/>
                    <a:lstStyle/>
                    <a:p>
                      <a:pPr indent="0" marL="0">
                        <a:buNone/>
                      </a:pPr>
                      <a:r>
                        <a:rPr lang="en-US" sz="1050" b="1" dirty="0">
                          <a:solidFill>
                            <a:srgbClr val="13403B"/>
                          </a:solidFill>
                          <a:latin typeface="Arial" pitchFamily="34" charset="0"/>
                          <a:ea typeface="Arial" pitchFamily="34" charset="-122"/>
                          <a:cs typeface="Arial" pitchFamily="34" charset="-120"/>
                        </a:rPr>
                        <a:t>Wellbeing · hedonia</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Pleasure, comfort, enjoyment, ease. Whether it was a good experience in the plain sense.</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Spontaneous positive remarks; wanting to keep going; “pleasant”, “calm”, “satisfying” — or tiring, tedious, stressful.</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777240">
                <a:tc>
                  <a:txBody>
                    <a:bodyPr/>
                    <a:lstStyle/>
                    <a:p>
                      <a:pPr indent="0" marL="0">
                        <a:buNone/>
                      </a:pPr>
                      <a:r>
                        <a:rPr lang="en-US" sz="1050" b="1" dirty="0">
                          <a:solidFill>
                            <a:srgbClr val="13403B"/>
                          </a:solidFill>
                          <a:latin typeface="Arial" pitchFamily="34" charset="0"/>
                          <a:ea typeface="Arial" pitchFamily="34" charset="-122"/>
                          <a:cs typeface="Arial" pitchFamily="34" charset="-120"/>
                        </a:rPr>
                        <a:t>Wellbeing · eudaimonia</a:t>
                      </a:r>
                      <a:endParaRPr lang="en-US" sz="1050" dirty="0">
                        <a:latin typeface="Arial" charset="0"/>
                        <a:ea typeface="Arial" charset="0"/>
                        <a:cs typeface="Arial"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Meaning, growth, functioning well as a person. Through self-determination theory: autonomy, competence, relatedness.</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indent="0" marL="0">
                        <a:buNone/>
                      </a:pPr>
                      <a:r>
                        <a:rPr lang="en-US" sz="1050" dirty="0">
                          <a:solidFill>
                            <a:srgbClr val="23302C"/>
                          </a:solidFill>
                          <a:latin typeface="Calibri" pitchFamily="34" charset="0"/>
                          <a:ea typeface="Calibri" pitchFamily="34" charset="-122"/>
                          <a:cs typeface="Calibri" pitchFamily="34" charset="-120"/>
                        </a:rPr>
                        <a:t>Autonomy: control, choice, dignity given or taken. Competence: feeling capable, learning, mastery. Relatedness: connection to others, or isolation.</a:t>
                      </a:r>
                      <a:endParaRPr lang="en-US" sz="1050" dirty="0">
                        <a:latin typeface="Calibri" charset="0"/>
                        <a:ea typeface="Calibri" charset="0"/>
                        <a:cs typeface="Calibri" charset="0"/>
                      </a:endParaRPr>
                    </a:p>
                  </a:txBody>
                  <a:tcPr marL="54864" marR="54864" marT="54864" marB="54864"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bl>
          </a:graphicData>
        </a:graphic>
      </p:graphicFrame>
      <p:sp>
        <p:nvSpPr>
          <p:cNvPr id="8" name="Text 4"/>
          <p:cNvSpPr txBox="1"/>
          <p:nvPr/>
        </p:nvSpPr>
        <p:spPr>
          <a:xfrm>
            <a:off x="731520" y="585216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Hedonia is whether it felt good. Eudaimonia is whether it helped the person be more themselves — more in control, more capable, more connected. A system can score well on one and badly on the other.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PACE+W IN THE DATA</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Six Extracts, Six Dimensions — and Most Carry Two</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5257800" cy="1188720"/>
          </a:xfrm>
          <a:prstGeom prst="roundRect">
            <a:avLst>
              <a:gd name="adj" fmla="val 6154"/>
            </a:avLst>
          </a:prstGeom>
          <a:solidFill>
            <a:srgbClr val="FFFFFF"/>
          </a:solidFill>
          <a:ln w="9525">
            <a:solidFill>
              <a:srgbClr val="DCE3DC"/>
            </a:solidFill>
            <a:prstDash val="solid"/>
          </a:ln>
        </p:spPr>
      </p:sp>
      <p:sp>
        <p:nvSpPr>
          <p:cNvPr id="8" name="Text 5"/>
          <p:cNvSpPr txBox="1"/>
          <p:nvPr/>
        </p:nvSpPr>
        <p:spPr>
          <a:xfrm>
            <a:off x="987552" y="1600200"/>
            <a:ext cx="4754880" cy="228600"/>
          </a:xfrm>
          <a:prstGeom prst="rect">
            <a:avLst/>
          </a:prstGeom>
          <a:noFill/>
          <a:ln/>
        </p:spPr>
        <p:txBody>
          <a:bodyPr wrap="square" lIns="0" tIns="0" rIns="0" bIns="0" rtlCol="0" anchor="ctr"/>
          <a:lstStyle/>
          <a:p>
            <a:pPr indent="0" marL="0">
              <a:buNone/>
            </a:pPr>
            <a:r>
              <a:rPr lang="en-US" sz="1000" b="1" spc="150" kern="0" dirty="0">
                <a:solidFill>
                  <a:srgbClr val="8A5F22"/>
                </a:solidFill>
                <a:latin typeface="Arial" pitchFamily="34" charset="0"/>
                <a:ea typeface="Arial" pitchFamily="34" charset="-122"/>
                <a:cs typeface="Arial" pitchFamily="34" charset="-120"/>
              </a:rPr>
              <a:t>PERCEPTION</a:t>
            </a:r>
            <a:endParaRPr lang="en-US" sz="1000" dirty="0"/>
          </a:p>
        </p:txBody>
      </p:sp>
      <p:sp>
        <p:nvSpPr>
          <p:cNvPr id="9" name="Text 6"/>
          <p:cNvSpPr txBox="1"/>
          <p:nvPr/>
        </p:nvSpPr>
        <p:spPr>
          <a:xfrm>
            <a:off x="987552" y="1847088"/>
            <a:ext cx="4754880" cy="731520"/>
          </a:xfrm>
          <a:prstGeom prst="rect">
            <a:avLst/>
          </a:prstGeom>
          <a:noFill/>
          <a:ln/>
        </p:spPr>
        <p:txBody>
          <a:bodyPr wrap="square" lIns="0" tIns="0" rIns="0" bIns="0" rtlCol="0" anchor="t"/>
          <a:lstStyle/>
          <a:p>
            <a:pPr indent="0" marL="0">
              <a:buNone/>
            </a:pPr>
            <a:r>
              <a:rPr lang="en-US" sz="1300" i="1" dirty="0">
                <a:solidFill>
                  <a:srgbClr val="23302C"/>
                </a:solidFill>
                <a:latin typeface="Calibri" pitchFamily="34" charset="0"/>
                <a:ea typeface="Calibri" pitchFamily="34" charset="-122"/>
                <a:cs typeface="Calibri" pitchFamily="34" charset="-120"/>
              </a:rPr>
              <a:t>“I saw the red thing but I didn’t know it was a button until you said.”</a:t>
            </a:r>
            <a:endParaRPr lang="en-US" sz="1300" dirty="0"/>
          </a:p>
        </p:txBody>
      </p:sp>
      <p:sp>
        <p:nvSpPr>
          <p:cNvPr id="10" name="Shape 7"/>
          <p:cNvSpPr/>
          <p:nvPr/>
        </p:nvSpPr>
        <p:spPr>
          <a:xfrm>
            <a:off x="6172200" y="1463040"/>
            <a:ext cx="5257800" cy="1188720"/>
          </a:xfrm>
          <a:prstGeom prst="roundRect">
            <a:avLst>
              <a:gd name="adj" fmla="val 6154"/>
            </a:avLst>
          </a:prstGeom>
          <a:solidFill>
            <a:srgbClr val="FFFFFF"/>
          </a:solidFill>
          <a:ln w="9525">
            <a:solidFill>
              <a:srgbClr val="DCE3DC"/>
            </a:solidFill>
            <a:prstDash val="solid"/>
          </a:ln>
        </p:spPr>
      </p:sp>
      <p:sp>
        <p:nvSpPr>
          <p:cNvPr id="11" name="Text 8"/>
          <p:cNvSpPr txBox="1"/>
          <p:nvPr/>
        </p:nvSpPr>
        <p:spPr>
          <a:xfrm>
            <a:off x="6428232" y="1600200"/>
            <a:ext cx="4754880" cy="228600"/>
          </a:xfrm>
          <a:prstGeom prst="rect">
            <a:avLst/>
          </a:prstGeom>
          <a:noFill/>
          <a:ln/>
        </p:spPr>
        <p:txBody>
          <a:bodyPr wrap="square" lIns="0" tIns="0" rIns="0" bIns="0" rtlCol="0" anchor="ctr"/>
          <a:lstStyle/>
          <a:p>
            <a:pPr indent="0" marL="0">
              <a:buNone/>
            </a:pPr>
            <a:r>
              <a:rPr lang="en-US" sz="1000" b="1" spc="150" kern="0" dirty="0">
                <a:solidFill>
                  <a:srgbClr val="8A5F22"/>
                </a:solidFill>
                <a:latin typeface="Arial" pitchFamily="34" charset="0"/>
                <a:ea typeface="Arial" pitchFamily="34" charset="-122"/>
                <a:cs typeface="Arial" pitchFamily="34" charset="-120"/>
              </a:rPr>
              <a:t>ACTION</a:t>
            </a:r>
            <a:endParaRPr lang="en-US" sz="1000" dirty="0"/>
          </a:p>
        </p:txBody>
      </p:sp>
      <p:sp>
        <p:nvSpPr>
          <p:cNvPr id="12" name="Text 9"/>
          <p:cNvSpPr txBox="1"/>
          <p:nvPr/>
        </p:nvSpPr>
        <p:spPr>
          <a:xfrm>
            <a:off x="6428232" y="1847088"/>
            <a:ext cx="4754880" cy="731520"/>
          </a:xfrm>
          <a:prstGeom prst="rect">
            <a:avLst/>
          </a:prstGeom>
          <a:noFill/>
          <a:ln/>
        </p:spPr>
        <p:txBody>
          <a:bodyPr wrap="square" lIns="0" tIns="0" rIns="0" bIns="0" rtlCol="0" anchor="t"/>
          <a:lstStyle/>
          <a:p>
            <a:pPr indent="0" marL="0">
              <a:buNone/>
            </a:pPr>
            <a:r>
              <a:rPr lang="en-US" sz="1300" i="1" dirty="0">
                <a:solidFill>
                  <a:srgbClr val="23302C"/>
                </a:solidFill>
                <a:latin typeface="Calibri" pitchFamily="34" charset="0"/>
                <a:ea typeface="Calibri" pitchFamily="34" charset="-122"/>
                <a:cs typeface="Calibri" pitchFamily="34" charset="-120"/>
              </a:rPr>
              <a:t>“I pressed it twice because nothing happened the first time — or I thought nothing happened.”</a:t>
            </a:r>
            <a:endParaRPr lang="en-US" sz="1300" dirty="0"/>
          </a:p>
        </p:txBody>
      </p:sp>
      <p:sp>
        <p:nvSpPr>
          <p:cNvPr id="13" name="Shape 10"/>
          <p:cNvSpPr/>
          <p:nvPr/>
        </p:nvSpPr>
        <p:spPr>
          <a:xfrm>
            <a:off x="731520" y="2788920"/>
            <a:ext cx="5257800" cy="1188720"/>
          </a:xfrm>
          <a:prstGeom prst="roundRect">
            <a:avLst>
              <a:gd name="adj" fmla="val 6154"/>
            </a:avLst>
          </a:prstGeom>
          <a:solidFill>
            <a:srgbClr val="FFFFFF"/>
          </a:solidFill>
          <a:ln w="9525">
            <a:solidFill>
              <a:srgbClr val="DCE3DC"/>
            </a:solidFill>
            <a:prstDash val="solid"/>
          </a:ln>
        </p:spPr>
      </p:sp>
      <p:sp>
        <p:nvSpPr>
          <p:cNvPr id="14" name="Text 11"/>
          <p:cNvSpPr txBox="1"/>
          <p:nvPr/>
        </p:nvSpPr>
        <p:spPr>
          <a:xfrm>
            <a:off x="987552" y="2926080"/>
            <a:ext cx="4754880" cy="228600"/>
          </a:xfrm>
          <a:prstGeom prst="rect">
            <a:avLst/>
          </a:prstGeom>
          <a:noFill/>
          <a:ln/>
        </p:spPr>
        <p:txBody>
          <a:bodyPr wrap="square" lIns="0" tIns="0" rIns="0" bIns="0" rtlCol="0" anchor="ctr"/>
          <a:lstStyle/>
          <a:p>
            <a:pPr indent="0" marL="0">
              <a:buNone/>
            </a:pPr>
            <a:r>
              <a:rPr lang="en-US" sz="1000" b="1" spc="150" kern="0" dirty="0">
                <a:solidFill>
                  <a:srgbClr val="8A5F22"/>
                </a:solidFill>
                <a:latin typeface="Arial" pitchFamily="34" charset="0"/>
                <a:ea typeface="Arial" pitchFamily="34" charset="-122"/>
                <a:cs typeface="Arial" pitchFamily="34" charset="-120"/>
              </a:rPr>
              <a:t>COGNITION</a:t>
            </a:r>
            <a:endParaRPr lang="en-US" sz="1000" dirty="0"/>
          </a:p>
        </p:txBody>
      </p:sp>
      <p:sp>
        <p:nvSpPr>
          <p:cNvPr id="15" name="Text 12"/>
          <p:cNvSpPr txBox="1"/>
          <p:nvPr/>
        </p:nvSpPr>
        <p:spPr>
          <a:xfrm>
            <a:off x="987552" y="3172968"/>
            <a:ext cx="4754880" cy="731520"/>
          </a:xfrm>
          <a:prstGeom prst="rect">
            <a:avLst/>
          </a:prstGeom>
          <a:noFill/>
          <a:ln/>
        </p:spPr>
        <p:txBody>
          <a:bodyPr wrap="square" lIns="0" tIns="0" rIns="0" bIns="0" rtlCol="0" anchor="t"/>
          <a:lstStyle/>
          <a:p>
            <a:pPr indent="0" marL="0">
              <a:buNone/>
            </a:pPr>
            <a:r>
              <a:rPr lang="en-US" sz="1300" i="1" dirty="0">
                <a:solidFill>
                  <a:srgbClr val="23302C"/>
                </a:solidFill>
                <a:latin typeface="Calibri" pitchFamily="34" charset="0"/>
                <a:ea typeface="Calibri" pitchFamily="34" charset="-122"/>
                <a:cs typeface="Calibri" pitchFamily="34" charset="-120"/>
              </a:rPr>
              <a:t>“I figured it saves automatically because there’s no save button — is that right?”</a:t>
            </a:r>
            <a:endParaRPr lang="en-US" sz="1300" dirty="0"/>
          </a:p>
        </p:txBody>
      </p:sp>
      <p:sp>
        <p:nvSpPr>
          <p:cNvPr id="16" name="Shape 13"/>
          <p:cNvSpPr/>
          <p:nvPr/>
        </p:nvSpPr>
        <p:spPr>
          <a:xfrm>
            <a:off x="6172200" y="2788920"/>
            <a:ext cx="5257800" cy="1188720"/>
          </a:xfrm>
          <a:prstGeom prst="roundRect">
            <a:avLst>
              <a:gd name="adj" fmla="val 6154"/>
            </a:avLst>
          </a:prstGeom>
          <a:solidFill>
            <a:srgbClr val="FFFFFF"/>
          </a:solidFill>
          <a:ln w="9525">
            <a:solidFill>
              <a:srgbClr val="DCE3DC"/>
            </a:solidFill>
            <a:prstDash val="solid"/>
          </a:ln>
        </p:spPr>
      </p:sp>
      <p:sp>
        <p:nvSpPr>
          <p:cNvPr id="17" name="Text 14"/>
          <p:cNvSpPr txBox="1"/>
          <p:nvPr/>
        </p:nvSpPr>
        <p:spPr>
          <a:xfrm>
            <a:off x="6428232" y="2926080"/>
            <a:ext cx="4754880" cy="228600"/>
          </a:xfrm>
          <a:prstGeom prst="rect">
            <a:avLst/>
          </a:prstGeom>
          <a:noFill/>
          <a:ln/>
        </p:spPr>
        <p:txBody>
          <a:bodyPr wrap="square" lIns="0" tIns="0" rIns="0" bIns="0" rtlCol="0" anchor="ctr"/>
          <a:lstStyle/>
          <a:p>
            <a:pPr indent="0" marL="0">
              <a:buNone/>
            </a:pPr>
            <a:r>
              <a:rPr lang="en-US" sz="1000" b="1" spc="150" kern="0" dirty="0">
                <a:solidFill>
                  <a:srgbClr val="8A5F22"/>
                </a:solidFill>
                <a:latin typeface="Arial" pitchFamily="34" charset="0"/>
                <a:ea typeface="Arial" pitchFamily="34" charset="-122"/>
                <a:cs typeface="Arial" pitchFamily="34" charset="-120"/>
              </a:rPr>
              <a:t>EMOTION</a:t>
            </a:r>
            <a:endParaRPr lang="en-US" sz="1000" dirty="0"/>
          </a:p>
        </p:txBody>
      </p:sp>
      <p:sp>
        <p:nvSpPr>
          <p:cNvPr id="18" name="Text 15"/>
          <p:cNvSpPr txBox="1"/>
          <p:nvPr/>
        </p:nvSpPr>
        <p:spPr>
          <a:xfrm>
            <a:off x="6428232" y="3172968"/>
            <a:ext cx="4754880" cy="731520"/>
          </a:xfrm>
          <a:prstGeom prst="rect">
            <a:avLst/>
          </a:prstGeom>
          <a:noFill/>
          <a:ln/>
        </p:spPr>
        <p:txBody>
          <a:bodyPr wrap="square" lIns="0" tIns="0" rIns="0" bIns="0" rtlCol="0" anchor="t"/>
          <a:lstStyle/>
          <a:p>
            <a:pPr indent="0" marL="0">
              <a:buNone/>
            </a:pPr>
            <a:r>
              <a:rPr lang="en-US" sz="1300" i="1" dirty="0">
                <a:solidFill>
                  <a:srgbClr val="23302C"/>
                </a:solidFill>
                <a:latin typeface="Calibri" pitchFamily="34" charset="0"/>
                <a:ea typeface="Calibri" pitchFamily="34" charset="-122"/>
                <a:cs typeface="Calibri" pitchFamily="34" charset="-120"/>
              </a:rPr>
              <a:t>“Oh, thank goodness. I really thought I’d broken it.”</a:t>
            </a:r>
            <a:endParaRPr lang="en-US" sz="1300" dirty="0"/>
          </a:p>
        </p:txBody>
      </p:sp>
      <p:sp>
        <p:nvSpPr>
          <p:cNvPr id="19" name="Shape 16"/>
          <p:cNvSpPr/>
          <p:nvPr/>
        </p:nvSpPr>
        <p:spPr>
          <a:xfrm>
            <a:off x="731520" y="4114800"/>
            <a:ext cx="5257800" cy="1188720"/>
          </a:xfrm>
          <a:prstGeom prst="roundRect">
            <a:avLst>
              <a:gd name="adj" fmla="val 6154"/>
            </a:avLst>
          </a:prstGeom>
          <a:solidFill>
            <a:srgbClr val="FFFFFF"/>
          </a:solidFill>
          <a:ln w="9525">
            <a:solidFill>
              <a:srgbClr val="DCE3DC"/>
            </a:solidFill>
            <a:prstDash val="solid"/>
          </a:ln>
        </p:spPr>
      </p:sp>
      <p:sp>
        <p:nvSpPr>
          <p:cNvPr id="20" name="Text 17"/>
          <p:cNvSpPr txBox="1"/>
          <p:nvPr/>
        </p:nvSpPr>
        <p:spPr>
          <a:xfrm>
            <a:off x="987552" y="4251960"/>
            <a:ext cx="4754880" cy="228600"/>
          </a:xfrm>
          <a:prstGeom prst="rect">
            <a:avLst/>
          </a:prstGeom>
          <a:noFill/>
          <a:ln/>
        </p:spPr>
        <p:txBody>
          <a:bodyPr wrap="square" lIns="0" tIns="0" rIns="0" bIns="0" rtlCol="0" anchor="ctr"/>
          <a:lstStyle/>
          <a:p>
            <a:pPr indent="0" marL="0">
              <a:buNone/>
            </a:pPr>
            <a:r>
              <a:rPr lang="en-US" sz="1000" b="1" spc="150" kern="0" dirty="0">
                <a:solidFill>
                  <a:srgbClr val="8A5F22"/>
                </a:solidFill>
                <a:latin typeface="Arial" pitchFamily="34" charset="0"/>
                <a:ea typeface="Arial" pitchFamily="34" charset="-122"/>
                <a:cs typeface="Arial" pitchFamily="34" charset="-120"/>
              </a:rPr>
              <a:t>WELLBEING · HEDONIA</a:t>
            </a:r>
            <a:endParaRPr lang="en-US" sz="1000" dirty="0"/>
          </a:p>
        </p:txBody>
      </p:sp>
      <p:sp>
        <p:nvSpPr>
          <p:cNvPr id="21" name="Text 18"/>
          <p:cNvSpPr txBox="1"/>
          <p:nvPr/>
        </p:nvSpPr>
        <p:spPr>
          <a:xfrm>
            <a:off x="987552" y="4498848"/>
            <a:ext cx="4754880" cy="731520"/>
          </a:xfrm>
          <a:prstGeom prst="rect">
            <a:avLst/>
          </a:prstGeom>
          <a:noFill/>
          <a:ln/>
        </p:spPr>
        <p:txBody>
          <a:bodyPr wrap="square" lIns="0" tIns="0" rIns="0" bIns="0" rtlCol="0" anchor="t"/>
          <a:lstStyle/>
          <a:p>
            <a:pPr indent="0" marL="0">
              <a:buNone/>
            </a:pPr>
            <a:r>
              <a:rPr lang="en-US" sz="1300" i="1" dirty="0">
                <a:solidFill>
                  <a:srgbClr val="23302C"/>
                </a:solidFill>
                <a:latin typeface="Calibri" pitchFamily="34" charset="0"/>
                <a:ea typeface="Calibri" pitchFamily="34" charset="-122"/>
                <a:cs typeface="Calibri" pitchFamily="34" charset="-120"/>
              </a:rPr>
              <a:t>“That was actually quite nice. I’d do that in the evening with a cup of tea.”</a:t>
            </a:r>
            <a:endParaRPr lang="en-US" sz="1300" dirty="0"/>
          </a:p>
        </p:txBody>
      </p:sp>
      <p:sp>
        <p:nvSpPr>
          <p:cNvPr id="22" name="Shape 19"/>
          <p:cNvSpPr/>
          <p:nvPr/>
        </p:nvSpPr>
        <p:spPr>
          <a:xfrm>
            <a:off x="6172200" y="4114800"/>
            <a:ext cx="5257800" cy="1188720"/>
          </a:xfrm>
          <a:prstGeom prst="roundRect">
            <a:avLst>
              <a:gd name="adj" fmla="val 6154"/>
            </a:avLst>
          </a:prstGeom>
          <a:solidFill>
            <a:srgbClr val="EDF0EA"/>
          </a:solidFill>
          <a:ln w="9525">
            <a:solidFill>
              <a:srgbClr val="DCE3DC"/>
            </a:solidFill>
            <a:prstDash val="solid"/>
          </a:ln>
        </p:spPr>
      </p:sp>
      <p:sp>
        <p:nvSpPr>
          <p:cNvPr id="23" name="Text 20"/>
          <p:cNvSpPr txBox="1"/>
          <p:nvPr/>
        </p:nvSpPr>
        <p:spPr>
          <a:xfrm>
            <a:off x="6428232" y="4251960"/>
            <a:ext cx="4754880" cy="228600"/>
          </a:xfrm>
          <a:prstGeom prst="rect">
            <a:avLst/>
          </a:prstGeom>
          <a:noFill/>
          <a:ln/>
        </p:spPr>
        <p:txBody>
          <a:bodyPr wrap="square" lIns="0" tIns="0" rIns="0" bIns="0" rtlCol="0" anchor="ctr"/>
          <a:lstStyle/>
          <a:p>
            <a:pPr indent="0" marL="0">
              <a:buNone/>
            </a:pPr>
            <a:r>
              <a:rPr lang="en-US" sz="1000" b="1" spc="150" kern="0" dirty="0">
                <a:solidFill>
                  <a:srgbClr val="8A5F22"/>
                </a:solidFill>
                <a:latin typeface="Arial" pitchFamily="34" charset="0"/>
                <a:ea typeface="Arial" pitchFamily="34" charset="-122"/>
                <a:cs typeface="Arial" pitchFamily="34" charset="-120"/>
              </a:rPr>
              <a:t>WELLBEING · EUDAIMONIA</a:t>
            </a:r>
            <a:endParaRPr lang="en-US" sz="1000" dirty="0"/>
          </a:p>
        </p:txBody>
      </p:sp>
      <p:sp>
        <p:nvSpPr>
          <p:cNvPr id="24" name="Text 21"/>
          <p:cNvSpPr txBox="1"/>
          <p:nvPr/>
        </p:nvSpPr>
        <p:spPr>
          <a:xfrm>
            <a:off x="6428232" y="4498848"/>
            <a:ext cx="4754880" cy="731520"/>
          </a:xfrm>
          <a:prstGeom prst="rect">
            <a:avLst/>
          </a:prstGeom>
          <a:noFill/>
          <a:ln/>
        </p:spPr>
        <p:txBody>
          <a:bodyPr wrap="square" lIns="0" tIns="0" rIns="0" bIns="0" rtlCol="0" anchor="t"/>
          <a:lstStyle/>
          <a:p>
            <a:pPr indent="0" marL="0">
              <a:buNone/>
            </a:pPr>
            <a:r>
              <a:rPr lang="en-US" sz="1150" dirty="0">
                <a:solidFill>
                  <a:srgbClr val="23302C"/>
                </a:solidFill>
                <a:latin typeface="Calibri" pitchFamily="34" charset="0"/>
                <a:ea typeface="Calibri" pitchFamily="34" charset="-122"/>
                <a:cs typeface="Calibri" pitchFamily="34" charset="-120"/>
              </a:rPr>
              <a:t>Autonomy: “I like that it lets me decide, it doesn’t just do it.”  Competence: “By the third one I didn’t need the instructions.”  Relatedness: “My daughter would see this and stop ringing to check.”</a:t>
            </a:r>
            <a:endParaRPr lang="en-US" sz="1150" dirty="0"/>
          </a:p>
        </p:txBody>
      </p:sp>
      <p:sp>
        <p:nvSpPr>
          <p:cNvPr id="25" name="Shape 22"/>
          <p:cNvSpPr/>
          <p:nvPr/>
        </p:nvSpPr>
        <p:spPr>
          <a:xfrm>
            <a:off x="731520" y="5486400"/>
            <a:ext cx="10698480" cy="640080"/>
          </a:xfrm>
          <a:prstGeom prst="roundRect">
            <a:avLst>
              <a:gd name="adj" fmla="val 11429"/>
            </a:avLst>
          </a:prstGeom>
          <a:solidFill>
            <a:srgbClr val="F7EFDF"/>
          </a:solidFill>
          <a:ln w="12700">
            <a:solidFill>
              <a:srgbClr val="F7EFDF"/>
            </a:solidFill>
            <a:prstDash val="solid"/>
          </a:ln>
        </p:spPr>
      </p:sp>
      <p:sp>
        <p:nvSpPr>
          <p:cNvPr id="26" name="Text 23"/>
          <p:cNvSpPr txBox="1"/>
          <p:nvPr/>
        </p:nvSpPr>
        <p:spPr>
          <a:xfrm>
            <a:off x="1042416" y="5486400"/>
            <a:ext cx="10076688" cy="64008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Teams with a 2.2 question: check tonight whether your instruments can produce Wellbeing data at all. If not, Friday’s claim-strength check will say “cannot establish” — better to know now.</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WHAT BOTH TYPES SHARE</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One Discipline: Traceable, Checked, Honest</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0698480" cy="777240"/>
          </a:xfrm>
          <a:prstGeom prst="roundRect">
            <a:avLst>
              <a:gd name="adj" fmla="val 7059"/>
            </a:avLst>
          </a:prstGeom>
          <a:solidFill>
            <a:srgbClr val="FFFFFF"/>
          </a:solidFill>
          <a:ln w="9525">
            <a:solidFill>
              <a:srgbClr val="DCE3DC"/>
            </a:solidFill>
            <a:prstDash val="solid"/>
          </a:ln>
        </p:spPr>
      </p:sp>
      <p:sp>
        <p:nvSpPr>
          <p:cNvPr id="8" name="Text 5"/>
          <p:cNvSpPr txBox="1"/>
          <p:nvPr/>
        </p:nvSpPr>
        <p:spPr>
          <a:xfrm>
            <a:off x="960120" y="1463040"/>
            <a:ext cx="2507285" cy="77724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Traceability</a:t>
            </a:r>
            <a:endParaRPr lang="en-US" sz="1250" dirty="0"/>
          </a:p>
        </p:txBody>
      </p:sp>
      <p:sp>
        <p:nvSpPr>
          <p:cNvPr id="9" name="Text 6"/>
          <p:cNvSpPr txBox="1"/>
          <p:nvPr/>
        </p:nvSpPr>
        <p:spPr>
          <a:xfrm>
            <a:off x="3741725" y="1463040"/>
            <a:ext cx="7642555" cy="777240"/>
          </a:xfrm>
          <a:prstGeom prst="rect">
            <a:avLst/>
          </a:prstGeom>
          <a:noFill/>
          <a:ln/>
        </p:spPr>
        <p:txBody>
          <a:bodyPr wrap="square" lIns="0" tIns="0" rIns="0" bIns="0" rtlCol="0" anchor="ctr"/>
          <a:lstStyle/>
          <a:p>
            <a:pPr indent="0" marL="0">
              <a:buNone/>
            </a:pPr>
            <a:r>
              <a:rPr lang="en-US" sz="1250" dirty="0">
                <a:solidFill>
                  <a:srgbClr val="23302C"/>
                </a:solidFill>
                <a:latin typeface="Calibri" pitchFamily="34" charset="0"/>
                <a:ea typeface="Calibri" pitchFamily="34" charset="-122"/>
                <a:cs typeface="Calibri" pitchFamily="34" charset="-120"/>
              </a:rPr>
              <a:t>Every code has extracts; every theme names its codes; every extract has a participant ID and a location. NVivo does this for free if you code in it. A theme with no extracts is an opinion.</a:t>
            </a:r>
            <a:endParaRPr lang="en-US" sz="1250" dirty="0"/>
          </a:p>
        </p:txBody>
      </p:sp>
      <p:sp>
        <p:nvSpPr>
          <p:cNvPr id="10" name="Shape 7"/>
          <p:cNvSpPr/>
          <p:nvPr/>
        </p:nvSpPr>
        <p:spPr>
          <a:xfrm>
            <a:off x="731520" y="2295144"/>
            <a:ext cx="10698480" cy="777240"/>
          </a:xfrm>
          <a:prstGeom prst="roundRect">
            <a:avLst>
              <a:gd name="adj" fmla="val 7059"/>
            </a:avLst>
          </a:prstGeom>
          <a:solidFill>
            <a:srgbClr val="EDF0EA"/>
          </a:solidFill>
          <a:ln w="9525">
            <a:solidFill>
              <a:srgbClr val="DCE3DC"/>
            </a:solidFill>
            <a:prstDash val="solid"/>
          </a:ln>
        </p:spPr>
      </p:sp>
      <p:sp>
        <p:nvSpPr>
          <p:cNvPr id="11" name="Text 8"/>
          <p:cNvSpPr txBox="1"/>
          <p:nvPr/>
        </p:nvSpPr>
        <p:spPr>
          <a:xfrm>
            <a:off x="960120" y="2295144"/>
            <a:ext cx="2507285" cy="77724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A second coder</a:t>
            </a:r>
            <a:endParaRPr lang="en-US" sz="1250" dirty="0"/>
          </a:p>
        </p:txBody>
      </p:sp>
      <p:sp>
        <p:nvSpPr>
          <p:cNvPr id="12" name="Text 9"/>
          <p:cNvSpPr txBox="1"/>
          <p:nvPr/>
        </p:nvSpPr>
        <p:spPr>
          <a:xfrm>
            <a:off x="3741725" y="2295144"/>
            <a:ext cx="7642555" cy="777240"/>
          </a:xfrm>
          <a:prstGeom prst="rect">
            <a:avLst/>
          </a:prstGeom>
          <a:noFill/>
          <a:ln/>
        </p:spPr>
        <p:txBody>
          <a:bodyPr wrap="square" lIns="0" tIns="0" rIns="0" bIns="0" rtlCol="0" anchor="ctr"/>
          <a:lstStyle/>
          <a:p>
            <a:pPr indent="0" marL="0">
              <a:buNone/>
            </a:pPr>
            <a:r>
              <a:rPr lang="en-US" sz="1250" dirty="0">
                <a:solidFill>
                  <a:srgbClr val="23302C"/>
                </a:solidFill>
                <a:latin typeface="Calibri" pitchFamily="34" charset="0"/>
                <a:ea typeface="Calibri" pitchFamily="34" charset="-122"/>
                <a:cs typeface="Calibri" pitchFamily="34" charset="-120"/>
              </a:rPr>
              <a:t>One other member codes a sample — one transcript, or a few pages — and you compare. No kappa. The disagreements, discussed, and the code definitions tightened as a result, both recorded.</a:t>
            </a:r>
            <a:endParaRPr lang="en-US" sz="1250" dirty="0"/>
          </a:p>
        </p:txBody>
      </p:sp>
      <p:sp>
        <p:nvSpPr>
          <p:cNvPr id="13" name="Shape 10"/>
          <p:cNvSpPr/>
          <p:nvPr/>
        </p:nvSpPr>
        <p:spPr>
          <a:xfrm>
            <a:off x="731520" y="3127248"/>
            <a:ext cx="10698480" cy="777240"/>
          </a:xfrm>
          <a:prstGeom prst="roundRect">
            <a:avLst>
              <a:gd name="adj" fmla="val 7059"/>
            </a:avLst>
          </a:prstGeom>
          <a:solidFill>
            <a:srgbClr val="FFFFFF"/>
          </a:solidFill>
          <a:ln w="9525">
            <a:solidFill>
              <a:srgbClr val="DCE3DC"/>
            </a:solidFill>
            <a:prstDash val="solid"/>
          </a:ln>
        </p:spPr>
      </p:sp>
      <p:sp>
        <p:nvSpPr>
          <p:cNvPr id="14" name="Text 11"/>
          <p:cNvSpPr txBox="1"/>
          <p:nvPr/>
        </p:nvSpPr>
        <p:spPr>
          <a:xfrm>
            <a:off x="960120" y="3127248"/>
            <a:ext cx="2507285" cy="77724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The facilitator is in the data</a:t>
            </a:r>
            <a:endParaRPr lang="en-US" sz="1250" dirty="0"/>
          </a:p>
        </p:txBody>
      </p:sp>
      <p:sp>
        <p:nvSpPr>
          <p:cNvPr id="15" name="Text 12"/>
          <p:cNvSpPr txBox="1"/>
          <p:nvPr/>
        </p:nvSpPr>
        <p:spPr>
          <a:xfrm>
            <a:off x="3741725" y="3127248"/>
            <a:ext cx="7642555" cy="777240"/>
          </a:xfrm>
          <a:prstGeom prst="rect">
            <a:avLst/>
          </a:prstGeom>
          <a:noFill/>
          <a:ln/>
        </p:spPr>
        <p:txBody>
          <a:bodyPr wrap="square" lIns="0" tIns="0" rIns="0" bIns="0" rtlCol="0" anchor="ctr"/>
          <a:lstStyle/>
          <a:p>
            <a:pPr indent="0" marL="0">
              <a:buNone/>
            </a:pPr>
            <a:r>
              <a:rPr lang="en-US" sz="1250" dirty="0">
                <a:solidFill>
                  <a:srgbClr val="23302C"/>
                </a:solidFill>
                <a:latin typeface="Calibri" pitchFamily="34" charset="0"/>
                <a:ea typeface="Calibri" pitchFamily="34" charset="-122"/>
                <a:cs typeface="Calibri" pitchFamily="34" charset="-120"/>
              </a:rPr>
              <a:t>Code where the facilitator prompted or helped. A task completed after a hint is not the evidence a task completed unaided is, and the claim has to reflect it.</a:t>
            </a:r>
            <a:endParaRPr lang="en-US" sz="1250" dirty="0"/>
          </a:p>
        </p:txBody>
      </p:sp>
      <p:sp>
        <p:nvSpPr>
          <p:cNvPr id="16" name="Shape 13"/>
          <p:cNvSpPr/>
          <p:nvPr/>
        </p:nvSpPr>
        <p:spPr>
          <a:xfrm>
            <a:off x="731520" y="3959352"/>
            <a:ext cx="10698480" cy="777240"/>
          </a:xfrm>
          <a:prstGeom prst="roundRect">
            <a:avLst>
              <a:gd name="adj" fmla="val 7059"/>
            </a:avLst>
          </a:prstGeom>
          <a:solidFill>
            <a:srgbClr val="EDF0EA"/>
          </a:solidFill>
          <a:ln w="9525">
            <a:solidFill>
              <a:srgbClr val="DCE3DC"/>
            </a:solidFill>
            <a:prstDash val="solid"/>
          </a:ln>
        </p:spPr>
      </p:sp>
      <p:sp>
        <p:nvSpPr>
          <p:cNvPr id="17" name="Text 14"/>
          <p:cNvSpPr txBox="1"/>
          <p:nvPr/>
        </p:nvSpPr>
        <p:spPr>
          <a:xfrm>
            <a:off x="960120" y="3959352"/>
            <a:ext cx="2507285" cy="77724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Coding is not summarising</a:t>
            </a:r>
            <a:endParaRPr lang="en-US" sz="1250" dirty="0"/>
          </a:p>
        </p:txBody>
      </p:sp>
      <p:sp>
        <p:nvSpPr>
          <p:cNvPr id="18" name="Text 15"/>
          <p:cNvSpPr txBox="1"/>
          <p:nvPr/>
        </p:nvSpPr>
        <p:spPr>
          <a:xfrm>
            <a:off x="3741725" y="3959352"/>
            <a:ext cx="7642555" cy="777240"/>
          </a:xfrm>
          <a:prstGeom prst="rect">
            <a:avLst/>
          </a:prstGeom>
          <a:noFill/>
          <a:ln/>
        </p:spPr>
        <p:txBody>
          <a:bodyPr wrap="square" lIns="0" tIns="0" rIns="0" bIns="0" rtlCol="0" anchor="ctr"/>
          <a:lstStyle/>
          <a:p>
            <a:pPr indent="0" marL="0">
              <a:buNone/>
            </a:pPr>
            <a:r>
              <a:rPr lang="en-US" sz="1250" dirty="0">
                <a:solidFill>
                  <a:srgbClr val="23302C"/>
                </a:solidFill>
                <a:latin typeface="Calibri" pitchFamily="34" charset="0"/>
                <a:ea typeface="Calibri" pitchFamily="34" charset="-122"/>
                <a:cs typeface="Calibri" pitchFamily="34" charset="-120"/>
              </a:rPr>
              <a:t>A paragraph restating what the participant said in your words is a summary. A code is a claim about what was happening that the extract can be checked against.</a:t>
            </a:r>
            <a:endParaRPr lang="en-US" sz="1250" dirty="0"/>
          </a:p>
        </p:txBody>
      </p:sp>
      <p:sp>
        <p:nvSpPr>
          <p:cNvPr id="19" name="Shape 16"/>
          <p:cNvSpPr/>
          <p:nvPr/>
        </p:nvSpPr>
        <p:spPr>
          <a:xfrm>
            <a:off x="731520" y="4937760"/>
            <a:ext cx="10698480" cy="777240"/>
          </a:xfrm>
          <a:prstGeom prst="roundRect">
            <a:avLst>
              <a:gd name="adj" fmla="val 9412"/>
            </a:avLst>
          </a:prstGeom>
          <a:solidFill>
            <a:srgbClr val="13403B"/>
          </a:solidFill>
          <a:ln w="12700">
            <a:solidFill>
              <a:srgbClr val="13403B"/>
            </a:solidFill>
            <a:prstDash val="solid"/>
          </a:ln>
        </p:spPr>
      </p:sp>
      <p:sp>
        <p:nvSpPr>
          <p:cNvPr id="20" name="Text 17"/>
          <p:cNvSpPr txBox="1"/>
          <p:nvPr/>
        </p:nvSpPr>
        <p:spPr>
          <a:xfrm>
            <a:off x="1024128" y="4937760"/>
            <a:ext cx="10113264"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The type follows from the question. Most of you have both kinds of question, so most of you will do both — and the same transcript can be coded twice.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ACTIVITY A · CODE IT TWICE</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One Page, Two Passes</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325880"/>
            <a:ext cx="6720840" cy="1965960"/>
          </a:xfrm>
          <a:prstGeom prst="roundRect">
            <a:avLst>
              <a:gd name="adj" fmla="val 3721"/>
            </a:avLst>
          </a:prstGeom>
          <a:solidFill>
            <a:srgbClr val="13403B"/>
          </a:solidFill>
          <a:ln w="12700">
            <a:solidFill>
              <a:srgbClr val="13403B"/>
            </a:solidFill>
            <a:prstDash val="solid"/>
          </a:ln>
        </p:spPr>
      </p:sp>
      <p:sp>
        <p:nvSpPr>
          <p:cNvPr id="8" name="Text 5"/>
          <p:cNvSpPr txBox="1"/>
          <p:nvPr/>
        </p:nvSpPr>
        <p:spPr>
          <a:xfrm>
            <a:off x="1005840" y="1481328"/>
            <a:ext cx="6217920" cy="237744"/>
          </a:xfrm>
          <a:prstGeom prst="rect">
            <a:avLst/>
          </a:prstGeom>
          <a:noFill/>
          <a:ln/>
        </p:spPr>
        <p:txBody>
          <a:bodyPr wrap="square" lIns="0" tIns="0" rIns="0" bIns="0" rtlCol="0" anchor="ctr"/>
          <a:lstStyle/>
          <a:p>
            <a:pPr indent="0" marL="0">
              <a:buNone/>
            </a:pPr>
            <a:r>
              <a:rPr lang="en-US" sz="1000" b="1" spc="150" kern="0" dirty="0">
                <a:solidFill>
                  <a:srgbClr val="D9A05B"/>
                </a:solidFill>
                <a:latin typeface="Arial" pitchFamily="34" charset="0"/>
                <a:ea typeface="Arial" pitchFamily="34" charset="-122"/>
                <a:cs typeface="Arial" pitchFamily="34" charset="-120"/>
              </a:rPr>
              <a:t>THE MATERIAL</a:t>
            </a:r>
            <a:endParaRPr lang="en-US" sz="1000" dirty="0"/>
          </a:p>
        </p:txBody>
      </p:sp>
      <p:sp>
        <p:nvSpPr>
          <p:cNvPr id="9" name="Text 6"/>
          <p:cNvSpPr txBox="1"/>
          <p:nvPr/>
        </p:nvSpPr>
        <p:spPr>
          <a:xfrm>
            <a:off x="1005840" y="1792224"/>
            <a:ext cx="6217920" cy="13258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page of a think-aloud and debrief transcript from the study planner for first-year students — the Week 6 clinic system. The in-context use question is printed at the top of the page. Wide margin, two colours of pen.</a:t>
            </a:r>
            <a:endParaRPr lang="en-US" sz="1400" dirty="0"/>
          </a:p>
        </p:txBody>
      </p:sp>
      <p:sp>
        <p:nvSpPr>
          <p:cNvPr id="10" name="Shape 7"/>
          <p:cNvSpPr/>
          <p:nvPr/>
        </p:nvSpPr>
        <p:spPr>
          <a:xfrm>
            <a:off x="7726680" y="1325880"/>
            <a:ext cx="3703320" cy="1965960"/>
          </a:xfrm>
          <a:prstGeom prst="roundRect">
            <a:avLst>
              <a:gd name="adj" fmla="val 3721"/>
            </a:avLst>
          </a:prstGeom>
          <a:solidFill>
            <a:srgbClr val="FFFFFF"/>
          </a:solidFill>
          <a:ln w="9525">
            <a:solidFill>
              <a:srgbClr val="DCE3DC"/>
            </a:solidFill>
            <a:prstDash val="solid"/>
          </a:ln>
        </p:spPr>
      </p:sp>
      <p:sp>
        <p:nvSpPr>
          <p:cNvPr id="11" name="Text 8"/>
          <p:cNvSpPr txBox="1"/>
          <p:nvPr/>
        </p:nvSpPr>
        <p:spPr>
          <a:xfrm>
            <a:off x="7982712" y="1508760"/>
            <a:ext cx="319125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In your group</a:t>
            </a:r>
            <a:endParaRPr lang="en-US" sz="1350" dirty="0"/>
          </a:p>
        </p:txBody>
      </p:sp>
      <p:sp>
        <p:nvSpPr>
          <p:cNvPr id="12" name="Text 9"/>
          <p:cNvSpPr txBox="1"/>
          <p:nvPr/>
        </p:nvSpPr>
        <p:spPr>
          <a:xfrm>
            <a:off x="7982712" y="1856232"/>
            <a:ext cx="3191256" cy="129844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Groups of three or four.</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Pass 1 on your own. Pass 2 together.</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Aim for eight to twelve codes on Pass 1 — commit to labels, not a range.</a:t>
            </a:r>
            <a:endParaRPr lang="en-US" sz="1250" dirty="0"/>
          </a:p>
        </p:txBody>
      </p:sp>
      <p:sp>
        <p:nvSpPr>
          <p:cNvPr id="13" name="Shape 10"/>
          <p:cNvSpPr/>
          <p:nvPr/>
        </p:nvSpPr>
        <p:spPr>
          <a:xfrm>
            <a:off x="731520" y="3474720"/>
            <a:ext cx="10698480" cy="640080"/>
          </a:xfrm>
          <a:prstGeom prst="roundRect">
            <a:avLst>
              <a:gd name="adj" fmla="val 8571"/>
            </a:avLst>
          </a:prstGeom>
          <a:solidFill>
            <a:srgbClr val="FFFFFF"/>
          </a:solidFill>
          <a:ln w="9525">
            <a:solidFill>
              <a:srgbClr val="DCE3DC"/>
            </a:solidFill>
            <a:prstDash val="solid"/>
          </a:ln>
        </p:spPr>
      </p:sp>
      <p:sp>
        <p:nvSpPr>
          <p:cNvPr id="14" name="Shape 11"/>
          <p:cNvSpPr/>
          <p:nvPr/>
        </p:nvSpPr>
        <p:spPr>
          <a:xfrm>
            <a:off x="969264" y="3611880"/>
            <a:ext cx="365760" cy="365760"/>
          </a:xfrm>
          <a:prstGeom prst="roundRect">
            <a:avLst>
              <a:gd name="adj" fmla="val 15000"/>
            </a:avLst>
          </a:prstGeom>
          <a:solidFill>
            <a:srgbClr val="8A5F22"/>
          </a:solidFill>
          <a:ln w="12700">
            <a:solidFill>
              <a:srgbClr val="8A5F22"/>
            </a:solidFill>
            <a:prstDash val="solid"/>
          </a:ln>
        </p:spPr>
      </p:sp>
      <p:sp>
        <p:nvSpPr>
          <p:cNvPr id="15" name="Text 12"/>
          <p:cNvSpPr txBox="1"/>
          <p:nvPr/>
        </p:nvSpPr>
        <p:spPr>
          <a:xfrm>
            <a:off x="969264" y="36118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txBox="1"/>
          <p:nvPr/>
        </p:nvSpPr>
        <p:spPr>
          <a:xfrm>
            <a:off x="1508760" y="3474720"/>
            <a:ext cx="9692640" cy="64008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Pass 1 · inductive (4 min).</a:t>
            </a:r>
            <a:pPr indent="0" marL="0">
              <a:buNone/>
            </a:pPr>
            <a:r>
              <a:rPr lang="en-US" sz="1300" dirty="0">
                <a:solidFill>
                  <a:srgbClr val="23302C"/>
                </a:solidFill>
                <a:latin typeface="Calibri" pitchFamily="34" charset="0"/>
                <a:ea typeface="Calibri" pitchFamily="34" charset="-122"/>
                <a:cs typeface="Calibri" pitchFamily="34" charset="-120"/>
              </a:rPr>
              <a:t>  Code for the in-context use question. Write codes in the margin: what happened, not what it was about.</a:t>
            </a:r>
            <a:endParaRPr lang="en-US" sz="1300" dirty="0"/>
          </a:p>
        </p:txBody>
      </p:sp>
      <p:sp>
        <p:nvSpPr>
          <p:cNvPr id="17" name="Shape 14"/>
          <p:cNvSpPr/>
          <p:nvPr/>
        </p:nvSpPr>
        <p:spPr>
          <a:xfrm>
            <a:off x="731520" y="4169664"/>
            <a:ext cx="10698480" cy="640080"/>
          </a:xfrm>
          <a:prstGeom prst="roundRect">
            <a:avLst>
              <a:gd name="adj" fmla="val 8571"/>
            </a:avLst>
          </a:prstGeom>
          <a:solidFill>
            <a:srgbClr val="EDF0EA"/>
          </a:solidFill>
          <a:ln w="9525">
            <a:solidFill>
              <a:srgbClr val="DCE3DC"/>
            </a:solidFill>
            <a:prstDash val="solid"/>
          </a:ln>
        </p:spPr>
      </p:sp>
      <p:sp>
        <p:nvSpPr>
          <p:cNvPr id="18" name="Shape 15"/>
          <p:cNvSpPr/>
          <p:nvPr/>
        </p:nvSpPr>
        <p:spPr>
          <a:xfrm>
            <a:off x="969264" y="4306824"/>
            <a:ext cx="365760" cy="365760"/>
          </a:xfrm>
          <a:prstGeom prst="roundRect">
            <a:avLst>
              <a:gd name="adj" fmla="val 15000"/>
            </a:avLst>
          </a:prstGeom>
          <a:solidFill>
            <a:srgbClr val="8A5F22"/>
          </a:solidFill>
          <a:ln w="12700">
            <a:solidFill>
              <a:srgbClr val="8A5F22"/>
            </a:solidFill>
            <a:prstDash val="solid"/>
          </a:ln>
        </p:spPr>
      </p:sp>
      <p:sp>
        <p:nvSpPr>
          <p:cNvPr id="19" name="Text 16"/>
          <p:cNvSpPr txBox="1"/>
          <p:nvPr/>
        </p:nvSpPr>
        <p:spPr>
          <a:xfrm>
            <a:off x="969264" y="430682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0" name="Text 17"/>
          <p:cNvSpPr txBox="1"/>
          <p:nvPr/>
        </p:nvSpPr>
        <p:spPr>
          <a:xfrm>
            <a:off x="1508760" y="4169664"/>
            <a:ext cx="9692640" cy="64008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Pass 2 · PACE+W (4 min).</a:t>
            </a:r>
            <a:pPr indent="0" marL="0">
              <a:buNone/>
            </a:pPr>
            <a:r>
              <a:rPr lang="en-US" sz="1300" dirty="0">
                <a:solidFill>
                  <a:srgbClr val="23302C"/>
                </a:solidFill>
                <a:latin typeface="Calibri" pitchFamily="34" charset="0"/>
                <a:ea typeface="Calibri" pitchFamily="34" charset="-122"/>
                <a:cs typeface="Calibri" pitchFamily="34" charset="-120"/>
              </a:rPr>
              <a:t>  Same page, other colour. Code each passage to one or more dimensions; anything that matters and fits none goes to “does not fit”.</a:t>
            </a:r>
            <a:endParaRPr lang="en-US" sz="1300" dirty="0"/>
          </a:p>
        </p:txBody>
      </p:sp>
      <p:sp>
        <p:nvSpPr>
          <p:cNvPr id="21" name="Shape 18"/>
          <p:cNvSpPr/>
          <p:nvPr/>
        </p:nvSpPr>
        <p:spPr>
          <a:xfrm>
            <a:off x="731520" y="4864608"/>
            <a:ext cx="10698480" cy="640080"/>
          </a:xfrm>
          <a:prstGeom prst="roundRect">
            <a:avLst>
              <a:gd name="adj" fmla="val 8571"/>
            </a:avLst>
          </a:prstGeom>
          <a:solidFill>
            <a:srgbClr val="FFFFFF"/>
          </a:solidFill>
          <a:ln w="9525">
            <a:solidFill>
              <a:srgbClr val="DCE3DC"/>
            </a:solidFill>
            <a:prstDash val="solid"/>
          </a:ln>
        </p:spPr>
      </p:sp>
      <p:sp>
        <p:nvSpPr>
          <p:cNvPr id="22" name="Shape 19"/>
          <p:cNvSpPr/>
          <p:nvPr/>
        </p:nvSpPr>
        <p:spPr>
          <a:xfrm>
            <a:off x="969264" y="5001768"/>
            <a:ext cx="365760" cy="365760"/>
          </a:xfrm>
          <a:prstGeom prst="roundRect">
            <a:avLst>
              <a:gd name="adj" fmla="val 15000"/>
            </a:avLst>
          </a:prstGeom>
          <a:solidFill>
            <a:srgbClr val="8A5F22"/>
          </a:solidFill>
          <a:ln w="12700">
            <a:solidFill>
              <a:srgbClr val="8A5F22"/>
            </a:solidFill>
            <a:prstDash val="solid"/>
          </a:ln>
        </p:spPr>
      </p:sp>
      <p:sp>
        <p:nvSpPr>
          <p:cNvPr id="23" name="Text 20"/>
          <p:cNvSpPr txBox="1"/>
          <p:nvPr/>
        </p:nvSpPr>
        <p:spPr>
          <a:xfrm>
            <a:off x="969264" y="50017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4" name="Text 21"/>
          <p:cNvSpPr txBox="1"/>
          <p:nvPr/>
        </p:nvSpPr>
        <p:spPr>
          <a:xfrm>
            <a:off x="1508760" y="4864608"/>
            <a:ext cx="9692640" cy="640080"/>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Compare (4 min).</a:t>
            </a:r>
            <a:pPr indent="0" marL="0">
              <a:buNone/>
            </a:pPr>
            <a:r>
              <a:rPr lang="en-US" sz="1300" dirty="0">
                <a:solidFill>
                  <a:srgbClr val="23302C"/>
                </a:solidFill>
                <a:latin typeface="Calibri" pitchFamily="34" charset="0"/>
                <a:ea typeface="Calibri" pitchFamily="34" charset="-122"/>
                <a:cs typeface="Calibri" pitchFamily="34" charset="-120"/>
              </a:rPr>
              <a:t>  What did Pass 1 find that PACE+W has no home for? What did PACE+W make you notice? Where did two of you code the same line differently — and who was right?</a:t>
            </a:r>
            <a:endParaRPr lang="en-US" sz="1300" dirty="0"/>
          </a:p>
        </p:txBody>
      </p:sp>
      <p:sp>
        <p:nvSpPr>
          <p:cNvPr id="25" name="Text 22"/>
          <p:cNvSpPr txBox="1"/>
          <p:nvPr/>
        </p:nvSpPr>
        <p:spPr>
          <a:xfrm>
            <a:off x="731520" y="5669280"/>
            <a:ext cx="10698480" cy="274320"/>
          </a:xfrm>
          <a:prstGeom prst="rect">
            <a:avLst/>
          </a:prstGeom>
          <a:noFill/>
          <a:ln/>
        </p:spPr>
        <p:txBody>
          <a:bodyPr wrap="square" lIns="0" tIns="0" rIns="0" bIns="0" rtlCol="0" anchor="ctr"/>
          <a:lstStyle/>
          <a:p>
            <a:pPr indent="0" marL="0">
              <a:buNone/>
            </a:pPr>
            <a:r>
              <a:rPr lang="en-US" sz="1100" b="1" spc="150" kern="0" dirty="0">
                <a:solidFill>
                  <a:srgbClr val="8A5F22"/>
                </a:solidFill>
                <a:latin typeface="Arial" pitchFamily="34" charset="0"/>
                <a:ea typeface="Arial" pitchFamily="34" charset="-122"/>
                <a:cs typeface="Arial" pitchFamily="34" charset="-120"/>
              </a:rPr>
              <a:t>12 MINUTES · INDIVIDUAL, THEN GROUPS OF THREE OR FOUR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ACTIVITY A · THE EXTRACT</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Study Planner — Think-Aloud and Debrief, P10</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371600"/>
            <a:ext cx="10698480" cy="457200"/>
          </a:xfrm>
          <a:prstGeom prst="roundRect">
            <a:avLst>
              <a:gd name="adj" fmla="val 12000"/>
            </a:avLst>
          </a:prstGeom>
          <a:solidFill>
            <a:srgbClr val="FFFFFF"/>
          </a:solidFill>
          <a:ln w="9525">
            <a:solidFill>
              <a:srgbClr val="DCE3DC"/>
            </a:solidFill>
            <a:prstDash val="solid"/>
          </a:ln>
        </p:spPr>
      </p:sp>
      <p:sp>
        <p:nvSpPr>
          <p:cNvPr id="8" name="Text 5"/>
          <p:cNvSpPr txBox="1"/>
          <p:nvPr/>
        </p:nvSpPr>
        <p:spPr>
          <a:xfrm>
            <a:off x="1005840" y="1371600"/>
            <a:ext cx="10149840" cy="45720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In-context use question (2.1):  </a:t>
            </a:r>
            <a:pPr indent="0" marL="0">
              <a:buNone/>
            </a:pPr>
            <a:r>
              <a:rPr lang="en-US" sz="1250" dirty="0">
                <a:solidFill>
                  <a:srgbClr val="23302C"/>
                </a:solidFill>
                <a:latin typeface="Calibri" pitchFamily="34" charset="0"/>
                <a:ea typeface="Calibri" pitchFamily="34" charset="-122"/>
                <a:cs typeface="Calibri" pitchFamily="34" charset="-120"/>
              </a:rPr>
              <a:t>How does the planner fit into the way first-year students already organise their week?</a:t>
            </a:r>
            <a:endParaRPr lang="en-US" sz="1250" dirty="0"/>
          </a:p>
        </p:txBody>
      </p:sp>
      <p:sp>
        <p:nvSpPr>
          <p:cNvPr id="9" name="Shape 6"/>
          <p:cNvSpPr/>
          <p:nvPr/>
        </p:nvSpPr>
        <p:spPr>
          <a:xfrm>
            <a:off x="731520" y="1965960"/>
            <a:ext cx="5257800" cy="4251960"/>
          </a:xfrm>
          <a:prstGeom prst="roundRect">
            <a:avLst>
              <a:gd name="adj" fmla="val 1720"/>
            </a:avLst>
          </a:prstGeom>
          <a:solidFill>
            <a:srgbClr val="FFFFFF"/>
          </a:solidFill>
          <a:ln w="9525">
            <a:solidFill>
              <a:srgbClr val="DCE3DC"/>
            </a:solidFill>
            <a:prstDash val="solid"/>
          </a:ln>
        </p:spPr>
      </p:sp>
      <p:sp>
        <p:nvSpPr>
          <p:cNvPr id="10" name="Text 7"/>
          <p:cNvSpPr txBox="1"/>
          <p:nvPr/>
        </p:nvSpPr>
        <p:spPr>
          <a:xfrm>
            <a:off x="914400" y="2057400"/>
            <a:ext cx="4892040" cy="4069080"/>
          </a:xfrm>
          <a:prstGeom prst="rect">
            <a:avLst/>
          </a:prstGeom>
          <a:noFill/>
          <a:ln/>
        </p:spPr>
        <p:txBody>
          <a:bodyPr wrap="square" lIns="0" tIns="0" rIns="0" bIns="0" rtlCol="0" anchor="t"/>
          <a:lstStyle/>
          <a:p>
            <a:pPr indent="0" marL="0">
              <a:buNone/>
            </a:pPr>
            <a:r>
              <a:rPr lang="en-US" sz="900" b="1" dirty="0">
                <a:solidFill>
                  <a:srgbClr val="8A5F22"/>
                </a:solidFill>
                <a:latin typeface="Arial" pitchFamily="34" charset="0"/>
                <a:ea typeface="Arial" pitchFamily="34" charset="-122"/>
                <a:cs typeface="Arial" pitchFamily="34" charset="-120"/>
              </a:rPr>
              <a:t>1  </a:t>
            </a:r>
            <a:pPr indent="0" marL="0">
              <a:buNone/>
            </a:pPr>
            <a:r>
              <a:rPr lang="en-US" sz="1000" b="1" dirty="0">
                <a:solidFill>
                  <a:srgbClr val="6B7A72"/>
                </a:solidFill>
                <a:latin typeface="Arial" pitchFamily="34" charset="0"/>
                <a:ea typeface="Arial" pitchFamily="34" charset="-122"/>
                <a:cs typeface="Arial" pitchFamily="34" charset="-120"/>
              </a:rPr>
              <a:t>F: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So the assignment's due next Friday. Add it and see what the planner does with it.</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2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Okay. Add… task, I guess. [taps] Right, so it wants a name and a — where do I put when it's due? There's a date thing somewhere. [pause] Oh. It's that little grey bit under the name. I thought that was just a subtitle.</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3  </a:t>
            </a:r>
            <a:pPr indent="0" marL="0">
              <a:buNone/>
            </a:pPr>
            <a:r>
              <a:rPr lang="en-US" sz="1000" b="1" dirty="0">
                <a:solidFill>
                  <a:srgbClr val="6B7A72"/>
                </a:solidFill>
                <a:latin typeface="Arial" pitchFamily="34" charset="0"/>
                <a:ea typeface="Arial" pitchFamily="34" charset="-122"/>
                <a:cs typeface="Arial" pitchFamily="34" charset="-120"/>
              </a:rPr>
              <a:t>F: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Mm-hm.</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4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[types] Friday the — hang on, it's given me a calendar. Fine. Friday. [taps] Did that go? I pressed it and nothing… no, it's there now. It just didn't do anything for a second, so I pressed it twice. Hope it hasn't made two.</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5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Okay so now it's — oh, it's put blocks in. Tuesday, Wednesday, Thursday evening. I didn't ask it to do that. I mean that's the point, I know, but it's decided I'm working Thursday night and I've got footy Thursday night. Can I move it? [drags] Yeah, okay. That's fine actually. It just felt a bit like being told.</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6  </a:t>
            </a:r>
            <a:pPr indent="0" marL="0">
              <a:buNone/>
            </a:pPr>
            <a:r>
              <a:rPr lang="en-US" sz="1000" b="1" dirty="0">
                <a:solidFill>
                  <a:srgbClr val="6B7A72"/>
                </a:solidFill>
                <a:latin typeface="Arial" pitchFamily="34" charset="0"/>
                <a:ea typeface="Arial" pitchFamily="34" charset="-122"/>
                <a:cs typeface="Arial" pitchFamily="34" charset="-120"/>
              </a:rPr>
              <a:t>F: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What would you normally do with a deadline like this?</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7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Honestly? Screenshot the ECP and put it in the group chat, and then someone messages the night before going "is this due tomorrow??" That's the system. [laughs] It's not a good system.</a:t>
            </a:r>
            <a:endParaRPr lang="en-US" sz="900" dirty="0"/>
          </a:p>
        </p:txBody>
      </p:sp>
      <p:sp>
        <p:nvSpPr>
          <p:cNvPr id="11" name="Shape 8"/>
          <p:cNvSpPr/>
          <p:nvPr/>
        </p:nvSpPr>
        <p:spPr>
          <a:xfrm>
            <a:off x="6172200" y="1965960"/>
            <a:ext cx="5257800" cy="4251960"/>
          </a:xfrm>
          <a:prstGeom prst="roundRect">
            <a:avLst>
              <a:gd name="adj" fmla="val 1720"/>
            </a:avLst>
          </a:prstGeom>
          <a:solidFill>
            <a:srgbClr val="FFFFFF"/>
          </a:solidFill>
          <a:ln w="9525">
            <a:solidFill>
              <a:srgbClr val="DCE3DC"/>
            </a:solidFill>
            <a:prstDash val="solid"/>
          </a:ln>
        </p:spPr>
      </p:sp>
      <p:sp>
        <p:nvSpPr>
          <p:cNvPr id="12" name="Text 9"/>
          <p:cNvSpPr txBox="1"/>
          <p:nvPr/>
        </p:nvSpPr>
        <p:spPr>
          <a:xfrm>
            <a:off x="6355080" y="2057400"/>
            <a:ext cx="4892040" cy="4069080"/>
          </a:xfrm>
          <a:prstGeom prst="rect">
            <a:avLst/>
          </a:prstGeom>
          <a:noFill/>
          <a:ln/>
        </p:spPr>
        <p:txBody>
          <a:bodyPr wrap="square" lIns="0" tIns="0" rIns="0" bIns="0" rtlCol="0" anchor="t"/>
          <a:lstStyle/>
          <a:p>
            <a:pPr indent="0" marL="0">
              <a:buNone/>
            </a:pPr>
            <a:r>
              <a:rPr lang="en-US" sz="900" b="1" dirty="0">
                <a:solidFill>
                  <a:srgbClr val="8A5F22"/>
                </a:solidFill>
                <a:latin typeface="Arial" pitchFamily="34" charset="0"/>
                <a:ea typeface="Arial" pitchFamily="34" charset="-122"/>
                <a:cs typeface="Arial" pitchFamily="34" charset="-120"/>
              </a:rPr>
              <a:t>8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[scrolls] So it's showing me the whole week now with the blocks in it. That's — yeah. That's actually kind of nice. I can see it. Normally I just know I'm behind, I don't know where I'm behind. [pause] I'd want the footy in here too though, otherwise it's a picture of a week that isn't my week.</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9  </a:t>
            </a:r>
            <a:pPr indent="0" marL="0">
              <a:buNone/>
            </a:pPr>
            <a:r>
              <a:rPr lang="en-US" sz="1000" b="1" dirty="0">
                <a:solidFill>
                  <a:srgbClr val="6B7A72"/>
                </a:solidFill>
                <a:latin typeface="Arial" pitchFamily="34" charset="0"/>
                <a:ea typeface="Arial" pitchFamily="34" charset="-122"/>
                <a:cs typeface="Arial" pitchFamily="34" charset="-120"/>
              </a:rPr>
              <a:t>F: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Is there a save button you need to press?</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10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Is there? I assumed it just… saves. There's no button. I'll go with it saves. If it doesn't, I'll find out Friday I suppose.</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11  </a:t>
            </a:r>
            <a:pPr indent="0" marL="0">
              <a:buNone/>
            </a:pPr>
            <a:r>
              <a:rPr lang="en-US" sz="1000" b="1" dirty="0">
                <a:solidFill>
                  <a:srgbClr val="6B7A72"/>
                </a:solidFill>
                <a:latin typeface="Arial" pitchFamily="34" charset="0"/>
                <a:ea typeface="Arial" pitchFamily="34" charset="-122"/>
                <a:cs typeface="Arial" pitchFamily="34" charset="-120"/>
              </a:rPr>
              <a:t>F: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[after task] How did that feel?</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12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Bit stupid at the start, with the date thing — I was looking straight at it. Once it was in, good. Like I'd actually done something about it rather than just knowing about it. The blocks moving it around, I'm not sure. I'd want to be the one saying when, but I probably wouldn't bother if I had to do it all myself. So. [shrugs]</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13  </a:t>
            </a:r>
            <a:pPr indent="0" marL="0">
              <a:buNone/>
            </a:pPr>
            <a:r>
              <a:rPr lang="en-US" sz="1000" b="1" dirty="0">
                <a:solidFill>
                  <a:srgbClr val="6B7A72"/>
                </a:solidFill>
                <a:latin typeface="Arial" pitchFamily="34" charset="0"/>
                <a:ea typeface="Arial" pitchFamily="34" charset="-122"/>
                <a:cs typeface="Arial" pitchFamily="34" charset="-120"/>
              </a:rPr>
              <a:t>F: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Would you use it?</a:t>
            </a:r>
            <a:endParaRPr lang="en-US" sz="900" dirty="0"/>
          </a:p>
          <a:p>
            <a:pPr indent="0" marL="0">
              <a:buNone/>
            </a:pPr>
            <a:r>
              <a:rPr lang="en-US" sz="900" b="1" dirty="0">
                <a:solidFill>
                  <a:srgbClr val="8A5F22"/>
                </a:solidFill>
                <a:latin typeface="Arial" pitchFamily="34" charset="0"/>
                <a:ea typeface="Arial" pitchFamily="34" charset="-122"/>
                <a:cs typeface="Arial" pitchFamily="34" charset="-120"/>
              </a:rPr>
              <a:t>14  </a:t>
            </a:r>
            <a:pPr indent="0" marL="0">
              <a:buNone/>
            </a:pPr>
            <a:r>
              <a:rPr lang="en-US" sz="1000" b="1" dirty="0">
                <a:solidFill>
                  <a:srgbClr val="13403B"/>
                </a:solidFill>
                <a:latin typeface="Arial" pitchFamily="34" charset="0"/>
                <a:ea typeface="Arial" pitchFamily="34" charset="-122"/>
                <a:cs typeface="Arial" pitchFamily="34" charset="-120"/>
              </a:rPr>
              <a:t>P10:  </a:t>
            </a:r>
            <a:pPr indent="0" marL="0">
              <a:spcAft>
                <a:spcPts val="400"/>
              </a:spcAft>
              <a:buNone/>
            </a:pPr>
            <a:r>
              <a:rPr lang="en-US" sz="1050" dirty="0">
                <a:solidFill>
                  <a:srgbClr val="23302C"/>
                </a:solidFill>
                <a:latin typeface="Calibri" pitchFamily="34" charset="0"/>
                <a:ea typeface="Calibri" pitchFamily="34" charset="-122"/>
                <a:cs typeface="Calibri" pitchFamily="34" charset="-120"/>
              </a:rPr>
              <a:t>If my housemate did, yeah, because then she'd stop asking me. If it's just me — it's another app with a login. And I don't know why the uni doesn't just do this in the app it already makes me have.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ACTIVITY A · WHAT WE SAW</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Neither Pass Is Complete. That Is the Point.</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3429000" cy="2377440"/>
          </a:xfrm>
          <a:prstGeom prst="roundRect">
            <a:avLst>
              <a:gd name="adj" fmla="val 3077"/>
            </a:avLst>
          </a:prstGeom>
          <a:solidFill>
            <a:srgbClr val="FFFFFF"/>
          </a:solidFill>
          <a:ln w="9525">
            <a:solidFill>
              <a:srgbClr val="DCE3DC"/>
            </a:solidFill>
            <a:prstDash val="solid"/>
          </a:ln>
        </p:spPr>
      </p:sp>
      <p:sp>
        <p:nvSpPr>
          <p:cNvPr id="8" name="Text 5"/>
          <p:cNvSpPr txBox="1"/>
          <p:nvPr/>
        </p:nvSpPr>
        <p:spPr>
          <a:xfrm>
            <a:off x="987552" y="1645920"/>
            <a:ext cx="29169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PASS 1</a:t>
            </a:r>
            <a:endParaRPr lang="en-US" sz="1000" dirty="0"/>
          </a:p>
        </p:txBody>
      </p:sp>
      <p:sp>
        <p:nvSpPr>
          <p:cNvPr id="9" name="Text 6"/>
          <p:cNvSpPr txBox="1"/>
          <p:nvPr/>
        </p:nvSpPr>
        <p:spPr>
          <a:xfrm>
            <a:off x="987552" y="192024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What the inductive pass found</a:t>
            </a:r>
            <a:endParaRPr lang="en-US" sz="1350" dirty="0"/>
          </a:p>
        </p:txBody>
      </p:sp>
      <p:sp>
        <p:nvSpPr>
          <p:cNvPr id="10" name="Text 7"/>
          <p:cNvSpPr txBox="1"/>
          <p:nvPr/>
        </p:nvSpPr>
        <p:spPr>
          <a:xfrm>
            <a:off x="987552" y="2267712"/>
            <a:ext cx="2916936" cy="14356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Fit, routine, and reasons — the participant’s week, what they already use, why they would or would not come back.</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The things PACE+W has no home for. That is what “does not fit” is for.</a:t>
            </a:r>
            <a:endParaRPr lang="en-US" sz="1250" dirty="0"/>
          </a:p>
        </p:txBody>
      </p:sp>
      <p:sp>
        <p:nvSpPr>
          <p:cNvPr id="11" name="Shape 8"/>
          <p:cNvSpPr/>
          <p:nvPr/>
        </p:nvSpPr>
        <p:spPr>
          <a:xfrm>
            <a:off x="4389120" y="1463040"/>
            <a:ext cx="3429000" cy="2377440"/>
          </a:xfrm>
          <a:prstGeom prst="roundRect">
            <a:avLst>
              <a:gd name="adj" fmla="val 3077"/>
            </a:avLst>
          </a:prstGeom>
          <a:solidFill>
            <a:srgbClr val="FFFFFF"/>
          </a:solidFill>
          <a:ln w="9525">
            <a:solidFill>
              <a:srgbClr val="DCE3DC"/>
            </a:solidFill>
            <a:prstDash val="solid"/>
          </a:ln>
        </p:spPr>
      </p:sp>
      <p:sp>
        <p:nvSpPr>
          <p:cNvPr id="12" name="Text 9"/>
          <p:cNvSpPr txBox="1"/>
          <p:nvPr/>
        </p:nvSpPr>
        <p:spPr>
          <a:xfrm>
            <a:off x="4645152" y="1645920"/>
            <a:ext cx="29169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PASS 2</a:t>
            </a:r>
            <a:endParaRPr lang="en-US" sz="1000" dirty="0"/>
          </a:p>
        </p:txBody>
      </p:sp>
      <p:sp>
        <p:nvSpPr>
          <p:cNvPr id="13" name="Text 10"/>
          <p:cNvSpPr txBox="1"/>
          <p:nvPr/>
        </p:nvSpPr>
        <p:spPr>
          <a:xfrm>
            <a:off x="4645152" y="192024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What PACE+W made you notice</a:t>
            </a:r>
            <a:endParaRPr lang="en-US" sz="1350" dirty="0"/>
          </a:p>
        </p:txBody>
      </p:sp>
      <p:sp>
        <p:nvSpPr>
          <p:cNvPr id="14" name="Text 11"/>
          <p:cNvSpPr txBox="1"/>
          <p:nvPr/>
        </p:nvSpPr>
        <p:spPr>
          <a:xfrm>
            <a:off x="4645152" y="2267712"/>
            <a:ext cx="2916936" cy="14356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Moment-to-moment experience you read past: the sigh, the re-read, the apology.</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That most moments carry two dimensions. The interplay is the finding.</a:t>
            </a:r>
            <a:endParaRPr lang="en-US" sz="1250" dirty="0"/>
          </a:p>
        </p:txBody>
      </p:sp>
      <p:sp>
        <p:nvSpPr>
          <p:cNvPr id="15" name="Shape 12"/>
          <p:cNvSpPr/>
          <p:nvPr/>
        </p:nvSpPr>
        <p:spPr>
          <a:xfrm>
            <a:off x="8046720" y="1463040"/>
            <a:ext cx="3383280" cy="2377440"/>
          </a:xfrm>
          <a:prstGeom prst="roundRect">
            <a:avLst>
              <a:gd name="adj" fmla="val 3077"/>
            </a:avLst>
          </a:prstGeom>
          <a:solidFill>
            <a:srgbClr val="EDF0EA"/>
          </a:solidFill>
          <a:ln w="9525">
            <a:solidFill>
              <a:srgbClr val="EDF0EA"/>
            </a:solidFill>
            <a:prstDash val="solid"/>
          </a:ln>
        </p:spPr>
      </p:sp>
      <p:sp>
        <p:nvSpPr>
          <p:cNvPr id="16" name="Text 13"/>
          <p:cNvSpPr txBox="1"/>
          <p:nvPr/>
        </p:nvSpPr>
        <p:spPr>
          <a:xfrm>
            <a:off x="8302752" y="1645920"/>
            <a:ext cx="287121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INSIDE THE GROUP</a:t>
            </a:r>
            <a:endParaRPr lang="en-US" sz="1000" dirty="0"/>
          </a:p>
        </p:txBody>
      </p:sp>
      <p:sp>
        <p:nvSpPr>
          <p:cNvPr id="17" name="Text 14"/>
          <p:cNvSpPr txBox="1"/>
          <p:nvPr/>
        </p:nvSpPr>
        <p:spPr>
          <a:xfrm>
            <a:off x="8302752" y="1920240"/>
            <a:ext cx="287121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Where you disagreed</a:t>
            </a:r>
            <a:endParaRPr lang="en-US" sz="1350" dirty="0"/>
          </a:p>
        </p:txBody>
      </p:sp>
      <p:sp>
        <p:nvSpPr>
          <p:cNvPr id="18" name="Text 15"/>
          <p:cNvSpPr txBox="1"/>
          <p:nvPr/>
        </p:nvSpPr>
        <p:spPr>
          <a:xfrm>
            <a:off x="8302752" y="2267712"/>
            <a:ext cx="2871216" cy="14356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Same line, different codes. Neither of you was wrong; the codebook was underspecified.</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That conversation, and the tightened definition it produces, is the second-coder step.</a:t>
            </a:r>
            <a:endParaRPr lang="en-US" sz="1250" dirty="0"/>
          </a:p>
        </p:txBody>
      </p:sp>
      <p:sp>
        <p:nvSpPr>
          <p:cNvPr id="19" name="Shape 16"/>
          <p:cNvSpPr/>
          <p:nvPr/>
        </p:nvSpPr>
        <p:spPr>
          <a:xfrm>
            <a:off x="731520" y="4114800"/>
            <a:ext cx="10698480" cy="868680"/>
          </a:xfrm>
          <a:prstGeom prst="roundRect">
            <a:avLst>
              <a:gd name="adj" fmla="val 8421"/>
            </a:avLst>
          </a:prstGeom>
          <a:solidFill>
            <a:srgbClr val="13403B"/>
          </a:solidFill>
          <a:ln w="12700">
            <a:solidFill>
              <a:srgbClr val="13403B"/>
            </a:solidFill>
            <a:prstDash val="solid"/>
          </a:ln>
        </p:spPr>
      </p:sp>
      <p:sp>
        <p:nvSpPr>
          <p:cNvPr id="20" name="Text 17"/>
          <p:cNvSpPr txBox="1"/>
          <p:nvPr/>
        </p:nvSpPr>
        <p:spPr>
          <a:xfrm>
            <a:off x="1024128" y="4114800"/>
            <a:ext cx="10113264"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framework is a lens, not a cage. An inductive pass is a torch, not a map. You will use both, on the same data, for different questions — and a code with no definition will be coded differently by every member of your team.</a:t>
            </a:r>
            <a:endParaRPr lang="en-US" sz="1400" dirty="0"/>
          </a:p>
        </p:txBody>
      </p:sp>
      <p:sp>
        <p:nvSpPr>
          <p:cNvPr id="21" name="Text 18"/>
          <p:cNvSpPr txBox="1"/>
          <p:nvPr/>
        </p:nvSpPr>
        <p:spPr>
          <a:xfrm>
            <a:off x="731520" y="516636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On Friday: set the codebook up in NVivo from the resource page, code one transcript, and have a second person code a few pages before you go further.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403B"/>
        </a:solidFill>
      </p:bgPr>
    </p:bg>
    <p:spTree>
      <p:nvGrpSpPr>
        <p:cNvPr id="1" name=""/>
        <p:cNvGrpSpPr/>
        <p:nvPr/>
      </p:nvGrpSpPr>
      <p:grpSpPr>
        <a:xfrm>
          <a:off x="0" y="0"/>
          <a:ext cx="0" cy="0"/>
          <a:chOff x="0" y="0"/>
          <a:chExt cx="0" cy="0"/>
        </a:xfrm>
      </p:grpSpPr>
      <p:sp>
        <p:nvSpPr>
          <p:cNvPr id="2" name="Shape 0"/>
          <p:cNvSpPr/>
          <p:nvPr/>
        </p:nvSpPr>
        <p:spPr>
          <a:xfrm>
            <a:off x="9875520" y="-1143000"/>
            <a:ext cx="3383280" cy="3383280"/>
          </a:xfrm>
          <a:prstGeom prst="ellipse">
            <a:avLst/>
          </a:prstGeom>
          <a:solidFill>
            <a:srgbClr val="2C5E52"/>
          </a:solidFill>
          <a:ln w="12700">
            <a:solidFill>
              <a:srgbClr val="2C5E52"/>
            </a:solidFill>
            <a:prstDash val="solid"/>
          </a:ln>
        </p:spPr>
      </p:sp>
      <p:sp>
        <p:nvSpPr>
          <p:cNvPr id="3" name="Text 1"/>
          <p:cNvSpPr txBox="1"/>
          <p:nvPr/>
        </p:nvSpPr>
        <p:spPr>
          <a:xfrm>
            <a:off x="731520" y="2514600"/>
            <a:ext cx="3657600" cy="274320"/>
          </a:xfrm>
          <a:prstGeom prst="rect">
            <a:avLst/>
          </a:prstGeom>
          <a:noFill/>
          <a:ln/>
        </p:spPr>
        <p:txBody>
          <a:bodyPr wrap="square" lIns="0" tIns="0" rIns="0" bIns="0" rtlCol="0" anchor="ctr"/>
          <a:lstStyle/>
          <a:p>
            <a:pPr indent="0" marL="0">
              <a:buNone/>
            </a:pPr>
            <a:r>
              <a:rPr lang="en-US" sz="1150" b="1" spc="200" kern="0" dirty="0">
                <a:solidFill>
                  <a:srgbClr val="D9A05B"/>
                </a:solidFill>
                <a:latin typeface="Arial" pitchFamily="34" charset="0"/>
                <a:ea typeface="Arial" pitchFamily="34" charset="-122"/>
                <a:cs typeface="Arial" pitchFamily="34" charset="-120"/>
              </a:rPr>
              <a:t>PART 2</a:t>
            </a:r>
            <a:endParaRPr lang="en-US" sz="1150" dirty="0"/>
          </a:p>
        </p:txBody>
      </p:sp>
      <p:sp>
        <p:nvSpPr>
          <p:cNvPr id="4" name="Text 2"/>
          <p:cNvSpPr txBox="1"/>
          <p:nvPr/>
        </p:nvSpPr>
        <p:spPr>
          <a:xfrm>
            <a:off x="731520" y="2907792"/>
            <a:ext cx="10058400" cy="77724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Numbers, Association and Difference</a:t>
            </a:r>
            <a:endParaRPr lang="en-US" sz="3600" dirty="0"/>
          </a:p>
        </p:txBody>
      </p:sp>
      <p:sp>
        <p:nvSpPr>
          <p:cNvPr id="5" name="Text 3"/>
          <p:cNvSpPr txBox="1"/>
          <p:nvPr/>
        </p:nvSpPr>
        <p:spPr>
          <a:xfrm>
            <a:off x="731520" y="3794760"/>
            <a:ext cx="8961120" cy="640080"/>
          </a:xfrm>
          <a:prstGeom prst="rect">
            <a:avLst/>
          </a:prstGeom>
          <a:noFill/>
          <a:ln/>
        </p:spPr>
        <p:txBody>
          <a:bodyPr wrap="square" lIns="0" tIns="0" rIns="0" bIns="0" rtlCol="0" anchor="t"/>
          <a:lstStyle/>
          <a:p>
            <a:pPr indent="0" marL="0">
              <a:buNone/>
            </a:pPr>
            <a:r>
              <a:rPr lang="en-US" sz="1450" dirty="0">
                <a:solidFill>
                  <a:srgbClr val="C3D2CB"/>
                </a:solidFill>
                <a:latin typeface="Calibri" pitchFamily="34" charset="0"/>
                <a:ea typeface="Calibri" pitchFamily="34" charset="-122"/>
                <a:cs typeface="Calibri" pitchFamily="34" charset="-120"/>
              </a:rPr>
              <a:t>What sixteen to twenty people can tell you, what six of them can add, and what neither can prove.</a:t>
            </a:r>
            <a:endParaRPr lang="en-US" sz="1450" dirty="0"/>
          </a:p>
        </p:txBody>
      </p:sp>
      <p:sp>
        <p:nvSpPr>
          <p:cNvPr id="6" name="Text 4"/>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7E938B"/>
                </a:solidFill>
                <a:latin typeface="Calibri" pitchFamily="34" charset="0"/>
                <a:ea typeface="Calibri" pitchFamily="34" charset="-122"/>
                <a:cs typeface="Calibri" pitchFamily="34" charset="-120"/>
              </a:rPr>
              <a:t>Week 7 — What the Evidence Can Tell You</a:t>
            </a:r>
            <a:endParaRPr lang="en-US" sz="900" dirty="0"/>
          </a:p>
        </p:txBody>
      </p:sp>
      <p:sp>
        <p:nvSpPr>
          <p:cNvPr id="7" name="Text 5"/>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7E938B"/>
                </a:solidFill>
                <a:latin typeface="Calibri" pitchFamily="34" charset="0"/>
                <a:ea typeface="Calibri" pitchFamily="34" charset="-122"/>
                <a:cs typeface="Calibri" pitchFamily="34" charset="-120"/>
              </a:rPr>
              <a:t>DECO6500 | Week 7 Lecture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THE SHAPE OF YOUR DATA</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Eighteen Produced Numbers. Six Also Talked.</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371600"/>
            <a:ext cx="5486400" cy="2514600"/>
          </a:xfrm>
          <a:prstGeom prst="roundRect">
            <a:avLst>
              <a:gd name="adj" fmla="val 2909"/>
            </a:avLst>
          </a:prstGeom>
          <a:solidFill>
            <a:srgbClr val="FFFFFF"/>
          </a:solidFill>
          <a:ln w="9525">
            <a:solidFill>
              <a:srgbClr val="DCE3DC"/>
            </a:solidFill>
            <a:prstDash val="solid"/>
          </a:ln>
        </p:spPr>
      </p:sp>
      <p:sp>
        <p:nvSpPr>
          <p:cNvPr id="8" name="Text 5"/>
          <p:cNvSpPr txBox="1"/>
          <p:nvPr/>
        </p:nvSpPr>
        <p:spPr>
          <a:xfrm>
            <a:off x="987552" y="1536192"/>
            <a:ext cx="4937760"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ONE TEAM’S SAMPLE</a:t>
            </a:r>
            <a:endParaRPr lang="en-US" sz="1000" dirty="0"/>
          </a:p>
        </p:txBody>
      </p:sp>
      <p:sp>
        <p:nvSpPr>
          <p:cNvPr id="9" name="Shape 6"/>
          <p:cNvSpPr/>
          <p:nvPr/>
        </p:nvSpPr>
        <p:spPr>
          <a:xfrm>
            <a:off x="1024128" y="1965960"/>
            <a:ext cx="365760" cy="365760"/>
          </a:xfrm>
          <a:prstGeom prst="ellipse">
            <a:avLst/>
          </a:prstGeom>
          <a:solidFill>
            <a:srgbClr val="FFFFFF"/>
          </a:solidFill>
          <a:ln w="12700">
            <a:solidFill>
              <a:srgbClr val="9AAAA2"/>
            </a:solidFill>
            <a:prstDash val="solid"/>
          </a:ln>
        </p:spPr>
      </p:sp>
      <p:sp>
        <p:nvSpPr>
          <p:cNvPr id="10" name="Shape 7"/>
          <p:cNvSpPr/>
          <p:nvPr/>
        </p:nvSpPr>
        <p:spPr>
          <a:xfrm>
            <a:off x="1572768" y="1965960"/>
            <a:ext cx="365760" cy="365760"/>
          </a:xfrm>
          <a:prstGeom prst="ellipse">
            <a:avLst/>
          </a:prstGeom>
          <a:solidFill>
            <a:srgbClr val="FFFFFF"/>
          </a:solidFill>
          <a:ln w="12700">
            <a:solidFill>
              <a:srgbClr val="9AAAA2"/>
            </a:solidFill>
            <a:prstDash val="solid"/>
          </a:ln>
        </p:spPr>
      </p:sp>
      <p:sp>
        <p:nvSpPr>
          <p:cNvPr id="11" name="Shape 8"/>
          <p:cNvSpPr/>
          <p:nvPr/>
        </p:nvSpPr>
        <p:spPr>
          <a:xfrm>
            <a:off x="2121408" y="1965960"/>
            <a:ext cx="365760" cy="365760"/>
          </a:xfrm>
          <a:prstGeom prst="ellipse">
            <a:avLst/>
          </a:prstGeom>
          <a:solidFill>
            <a:srgbClr val="13403B"/>
          </a:solidFill>
          <a:ln w="12700">
            <a:solidFill>
              <a:srgbClr val="13403B"/>
            </a:solidFill>
            <a:prstDash val="solid"/>
          </a:ln>
        </p:spPr>
      </p:sp>
      <p:sp>
        <p:nvSpPr>
          <p:cNvPr id="12" name="Shape 9"/>
          <p:cNvSpPr/>
          <p:nvPr/>
        </p:nvSpPr>
        <p:spPr>
          <a:xfrm>
            <a:off x="2670048" y="1965960"/>
            <a:ext cx="365760" cy="365760"/>
          </a:xfrm>
          <a:prstGeom prst="ellipse">
            <a:avLst/>
          </a:prstGeom>
          <a:solidFill>
            <a:srgbClr val="FFFFFF"/>
          </a:solidFill>
          <a:ln w="12700">
            <a:solidFill>
              <a:srgbClr val="9AAAA2"/>
            </a:solidFill>
            <a:prstDash val="solid"/>
          </a:ln>
        </p:spPr>
      </p:sp>
      <p:sp>
        <p:nvSpPr>
          <p:cNvPr id="13" name="Shape 10"/>
          <p:cNvSpPr/>
          <p:nvPr/>
        </p:nvSpPr>
        <p:spPr>
          <a:xfrm>
            <a:off x="3218688" y="1965960"/>
            <a:ext cx="365760" cy="365760"/>
          </a:xfrm>
          <a:prstGeom prst="ellipse">
            <a:avLst/>
          </a:prstGeom>
          <a:solidFill>
            <a:srgbClr val="13403B"/>
          </a:solidFill>
          <a:ln w="12700">
            <a:solidFill>
              <a:srgbClr val="13403B"/>
            </a:solidFill>
            <a:prstDash val="solid"/>
          </a:ln>
        </p:spPr>
      </p:sp>
      <p:sp>
        <p:nvSpPr>
          <p:cNvPr id="14" name="Shape 11"/>
          <p:cNvSpPr/>
          <p:nvPr/>
        </p:nvSpPr>
        <p:spPr>
          <a:xfrm>
            <a:off x="3767328" y="1965960"/>
            <a:ext cx="365760" cy="365760"/>
          </a:xfrm>
          <a:prstGeom prst="ellipse">
            <a:avLst/>
          </a:prstGeom>
          <a:solidFill>
            <a:srgbClr val="FFFFFF"/>
          </a:solidFill>
          <a:ln w="12700">
            <a:solidFill>
              <a:srgbClr val="9AAAA2"/>
            </a:solidFill>
            <a:prstDash val="solid"/>
          </a:ln>
        </p:spPr>
      </p:sp>
      <p:sp>
        <p:nvSpPr>
          <p:cNvPr id="15" name="Shape 12"/>
          <p:cNvSpPr/>
          <p:nvPr/>
        </p:nvSpPr>
        <p:spPr>
          <a:xfrm>
            <a:off x="4315968" y="1965960"/>
            <a:ext cx="365760" cy="365760"/>
          </a:xfrm>
          <a:prstGeom prst="ellipse">
            <a:avLst/>
          </a:prstGeom>
          <a:solidFill>
            <a:srgbClr val="FFFFFF"/>
          </a:solidFill>
          <a:ln w="12700">
            <a:solidFill>
              <a:srgbClr val="9AAAA2"/>
            </a:solidFill>
            <a:prstDash val="solid"/>
          </a:ln>
        </p:spPr>
      </p:sp>
      <p:sp>
        <p:nvSpPr>
          <p:cNvPr id="16" name="Shape 13"/>
          <p:cNvSpPr/>
          <p:nvPr/>
        </p:nvSpPr>
        <p:spPr>
          <a:xfrm>
            <a:off x="4864608" y="1965960"/>
            <a:ext cx="365760" cy="365760"/>
          </a:xfrm>
          <a:prstGeom prst="ellipse">
            <a:avLst/>
          </a:prstGeom>
          <a:solidFill>
            <a:srgbClr val="FFFFFF"/>
          </a:solidFill>
          <a:ln w="12700">
            <a:solidFill>
              <a:srgbClr val="9AAAA2"/>
            </a:solidFill>
            <a:prstDash val="solid"/>
          </a:ln>
        </p:spPr>
      </p:sp>
      <p:sp>
        <p:nvSpPr>
          <p:cNvPr id="17" name="Shape 14"/>
          <p:cNvSpPr/>
          <p:nvPr/>
        </p:nvSpPr>
        <p:spPr>
          <a:xfrm>
            <a:off x="5413248" y="1965960"/>
            <a:ext cx="365760" cy="365760"/>
          </a:xfrm>
          <a:prstGeom prst="ellipse">
            <a:avLst/>
          </a:prstGeom>
          <a:solidFill>
            <a:srgbClr val="13403B"/>
          </a:solidFill>
          <a:ln w="12700">
            <a:solidFill>
              <a:srgbClr val="13403B"/>
            </a:solidFill>
            <a:prstDash val="solid"/>
          </a:ln>
        </p:spPr>
      </p:sp>
      <p:sp>
        <p:nvSpPr>
          <p:cNvPr id="18" name="Shape 15"/>
          <p:cNvSpPr/>
          <p:nvPr/>
        </p:nvSpPr>
        <p:spPr>
          <a:xfrm>
            <a:off x="1024128" y="2514600"/>
            <a:ext cx="365760" cy="365760"/>
          </a:xfrm>
          <a:prstGeom prst="ellipse">
            <a:avLst/>
          </a:prstGeom>
          <a:solidFill>
            <a:srgbClr val="13403B"/>
          </a:solidFill>
          <a:ln w="12700">
            <a:solidFill>
              <a:srgbClr val="13403B"/>
            </a:solidFill>
            <a:prstDash val="solid"/>
          </a:ln>
        </p:spPr>
      </p:sp>
      <p:sp>
        <p:nvSpPr>
          <p:cNvPr id="19" name="Shape 16"/>
          <p:cNvSpPr/>
          <p:nvPr/>
        </p:nvSpPr>
        <p:spPr>
          <a:xfrm>
            <a:off x="1572768" y="2514600"/>
            <a:ext cx="365760" cy="365760"/>
          </a:xfrm>
          <a:prstGeom prst="ellipse">
            <a:avLst/>
          </a:prstGeom>
          <a:solidFill>
            <a:srgbClr val="FFFFFF"/>
          </a:solidFill>
          <a:ln w="12700">
            <a:solidFill>
              <a:srgbClr val="9AAAA2"/>
            </a:solidFill>
            <a:prstDash val="solid"/>
          </a:ln>
        </p:spPr>
      </p:sp>
      <p:sp>
        <p:nvSpPr>
          <p:cNvPr id="20" name="Shape 17"/>
          <p:cNvSpPr/>
          <p:nvPr/>
        </p:nvSpPr>
        <p:spPr>
          <a:xfrm>
            <a:off x="2121408" y="2514600"/>
            <a:ext cx="365760" cy="365760"/>
          </a:xfrm>
          <a:prstGeom prst="ellipse">
            <a:avLst/>
          </a:prstGeom>
          <a:solidFill>
            <a:srgbClr val="FFFFFF"/>
          </a:solidFill>
          <a:ln w="12700">
            <a:solidFill>
              <a:srgbClr val="9AAAA2"/>
            </a:solidFill>
            <a:prstDash val="solid"/>
          </a:ln>
        </p:spPr>
      </p:sp>
      <p:sp>
        <p:nvSpPr>
          <p:cNvPr id="21" name="Shape 18"/>
          <p:cNvSpPr/>
          <p:nvPr/>
        </p:nvSpPr>
        <p:spPr>
          <a:xfrm>
            <a:off x="2670048" y="2514600"/>
            <a:ext cx="365760" cy="365760"/>
          </a:xfrm>
          <a:prstGeom prst="ellipse">
            <a:avLst/>
          </a:prstGeom>
          <a:solidFill>
            <a:srgbClr val="FFFFFF"/>
          </a:solidFill>
          <a:ln w="12700">
            <a:solidFill>
              <a:srgbClr val="9AAAA2"/>
            </a:solidFill>
            <a:prstDash val="solid"/>
          </a:ln>
        </p:spPr>
      </p:sp>
      <p:sp>
        <p:nvSpPr>
          <p:cNvPr id="22" name="Shape 19"/>
          <p:cNvSpPr/>
          <p:nvPr/>
        </p:nvSpPr>
        <p:spPr>
          <a:xfrm>
            <a:off x="3218688" y="2514600"/>
            <a:ext cx="365760" cy="365760"/>
          </a:xfrm>
          <a:prstGeom prst="ellipse">
            <a:avLst/>
          </a:prstGeom>
          <a:solidFill>
            <a:srgbClr val="13403B"/>
          </a:solidFill>
          <a:ln w="12700">
            <a:solidFill>
              <a:srgbClr val="13403B"/>
            </a:solidFill>
            <a:prstDash val="solid"/>
          </a:ln>
        </p:spPr>
      </p:sp>
      <p:sp>
        <p:nvSpPr>
          <p:cNvPr id="23" name="Shape 20"/>
          <p:cNvSpPr/>
          <p:nvPr/>
        </p:nvSpPr>
        <p:spPr>
          <a:xfrm>
            <a:off x="3767328" y="2514600"/>
            <a:ext cx="365760" cy="365760"/>
          </a:xfrm>
          <a:prstGeom prst="ellipse">
            <a:avLst/>
          </a:prstGeom>
          <a:solidFill>
            <a:srgbClr val="FFFFFF"/>
          </a:solidFill>
          <a:ln w="12700">
            <a:solidFill>
              <a:srgbClr val="9AAAA2"/>
            </a:solidFill>
            <a:prstDash val="solid"/>
          </a:ln>
        </p:spPr>
      </p:sp>
      <p:sp>
        <p:nvSpPr>
          <p:cNvPr id="24" name="Shape 21"/>
          <p:cNvSpPr/>
          <p:nvPr/>
        </p:nvSpPr>
        <p:spPr>
          <a:xfrm>
            <a:off x="4315968" y="2514600"/>
            <a:ext cx="365760" cy="365760"/>
          </a:xfrm>
          <a:prstGeom prst="ellipse">
            <a:avLst/>
          </a:prstGeom>
          <a:solidFill>
            <a:srgbClr val="13403B"/>
          </a:solidFill>
          <a:ln w="12700">
            <a:solidFill>
              <a:srgbClr val="13403B"/>
            </a:solidFill>
            <a:prstDash val="solid"/>
          </a:ln>
        </p:spPr>
      </p:sp>
      <p:sp>
        <p:nvSpPr>
          <p:cNvPr id="25" name="Shape 22"/>
          <p:cNvSpPr/>
          <p:nvPr/>
        </p:nvSpPr>
        <p:spPr>
          <a:xfrm>
            <a:off x="4864608" y="2514600"/>
            <a:ext cx="365760" cy="365760"/>
          </a:xfrm>
          <a:prstGeom prst="ellipse">
            <a:avLst/>
          </a:prstGeom>
          <a:solidFill>
            <a:srgbClr val="FFFFFF"/>
          </a:solidFill>
          <a:ln w="12700">
            <a:solidFill>
              <a:srgbClr val="9AAAA2"/>
            </a:solidFill>
            <a:prstDash val="solid"/>
          </a:ln>
        </p:spPr>
      </p:sp>
      <p:sp>
        <p:nvSpPr>
          <p:cNvPr id="26" name="Shape 23"/>
          <p:cNvSpPr/>
          <p:nvPr/>
        </p:nvSpPr>
        <p:spPr>
          <a:xfrm>
            <a:off x="5413248" y="2514600"/>
            <a:ext cx="365760" cy="365760"/>
          </a:xfrm>
          <a:prstGeom prst="ellipse">
            <a:avLst/>
          </a:prstGeom>
          <a:solidFill>
            <a:srgbClr val="FFFFFF"/>
          </a:solidFill>
          <a:ln w="12700">
            <a:solidFill>
              <a:srgbClr val="9AAAA2"/>
            </a:solidFill>
            <a:prstDash val="solid"/>
          </a:ln>
        </p:spPr>
      </p:sp>
      <p:sp>
        <p:nvSpPr>
          <p:cNvPr id="27" name="Shape 24"/>
          <p:cNvSpPr/>
          <p:nvPr/>
        </p:nvSpPr>
        <p:spPr>
          <a:xfrm>
            <a:off x="1005840" y="3127248"/>
            <a:ext cx="201168" cy="201168"/>
          </a:xfrm>
          <a:prstGeom prst="ellipse">
            <a:avLst/>
          </a:prstGeom>
          <a:solidFill>
            <a:srgbClr val="FFFFFF"/>
          </a:solidFill>
          <a:ln w="12700">
            <a:solidFill>
              <a:srgbClr val="9AAAA2"/>
            </a:solidFill>
            <a:prstDash val="solid"/>
          </a:ln>
        </p:spPr>
      </p:sp>
      <p:sp>
        <p:nvSpPr>
          <p:cNvPr id="28" name="Text 25"/>
          <p:cNvSpPr txBox="1"/>
          <p:nvPr/>
        </p:nvSpPr>
        <p:spPr>
          <a:xfrm>
            <a:off x="1325880" y="3072384"/>
            <a:ext cx="4754880" cy="274320"/>
          </a:xfrm>
          <a:prstGeom prst="rect">
            <a:avLst/>
          </a:prstGeom>
          <a:noFill/>
          <a:ln/>
        </p:spPr>
        <p:txBody>
          <a:bodyPr wrap="square" lIns="0" tIns="0" rIns="0" bIns="0" rtlCol="0" anchor="ctr"/>
          <a:lstStyle/>
          <a:p>
            <a:pPr indent="0" marL="0">
              <a:buNone/>
            </a:pPr>
            <a:r>
              <a:rPr lang="en-US" sz="1250" dirty="0">
                <a:solidFill>
                  <a:srgbClr val="23302C"/>
                </a:solidFill>
                <a:latin typeface="Calibri" pitchFamily="34" charset="0"/>
                <a:ea typeface="Calibri" pitchFamily="34" charset="-122"/>
                <a:cs typeface="Calibri" pitchFamily="34" charset="-120"/>
              </a:rPr>
              <a:t>18 did the tasks, the questionnaires, and the demographics sheet</a:t>
            </a:r>
            <a:endParaRPr lang="en-US" sz="1250" dirty="0"/>
          </a:p>
        </p:txBody>
      </p:sp>
      <p:sp>
        <p:nvSpPr>
          <p:cNvPr id="29" name="Shape 26"/>
          <p:cNvSpPr/>
          <p:nvPr/>
        </p:nvSpPr>
        <p:spPr>
          <a:xfrm>
            <a:off x="1005840" y="3474720"/>
            <a:ext cx="201168" cy="201168"/>
          </a:xfrm>
          <a:prstGeom prst="ellipse">
            <a:avLst/>
          </a:prstGeom>
          <a:solidFill>
            <a:srgbClr val="13403B"/>
          </a:solidFill>
          <a:ln w="12700">
            <a:solidFill>
              <a:srgbClr val="13403B"/>
            </a:solidFill>
            <a:prstDash val="solid"/>
          </a:ln>
        </p:spPr>
      </p:sp>
      <p:sp>
        <p:nvSpPr>
          <p:cNvPr id="30" name="Text 27"/>
          <p:cNvSpPr txBox="1"/>
          <p:nvPr/>
        </p:nvSpPr>
        <p:spPr>
          <a:xfrm>
            <a:off x="1325880" y="3419856"/>
            <a:ext cx="4663440" cy="27432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6 of those 18 also thought aloud and were interviewed</a:t>
            </a:r>
            <a:endParaRPr lang="en-US" sz="1250" dirty="0"/>
          </a:p>
        </p:txBody>
      </p:sp>
      <p:sp>
        <p:nvSpPr>
          <p:cNvPr id="31" name="Shape 28"/>
          <p:cNvSpPr/>
          <p:nvPr/>
        </p:nvSpPr>
        <p:spPr>
          <a:xfrm>
            <a:off x="6492240" y="1371600"/>
            <a:ext cx="4937760" cy="1188720"/>
          </a:xfrm>
          <a:prstGeom prst="roundRect">
            <a:avLst>
              <a:gd name="adj" fmla="val 6154"/>
            </a:avLst>
          </a:prstGeom>
          <a:solidFill>
            <a:srgbClr val="EDF0EA"/>
          </a:solidFill>
          <a:ln w="9525">
            <a:solidFill>
              <a:srgbClr val="EDF0EA"/>
            </a:solidFill>
            <a:prstDash val="solid"/>
          </a:ln>
        </p:spPr>
      </p:sp>
      <p:sp>
        <p:nvSpPr>
          <p:cNvPr id="32" name="Text 29"/>
          <p:cNvSpPr txBox="1"/>
          <p:nvPr/>
        </p:nvSpPr>
        <p:spPr>
          <a:xfrm>
            <a:off x="6748272" y="1554480"/>
            <a:ext cx="442569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The numbers describe all eighteen</a:t>
            </a:r>
            <a:endParaRPr lang="en-US" sz="1350" dirty="0"/>
          </a:p>
        </p:txBody>
      </p:sp>
      <p:sp>
        <p:nvSpPr>
          <p:cNvPr id="33" name="Text 30"/>
          <p:cNvSpPr txBox="1"/>
          <p:nvPr/>
        </p:nvSpPr>
        <p:spPr>
          <a:xfrm>
            <a:off x="6748272" y="1901952"/>
            <a:ext cx="4425696" cy="521208"/>
          </a:xfrm>
          <a:prstGeom prst="rect">
            <a:avLst/>
          </a:prstGeom>
          <a:noFill/>
          <a:ln/>
        </p:spPr>
        <p:txBody>
          <a:bodyPr wrap="square" lIns="0" tIns="0" rIns="0" bIns="0" rtlCol="0" anchor="t"/>
          <a:lstStyle/>
          <a:p>
            <a:pPr indent="0" marL="0">
              <a:buNone/>
            </a:pPr>
            <a:r>
              <a:rPr lang="en-US" sz="1200" dirty="0">
                <a:solidFill>
                  <a:srgbClr val="23302C"/>
                </a:solidFill>
                <a:latin typeface="Calibri" pitchFamily="34" charset="0"/>
                <a:ea typeface="Calibri" pitchFamily="34" charset="-122"/>
                <a:cs typeface="Calibri" pitchFamily="34" charset="-120"/>
              </a:rPr>
              <a:t>What they did, how long it took, what they scored — and who they are.</a:t>
            </a:r>
            <a:endParaRPr lang="en-US" sz="1200" dirty="0"/>
          </a:p>
        </p:txBody>
      </p:sp>
      <p:sp>
        <p:nvSpPr>
          <p:cNvPr id="34" name="Shape 31"/>
          <p:cNvSpPr/>
          <p:nvPr/>
        </p:nvSpPr>
        <p:spPr>
          <a:xfrm>
            <a:off x="6492240" y="2697480"/>
            <a:ext cx="4937760" cy="1188720"/>
          </a:xfrm>
          <a:prstGeom prst="roundRect">
            <a:avLst>
              <a:gd name="adj" fmla="val 6154"/>
            </a:avLst>
          </a:prstGeom>
          <a:solidFill>
            <a:srgbClr val="FFFFFF"/>
          </a:solidFill>
          <a:ln w="9525">
            <a:solidFill>
              <a:srgbClr val="DCE3DC"/>
            </a:solidFill>
            <a:prstDash val="solid"/>
          </a:ln>
        </p:spPr>
      </p:sp>
      <p:sp>
        <p:nvSpPr>
          <p:cNvPr id="35" name="Text 32"/>
          <p:cNvSpPr txBox="1"/>
          <p:nvPr/>
        </p:nvSpPr>
        <p:spPr>
          <a:xfrm>
            <a:off x="6748272" y="2880360"/>
            <a:ext cx="442569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The talk explains, from inside the eighteen</a:t>
            </a:r>
            <a:endParaRPr lang="en-US" sz="1350" dirty="0"/>
          </a:p>
        </p:txBody>
      </p:sp>
      <p:sp>
        <p:nvSpPr>
          <p:cNvPr id="36" name="Text 33"/>
          <p:cNvSpPr txBox="1"/>
          <p:nvPr/>
        </p:nvSpPr>
        <p:spPr>
          <a:xfrm>
            <a:off x="6748272" y="3227832"/>
            <a:ext cx="4425696" cy="521208"/>
          </a:xfrm>
          <a:prstGeom prst="rect">
            <a:avLst/>
          </a:prstGeom>
          <a:noFill/>
          <a:ln/>
        </p:spPr>
        <p:txBody>
          <a:bodyPr wrap="square" lIns="0" tIns="0" rIns="0" bIns="0" rtlCol="0" anchor="t"/>
          <a:lstStyle/>
          <a:p>
            <a:pPr indent="0" marL="0">
              <a:buNone/>
            </a:pPr>
            <a:r>
              <a:rPr lang="en-US" sz="1200" dirty="0">
                <a:solidFill>
                  <a:srgbClr val="23302C"/>
                </a:solidFill>
                <a:latin typeface="Calibri" pitchFamily="34" charset="0"/>
                <a:ea typeface="Calibri" pitchFamily="34" charset="-122"/>
                <a:cs typeface="Calibri" pitchFamily="34" charset="-120"/>
              </a:rPr>
              <a:t>Six people’s reasons, confusions and feelings. You can check where those six sit among the eighteen.</a:t>
            </a:r>
            <a:endParaRPr lang="en-US" sz="1200" dirty="0"/>
          </a:p>
        </p:txBody>
      </p:sp>
      <p:sp>
        <p:nvSpPr>
          <p:cNvPr id="37" name="Shape 34"/>
          <p:cNvSpPr/>
          <p:nvPr/>
        </p:nvSpPr>
        <p:spPr>
          <a:xfrm>
            <a:off x="731520" y="4069080"/>
            <a:ext cx="10698480" cy="868680"/>
          </a:xfrm>
          <a:prstGeom prst="roundRect">
            <a:avLst>
              <a:gd name="adj" fmla="val 8421"/>
            </a:avLst>
          </a:prstGeom>
          <a:solidFill>
            <a:srgbClr val="13403B"/>
          </a:solidFill>
          <a:ln w="12700">
            <a:solidFill>
              <a:srgbClr val="13403B"/>
            </a:solidFill>
            <a:prstDash val="solid"/>
          </a:ln>
        </p:spPr>
      </p:sp>
      <p:sp>
        <p:nvSpPr>
          <p:cNvPr id="38" name="Text 35"/>
          <p:cNvSpPr txBox="1"/>
          <p:nvPr/>
        </p:nvSpPr>
        <p:spPr>
          <a:xfrm>
            <a:off x="1024128" y="4069080"/>
            <a:ext cx="10113264"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numbers say what happened. The talk says why. Everything you learn from the six can be placed against the eighteen — were they the most confident? the fastest? all one age band?</a:t>
            </a:r>
            <a:endParaRPr lang="en-US" sz="1400" dirty="0"/>
          </a:p>
        </p:txBody>
      </p:sp>
      <p:sp>
        <p:nvSpPr>
          <p:cNvPr id="39" name="Shape 36"/>
          <p:cNvSpPr/>
          <p:nvPr/>
        </p:nvSpPr>
        <p:spPr>
          <a:xfrm>
            <a:off x="731520" y="5120640"/>
            <a:ext cx="10698480" cy="548640"/>
          </a:xfrm>
          <a:prstGeom prst="roundRect">
            <a:avLst>
              <a:gd name="adj" fmla="val 13333"/>
            </a:avLst>
          </a:prstGeom>
          <a:solidFill>
            <a:srgbClr val="F7EFDF"/>
          </a:solidFill>
          <a:ln w="12700">
            <a:solidFill>
              <a:srgbClr val="F7EFDF"/>
            </a:solidFill>
            <a:prstDash val="solid"/>
          </a:ln>
        </p:spPr>
      </p:sp>
      <p:sp>
        <p:nvSpPr>
          <p:cNvPr id="40" name="Text 37"/>
          <p:cNvSpPr txBox="1"/>
          <p:nvPr/>
        </p:nvSpPr>
        <p:spPr>
          <a:xfrm>
            <a:off x="1042416" y="5120640"/>
            <a:ext cx="10076688" cy="54864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That check is Section 10 of the Colab notebook. It is where your limitations section starts writing itself.</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STEP 1 · LOOK AT THE COLUMN</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What Kind of Number Is It?</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0698480" cy="822960"/>
          </a:xfrm>
          <a:prstGeom prst="roundRect">
            <a:avLst>
              <a:gd name="adj" fmla="val 6667"/>
            </a:avLst>
          </a:prstGeom>
          <a:solidFill>
            <a:srgbClr val="FFFFFF"/>
          </a:solidFill>
          <a:ln w="9525">
            <a:solidFill>
              <a:srgbClr val="DCE3DC"/>
            </a:solidFill>
            <a:prstDash val="solid"/>
          </a:ln>
        </p:spPr>
      </p:sp>
      <p:sp>
        <p:nvSpPr>
          <p:cNvPr id="8" name="Text 5"/>
          <p:cNvSpPr txBox="1"/>
          <p:nvPr/>
        </p:nvSpPr>
        <p:spPr>
          <a:xfrm>
            <a:off x="960120" y="1463040"/>
            <a:ext cx="1437437" cy="82296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Categories</a:t>
            </a:r>
            <a:endParaRPr lang="en-US" sz="1250" dirty="0"/>
          </a:p>
        </p:txBody>
      </p:sp>
      <p:sp>
        <p:nvSpPr>
          <p:cNvPr id="9" name="Text 6"/>
          <p:cNvSpPr txBox="1"/>
          <p:nvPr/>
        </p:nvSpPr>
        <p:spPr>
          <a:xfrm>
            <a:off x="2671877" y="1463040"/>
            <a:ext cx="2079346" cy="82296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No order</a:t>
            </a:r>
            <a:endParaRPr lang="en-US" sz="1250" dirty="0"/>
          </a:p>
        </p:txBody>
      </p:sp>
      <p:sp>
        <p:nvSpPr>
          <p:cNvPr id="10" name="Text 7"/>
          <p:cNvSpPr txBox="1"/>
          <p:nvPr/>
        </p:nvSpPr>
        <p:spPr>
          <a:xfrm>
            <a:off x="5025542" y="1463040"/>
            <a:ext cx="6358738" cy="82296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Task outcome (unaided / assisted / not completed). Age band. Summarise with counts.</a:t>
            </a:r>
            <a:endParaRPr lang="en-US" sz="1200" dirty="0"/>
          </a:p>
        </p:txBody>
      </p:sp>
      <p:sp>
        <p:nvSpPr>
          <p:cNvPr id="11" name="Shape 8"/>
          <p:cNvSpPr/>
          <p:nvPr/>
        </p:nvSpPr>
        <p:spPr>
          <a:xfrm>
            <a:off x="731520" y="2340864"/>
            <a:ext cx="10698480" cy="822960"/>
          </a:xfrm>
          <a:prstGeom prst="roundRect">
            <a:avLst>
              <a:gd name="adj" fmla="val 6667"/>
            </a:avLst>
          </a:prstGeom>
          <a:solidFill>
            <a:srgbClr val="EDF0EA"/>
          </a:solidFill>
          <a:ln w="9525">
            <a:solidFill>
              <a:srgbClr val="DCE3DC"/>
            </a:solidFill>
            <a:prstDash val="solid"/>
          </a:ln>
        </p:spPr>
      </p:sp>
      <p:sp>
        <p:nvSpPr>
          <p:cNvPr id="12" name="Text 9"/>
          <p:cNvSpPr txBox="1"/>
          <p:nvPr/>
        </p:nvSpPr>
        <p:spPr>
          <a:xfrm>
            <a:off x="960120" y="2340864"/>
            <a:ext cx="1437437" cy="82296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Yes / no</a:t>
            </a:r>
            <a:endParaRPr lang="en-US" sz="1250" dirty="0"/>
          </a:p>
        </p:txBody>
      </p:sp>
      <p:sp>
        <p:nvSpPr>
          <p:cNvPr id="13" name="Text 10"/>
          <p:cNvSpPr txBox="1"/>
          <p:nvPr/>
        </p:nvSpPr>
        <p:spPr>
          <a:xfrm>
            <a:off x="2671877" y="2340864"/>
            <a:ext cx="2079346" cy="82296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Two categories</a:t>
            </a:r>
            <a:endParaRPr lang="en-US" sz="1250" dirty="0"/>
          </a:p>
        </p:txBody>
      </p:sp>
      <p:sp>
        <p:nvSpPr>
          <p:cNvPr id="14" name="Text 11"/>
          <p:cNvSpPr txBox="1"/>
          <p:nvPr/>
        </p:nvSpPr>
        <p:spPr>
          <a:xfrm>
            <a:off x="5025542" y="2340864"/>
            <a:ext cx="6358738" cy="82296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Completed or not. Interviewed or not. Prior habit or not. Summarise with counts. Also the natural way to split people into two groups.</a:t>
            </a:r>
            <a:endParaRPr lang="en-US" sz="1200" dirty="0"/>
          </a:p>
        </p:txBody>
      </p:sp>
      <p:sp>
        <p:nvSpPr>
          <p:cNvPr id="15" name="Shape 12"/>
          <p:cNvSpPr/>
          <p:nvPr/>
        </p:nvSpPr>
        <p:spPr>
          <a:xfrm>
            <a:off x="731520" y="3218688"/>
            <a:ext cx="10698480" cy="822960"/>
          </a:xfrm>
          <a:prstGeom prst="roundRect">
            <a:avLst>
              <a:gd name="adj" fmla="val 6667"/>
            </a:avLst>
          </a:prstGeom>
          <a:solidFill>
            <a:srgbClr val="FFFFFF"/>
          </a:solidFill>
          <a:ln w="9525">
            <a:solidFill>
              <a:srgbClr val="DCE3DC"/>
            </a:solidFill>
            <a:prstDash val="solid"/>
          </a:ln>
        </p:spPr>
      </p:sp>
      <p:sp>
        <p:nvSpPr>
          <p:cNvPr id="16" name="Text 13"/>
          <p:cNvSpPr txBox="1"/>
          <p:nvPr/>
        </p:nvSpPr>
        <p:spPr>
          <a:xfrm>
            <a:off x="960120" y="3218688"/>
            <a:ext cx="1437437" cy="82296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Ordered</a:t>
            </a:r>
            <a:endParaRPr lang="en-US" sz="1250" dirty="0"/>
          </a:p>
        </p:txBody>
      </p:sp>
      <p:sp>
        <p:nvSpPr>
          <p:cNvPr id="17" name="Text 14"/>
          <p:cNvSpPr txBox="1"/>
          <p:nvPr/>
        </p:nvSpPr>
        <p:spPr>
          <a:xfrm>
            <a:off x="2671877" y="3218688"/>
            <a:ext cx="2079346" cy="82296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An order, but unequal gaps</a:t>
            </a:r>
            <a:endParaRPr lang="en-US" sz="1250" dirty="0"/>
          </a:p>
        </p:txBody>
      </p:sp>
      <p:sp>
        <p:nvSpPr>
          <p:cNvPr id="18" name="Text 15"/>
          <p:cNvSpPr txBox="1"/>
          <p:nvPr/>
        </p:nvSpPr>
        <p:spPr>
          <a:xfrm>
            <a:off x="5025542" y="3218688"/>
            <a:ext cx="6358738" cy="82296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A 1–5 rating such as confidence. 2 to 3 is not the same step as 4 to 5, so a mean is meaningless. Summarise with counts at each point, or the middle value (median).</a:t>
            </a:r>
            <a:endParaRPr lang="en-US" sz="1200" dirty="0"/>
          </a:p>
        </p:txBody>
      </p:sp>
      <p:sp>
        <p:nvSpPr>
          <p:cNvPr id="19" name="Shape 16"/>
          <p:cNvSpPr/>
          <p:nvPr/>
        </p:nvSpPr>
        <p:spPr>
          <a:xfrm>
            <a:off x="731520" y="4096512"/>
            <a:ext cx="10698480" cy="822960"/>
          </a:xfrm>
          <a:prstGeom prst="roundRect">
            <a:avLst>
              <a:gd name="adj" fmla="val 6667"/>
            </a:avLst>
          </a:prstGeom>
          <a:solidFill>
            <a:srgbClr val="EDF0EA"/>
          </a:solidFill>
          <a:ln w="9525">
            <a:solidFill>
              <a:srgbClr val="DCE3DC"/>
            </a:solidFill>
            <a:prstDash val="solid"/>
          </a:ln>
        </p:spPr>
      </p:sp>
      <p:sp>
        <p:nvSpPr>
          <p:cNvPr id="20" name="Text 17"/>
          <p:cNvSpPr txBox="1"/>
          <p:nvPr/>
        </p:nvSpPr>
        <p:spPr>
          <a:xfrm>
            <a:off x="960120" y="4096512"/>
            <a:ext cx="1437437" cy="82296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Measured</a:t>
            </a:r>
            <a:endParaRPr lang="en-US" sz="1250" dirty="0"/>
          </a:p>
        </p:txBody>
      </p:sp>
      <p:sp>
        <p:nvSpPr>
          <p:cNvPr id="21" name="Text 18"/>
          <p:cNvSpPr txBox="1"/>
          <p:nvPr/>
        </p:nvSpPr>
        <p:spPr>
          <a:xfrm>
            <a:off x="2671877" y="4096512"/>
            <a:ext cx="2079346" cy="82296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Equal gaps on a scale</a:t>
            </a:r>
            <a:endParaRPr lang="en-US" sz="1250" dirty="0"/>
          </a:p>
        </p:txBody>
      </p:sp>
      <p:sp>
        <p:nvSpPr>
          <p:cNvPr id="22" name="Text 19"/>
          <p:cNvSpPr txBox="1"/>
          <p:nvPr/>
        </p:nvSpPr>
        <p:spPr>
          <a:xfrm>
            <a:off x="5025542" y="4096512"/>
            <a:ext cx="6358738" cy="82296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Time in seconds. Error count. SUS 0–100 (a ten-item score, treated as measured by convention). Summarise with the median and range; the mean where it is the convention.</a:t>
            </a:r>
            <a:endParaRPr lang="en-US" sz="1200" dirty="0"/>
          </a:p>
        </p:txBody>
      </p:sp>
      <p:sp>
        <p:nvSpPr>
          <p:cNvPr id="23" name="Shape 20"/>
          <p:cNvSpPr/>
          <p:nvPr/>
        </p:nvSpPr>
        <p:spPr>
          <a:xfrm>
            <a:off x="731520" y="5074920"/>
            <a:ext cx="10698480" cy="685800"/>
          </a:xfrm>
          <a:prstGeom prst="roundRect">
            <a:avLst>
              <a:gd name="adj" fmla="val 10667"/>
            </a:avLst>
          </a:prstGeom>
          <a:solidFill>
            <a:srgbClr val="13403B"/>
          </a:solidFill>
          <a:ln w="12700">
            <a:solidFill>
              <a:srgbClr val="13403B"/>
            </a:solidFill>
            <a:prstDash val="solid"/>
          </a:ln>
        </p:spPr>
      </p:sp>
      <p:sp>
        <p:nvSpPr>
          <p:cNvPr id="24" name="Text 21"/>
          <p:cNvSpPr txBox="1"/>
          <p:nvPr/>
        </p:nvSpPr>
        <p:spPr>
          <a:xfrm>
            <a:off x="1024128" y="5074920"/>
            <a:ext cx="10113264"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Look at the column, name its kind, then choose the summary. Later, the kind also chooses the tool. Never the other way round.</a:t>
            </a:r>
            <a:endParaRPr lang="en-US" sz="1400" dirty="0"/>
          </a:p>
        </p:txBody>
      </p:sp>
      <p:sp>
        <p:nvSpPr>
          <p:cNvPr id="25" name="Text 22"/>
          <p:cNvSpPr txBox="1"/>
          <p:nvPr/>
        </p:nvSpPr>
        <p:spPr>
          <a:xfrm>
            <a:off x="731520" y="589788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The Colab notebook guesses the kind from the column. Check that it agrees with you — the wrong kind gives you a number, not an error.</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STEP 2 · DESCRIBE</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Four Rules for Describing Sixteen to Twenty People</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0698480" cy="868680"/>
          </a:xfrm>
          <a:prstGeom prst="roundRect">
            <a:avLst>
              <a:gd name="adj" fmla="val 6316"/>
            </a:avLst>
          </a:prstGeom>
          <a:solidFill>
            <a:srgbClr val="FFFFFF"/>
          </a:solidFill>
          <a:ln w="9525">
            <a:solidFill>
              <a:srgbClr val="DCE3DC"/>
            </a:solidFill>
            <a:prstDash val="solid"/>
          </a:ln>
        </p:spPr>
      </p:sp>
      <p:sp>
        <p:nvSpPr>
          <p:cNvPr id="8" name="Text 5"/>
          <p:cNvSpPr txBox="1"/>
          <p:nvPr/>
        </p:nvSpPr>
        <p:spPr>
          <a:xfrm>
            <a:off x="960120" y="1463040"/>
            <a:ext cx="2293315" cy="8686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Count first, percentage second</a:t>
            </a:r>
            <a:endParaRPr lang="en-US" sz="1250" dirty="0"/>
          </a:p>
        </p:txBody>
      </p:sp>
      <p:sp>
        <p:nvSpPr>
          <p:cNvPr id="9" name="Text 6"/>
          <p:cNvSpPr txBox="1"/>
          <p:nvPr/>
        </p:nvSpPr>
        <p:spPr>
          <a:xfrm>
            <a:off x="3527755" y="1463040"/>
            <a:ext cx="1865376" cy="8686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“13 of 18 (72%)”</a:t>
            </a:r>
            <a:endParaRPr lang="en-US" sz="1250" dirty="0"/>
          </a:p>
        </p:txBody>
      </p:sp>
      <p:sp>
        <p:nvSpPr>
          <p:cNvPr id="10" name="Text 7"/>
          <p:cNvSpPr txBox="1"/>
          <p:nvPr/>
        </p:nvSpPr>
        <p:spPr>
          <a:xfrm>
            <a:off x="5667451" y="1463040"/>
            <a:ext cx="5716829" cy="8686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One person is 5½ points. The count with its n is the finding. A percentage may sit beside it, never instead of it. From the six interviewees: counts only.</a:t>
            </a:r>
            <a:endParaRPr lang="en-US" sz="1200" dirty="0"/>
          </a:p>
        </p:txBody>
      </p:sp>
      <p:sp>
        <p:nvSpPr>
          <p:cNvPr id="11" name="Shape 8"/>
          <p:cNvSpPr/>
          <p:nvPr/>
        </p:nvSpPr>
        <p:spPr>
          <a:xfrm>
            <a:off x="731520" y="2386584"/>
            <a:ext cx="10698480" cy="868680"/>
          </a:xfrm>
          <a:prstGeom prst="roundRect">
            <a:avLst>
              <a:gd name="adj" fmla="val 6316"/>
            </a:avLst>
          </a:prstGeom>
          <a:solidFill>
            <a:srgbClr val="EDF0EA"/>
          </a:solidFill>
          <a:ln w="9525">
            <a:solidFill>
              <a:srgbClr val="DCE3DC"/>
            </a:solidFill>
            <a:prstDash val="solid"/>
          </a:ln>
        </p:spPr>
      </p:sp>
      <p:sp>
        <p:nvSpPr>
          <p:cNvPr id="12" name="Text 9"/>
          <p:cNvSpPr txBox="1"/>
          <p:nvPr/>
        </p:nvSpPr>
        <p:spPr>
          <a:xfrm>
            <a:off x="960120" y="2386584"/>
            <a:ext cx="2293315" cy="8686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Median for times</a:t>
            </a:r>
            <a:endParaRPr lang="en-US" sz="1250" dirty="0"/>
          </a:p>
        </p:txBody>
      </p:sp>
      <p:sp>
        <p:nvSpPr>
          <p:cNvPr id="13" name="Text 10"/>
          <p:cNvSpPr txBox="1"/>
          <p:nvPr/>
        </p:nvSpPr>
        <p:spPr>
          <a:xfrm>
            <a:off x="3527755" y="2386584"/>
            <a:ext cx="1865376" cy="8686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Mean only by convention</a:t>
            </a:r>
            <a:endParaRPr lang="en-US" sz="1250" dirty="0"/>
          </a:p>
        </p:txBody>
      </p:sp>
      <p:sp>
        <p:nvSpPr>
          <p:cNvPr id="14" name="Text 11"/>
          <p:cNvSpPr txBox="1"/>
          <p:nvPr/>
        </p:nvSpPr>
        <p:spPr>
          <a:xfrm>
            <a:off x="5667451" y="2386584"/>
            <a:ext cx="5716829" cy="8686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One person who got stuck drags the mean. The median is the middle person. SUS and TLX are reported as means because that is the convention — with n stated.</a:t>
            </a:r>
            <a:endParaRPr lang="en-US" sz="1200" dirty="0"/>
          </a:p>
        </p:txBody>
      </p:sp>
      <p:sp>
        <p:nvSpPr>
          <p:cNvPr id="15" name="Shape 12"/>
          <p:cNvSpPr/>
          <p:nvPr/>
        </p:nvSpPr>
        <p:spPr>
          <a:xfrm>
            <a:off x="731520" y="3310128"/>
            <a:ext cx="10698480" cy="868680"/>
          </a:xfrm>
          <a:prstGeom prst="roundRect">
            <a:avLst>
              <a:gd name="adj" fmla="val 6316"/>
            </a:avLst>
          </a:prstGeom>
          <a:solidFill>
            <a:srgbClr val="FFFFFF"/>
          </a:solidFill>
          <a:ln w="9525">
            <a:solidFill>
              <a:srgbClr val="DCE3DC"/>
            </a:solidFill>
            <a:prstDash val="solid"/>
          </a:ln>
        </p:spPr>
      </p:sp>
      <p:sp>
        <p:nvSpPr>
          <p:cNvPr id="16" name="Text 13"/>
          <p:cNvSpPr txBox="1"/>
          <p:nvPr/>
        </p:nvSpPr>
        <p:spPr>
          <a:xfrm>
            <a:off x="960120" y="3310128"/>
            <a:ext cx="2293315" cy="8686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Show every value</a:t>
            </a:r>
            <a:endParaRPr lang="en-US" sz="1250" dirty="0"/>
          </a:p>
        </p:txBody>
      </p:sp>
      <p:sp>
        <p:nvSpPr>
          <p:cNvPr id="17" name="Text 14"/>
          <p:cNvSpPr txBox="1"/>
          <p:nvPr/>
        </p:nvSpPr>
        <p:spPr>
          <a:xfrm>
            <a:off x="3527755" y="3310128"/>
            <a:ext cx="1865376" cy="8686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A dot per person</a:t>
            </a:r>
            <a:endParaRPr lang="en-US" sz="1250" dirty="0"/>
          </a:p>
        </p:txBody>
      </p:sp>
      <p:sp>
        <p:nvSpPr>
          <p:cNvPr id="18" name="Text 15"/>
          <p:cNvSpPr txBox="1"/>
          <p:nvPr/>
        </p:nvSpPr>
        <p:spPr>
          <a:xfrm>
            <a:off x="5667451" y="3310128"/>
            <a:ext cx="5716829" cy="8686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A dot plot for each measure. With eighteen people, one outlier can make or unmake a pattern, and the reader has to be able to see it.</a:t>
            </a:r>
            <a:endParaRPr lang="en-US" sz="1200" dirty="0"/>
          </a:p>
        </p:txBody>
      </p:sp>
      <p:sp>
        <p:nvSpPr>
          <p:cNvPr id="19" name="Shape 16"/>
          <p:cNvSpPr/>
          <p:nvPr/>
        </p:nvSpPr>
        <p:spPr>
          <a:xfrm>
            <a:off x="731520" y="4233672"/>
            <a:ext cx="10698480" cy="868680"/>
          </a:xfrm>
          <a:prstGeom prst="roundRect">
            <a:avLst>
              <a:gd name="adj" fmla="val 6316"/>
            </a:avLst>
          </a:prstGeom>
          <a:solidFill>
            <a:srgbClr val="EDF0EA"/>
          </a:solidFill>
          <a:ln w="9525">
            <a:solidFill>
              <a:srgbClr val="DCE3DC"/>
            </a:solidFill>
            <a:prstDash val="solid"/>
          </a:ln>
        </p:spPr>
      </p:sp>
      <p:sp>
        <p:nvSpPr>
          <p:cNvPr id="20" name="Text 17"/>
          <p:cNvSpPr txBox="1"/>
          <p:nvPr/>
        </p:nvSpPr>
        <p:spPr>
          <a:xfrm>
            <a:off x="960120" y="4233672"/>
            <a:ext cx="2293315" cy="86868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Describe before you compare</a:t>
            </a:r>
            <a:endParaRPr lang="en-US" sz="1250" dirty="0"/>
          </a:p>
        </p:txBody>
      </p:sp>
      <p:sp>
        <p:nvSpPr>
          <p:cNvPr id="21" name="Text 18"/>
          <p:cNvSpPr txBox="1"/>
          <p:nvPr/>
        </p:nvSpPr>
        <p:spPr>
          <a:xfrm>
            <a:off x="3527755" y="4233672"/>
            <a:ext cx="1865376" cy="868680"/>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Then ask the two questions</a:t>
            </a:r>
            <a:endParaRPr lang="en-US" sz="1250" dirty="0"/>
          </a:p>
        </p:txBody>
      </p:sp>
      <p:sp>
        <p:nvSpPr>
          <p:cNvPr id="22" name="Text 19"/>
          <p:cNvSpPr txBox="1"/>
          <p:nvPr/>
        </p:nvSpPr>
        <p:spPr>
          <a:xfrm>
            <a:off x="5667451" y="4233672"/>
            <a:ext cx="5716829" cy="86868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Counts, medians and plots first. Only then ask whether things go together or groups differ — and whatever you find is still a description of these eighteen people. It can suggest. It cannot prove.</a:t>
            </a:r>
            <a:endParaRPr lang="en-US" sz="1200" dirty="0"/>
          </a:p>
        </p:txBody>
      </p:sp>
      <p:sp>
        <p:nvSpPr>
          <p:cNvPr id="23" name="Shape 20"/>
          <p:cNvSpPr/>
          <p:nvPr/>
        </p:nvSpPr>
        <p:spPr>
          <a:xfrm>
            <a:off x="731520" y="5303520"/>
            <a:ext cx="10698480" cy="685800"/>
          </a:xfrm>
          <a:prstGeom prst="roundRect">
            <a:avLst>
              <a:gd name="adj" fmla="val 10667"/>
            </a:avLst>
          </a:prstGeom>
          <a:solidFill>
            <a:srgbClr val="13403B"/>
          </a:solidFill>
          <a:ln w="12700">
            <a:solidFill>
              <a:srgbClr val="13403B"/>
            </a:solidFill>
            <a:prstDash val="solid"/>
          </a:ln>
        </p:spPr>
      </p:sp>
      <p:sp>
        <p:nvSpPr>
          <p:cNvPr id="24" name="Text 21"/>
          <p:cNvSpPr txBox="1"/>
          <p:nvPr/>
        </p:nvSpPr>
        <p:spPr>
          <a:xfrm>
            <a:off x="1024128" y="5303520"/>
            <a:ext cx="10113264"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Eighteen people are eighteen people, and six of them talked. Report them as that — and let the six explain what the eighteen show.</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STEP 2 · DESCRIBE</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The Measures You Are Likely to Have</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17320"/>
            <a:ext cx="10698480" cy="566928"/>
          </a:xfrm>
          <a:prstGeom prst="roundRect">
            <a:avLst>
              <a:gd name="adj" fmla="val 9677"/>
            </a:avLst>
          </a:prstGeom>
          <a:solidFill>
            <a:srgbClr val="FFFFFF"/>
          </a:solidFill>
          <a:ln w="9525">
            <a:solidFill>
              <a:srgbClr val="DCE3DC"/>
            </a:solidFill>
            <a:prstDash val="solid"/>
          </a:ln>
        </p:spPr>
      </p:sp>
      <p:sp>
        <p:nvSpPr>
          <p:cNvPr id="8" name="Text 5"/>
          <p:cNvSpPr txBox="1"/>
          <p:nvPr/>
        </p:nvSpPr>
        <p:spPr>
          <a:xfrm>
            <a:off x="960120" y="1417320"/>
            <a:ext cx="1544422" cy="56692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Task success</a:t>
            </a:r>
            <a:endParaRPr lang="en-US" sz="1250" dirty="0"/>
          </a:p>
        </p:txBody>
      </p:sp>
      <p:sp>
        <p:nvSpPr>
          <p:cNvPr id="9" name="Text 6"/>
          <p:cNvSpPr txBox="1"/>
          <p:nvPr/>
        </p:nvSpPr>
        <p:spPr>
          <a:xfrm>
            <a:off x="2778862" y="1417320"/>
            <a:ext cx="1865376" cy="56692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n of N</a:t>
            </a:r>
            <a:endParaRPr lang="en-US" sz="1250" dirty="0"/>
          </a:p>
        </p:txBody>
      </p:sp>
      <p:sp>
        <p:nvSpPr>
          <p:cNvPr id="10" name="Text 7"/>
          <p:cNvSpPr txBox="1"/>
          <p:nvPr/>
        </p:nvSpPr>
        <p:spPr>
          <a:xfrm>
            <a:off x="4918558" y="1417320"/>
            <a:ext cx="6465722" cy="56692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Unaided kept separate from assisted. A task finished after the facilitator helped is “completed with assistance”, not “completed”.</a:t>
            </a:r>
            <a:endParaRPr lang="en-US" sz="1150" dirty="0"/>
          </a:p>
        </p:txBody>
      </p:sp>
      <p:sp>
        <p:nvSpPr>
          <p:cNvPr id="11" name="Shape 8"/>
          <p:cNvSpPr/>
          <p:nvPr/>
        </p:nvSpPr>
        <p:spPr>
          <a:xfrm>
            <a:off x="731520" y="2039112"/>
            <a:ext cx="10698480" cy="566928"/>
          </a:xfrm>
          <a:prstGeom prst="roundRect">
            <a:avLst>
              <a:gd name="adj" fmla="val 9677"/>
            </a:avLst>
          </a:prstGeom>
          <a:solidFill>
            <a:srgbClr val="EDF0EA"/>
          </a:solidFill>
          <a:ln w="9525">
            <a:solidFill>
              <a:srgbClr val="DCE3DC"/>
            </a:solidFill>
            <a:prstDash val="solid"/>
          </a:ln>
        </p:spPr>
      </p:sp>
      <p:sp>
        <p:nvSpPr>
          <p:cNvPr id="12" name="Text 9"/>
          <p:cNvSpPr txBox="1"/>
          <p:nvPr/>
        </p:nvSpPr>
        <p:spPr>
          <a:xfrm>
            <a:off x="960120" y="2039112"/>
            <a:ext cx="1544422" cy="56692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Errors</a:t>
            </a:r>
            <a:endParaRPr lang="en-US" sz="1250" dirty="0"/>
          </a:p>
        </p:txBody>
      </p:sp>
      <p:sp>
        <p:nvSpPr>
          <p:cNvPr id="13" name="Text 10"/>
          <p:cNvSpPr txBox="1"/>
          <p:nvPr/>
        </p:nvSpPr>
        <p:spPr>
          <a:xfrm>
            <a:off x="2778862" y="2039112"/>
            <a:ext cx="1865376" cy="56692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Counts</a:t>
            </a:r>
            <a:endParaRPr lang="en-US" sz="1250" dirty="0"/>
          </a:p>
        </p:txBody>
      </p:sp>
      <p:sp>
        <p:nvSpPr>
          <p:cNvPr id="14" name="Text 11"/>
          <p:cNvSpPr txBox="1"/>
          <p:nvPr/>
        </p:nvSpPr>
        <p:spPr>
          <a:xfrm>
            <a:off x="4918558" y="2039112"/>
            <a:ext cx="6465722" cy="56692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Per person per task, against an error definition written down before the counting started.</a:t>
            </a:r>
            <a:endParaRPr lang="en-US" sz="1150" dirty="0"/>
          </a:p>
        </p:txBody>
      </p:sp>
      <p:sp>
        <p:nvSpPr>
          <p:cNvPr id="15" name="Shape 12"/>
          <p:cNvSpPr/>
          <p:nvPr/>
        </p:nvSpPr>
        <p:spPr>
          <a:xfrm>
            <a:off x="731520" y="2660904"/>
            <a:ext cx="10698480" cy="566928"/>
          </a:xfrm>
          <a:prstGeom prst="roundRect">
            <a:avLst>
              <a:gd name="adj" fmla="val 9677"/>
            </a:avLst>
          </a:prstGeom>
          <a:solidFill>
            <a:srgbClr val="FFFFFF"/>
          </a:solidFill>
          <a:ln w="9525">
            <a:solidFill>
              <a:srgbClr val="DCE3DC"/>
            </a:solidFill>
            <a:prstDash val="solid"/>
          </a:ln>
        </p:spPr>
      </p:sp>
      <p:sp>
        <p:nvSpPr>
          <p:cNvPr id="16" name="Text 13"/>
          <p:cNvSpPr txBox="1"/>
          <p:nvPr/>
        </p:nvSpPr>
        <p:spPr>
          <a:xfrm>
            <a:off x="960120" y="2660904"/>
            <a:ext cx="1544422" cy="56692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Time on task</a:t>
            </a:r>
            <a:endParaRPr lang="en-US" sz="1250" dirty="0"/>
          </a:p>
        </p:txBody>
      </p:sp>
      <p:sp>
        <p:nvSpPr>
          <p:cNvPr id="17" name="Text 14"/>
          <p:cNvSpPr txBox="1"/>
          <p:nvPr/>
        </p:nvSpPr>
        <p:spPr>
          <a:xfrm>
            <a:off x="2778862" y="2660904"/>
            <a:ext cx="1865376" cy="56692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Median and range</a:t>
            </a:r>
            <a:endParaRPr lang="en-US" sz="1250" dirty="0"/>
          </a:p>
        </p:txBody>
      </p:sp>
      <p:sp>
        <p:nvSpPr>
          <p:cNvPr id="18" name="Text 15"/>
          <p:cNvSpPr txBox="1"/>
          <p:nvPr/>
        </p:nvSpPr>
        <p:spPr>
          <a:xfrm>
            <a:off x="4918558" y="2660904"/>
            <a:ext cx="6465722" cy="56692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Completers only. Say what started and stopped the clock.</a:t>
            </a:r>
            <a:endParaRPr lang="en-US" sz="1150" dirty="0"/>
          </a:p>
        </p:txBody>
      </p:sp>
      <p:sp>
        <p:nvSpPr>
          <p:cNvPr id="19" name="Shape 16"/>
          <p:cNvSpPr/>
          <p:nvPr/>
        </p:nvSpPr>
        <p:spPr>
          <a:xfrm>
            <a:off x="731520" y="3282696"/>
            <a:ext cx="10698480" cy="566928"/>
          </a:xfrm>
          <a:prstGeom prst="roundRect">
            <a:avLst>
              <a:gd name="adj" fmla="val 9677"/>
            </a:avLst>
          </a:prstGeom>
          <a:solidFill>
            <a:srgbClr val="EDF0EA"/>
          </a:solidFill>
          <a:ln w="9525">
            <a:solidFill>
              <a:srgbClr val="DCE3DC"/>
            </a:solidFill>
            <a:prstDash val="solid"/>
          </a:ln>
        </p:spPr>
      </p:sp>
      <p:sp>
        <p:nvSpPr>
          <p:cNvPr id="20" name="Text 17"/>
          <p:cNvSpPr txBox="1"/>
          <p:nvPr/>
        </p:nvSpPr>
        <p:spPr>
          <a:xfrm>
            <a:off x="960120" y="3282696"/>
            <a:ext cx="1544422" cy="56692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SUS</a:t>
            </a:r>
            <a:endParaRPr lang="en-US" sz="1250" dirty="0"/>
          </a:p>
        </p:txBody>
      </p:sp>
      <p:sp>
        <p:nvSpPr>
          <p:cNvPr id="21" name="Text 18"/>
          <p:cNvSpPr txBox="1"/>
          <p:nvPr/>
        </p:nvSpPr>
        <p:spPr>
          <a:xfrm>
            <a:off x="2778862" y="3282696"/>
            <a:ext cx="1865376" cy="56692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Mean, SD, range, n</a:t>
            </a:r>
            <a:endParaRPr lang="en-US" sz="1250" dirty="0"/>
          </a:p>
        </p:txBody>
      </p:sp>
      <p:sp>
        <p:nvSpPr>
          <p:cNvPr id="22" name="Text 19"/>
          <p:cNvSpPr txBox="1"/>
          <p:nvPr/>
        </p:nvSpPr>
        <p:spPr>
          <a:xfrm>
            <a:off x="4918558" y="3282696"/>
            <a:ext cx="6465722" cy="56692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Ten items → 0–100 (the notebook does the sum). 68 is a commonly cited midpoint, not a pass mark. With n = 18 it is indicative.</a:t>
            </a:r>
            <a:endParaRPr lang="en-US" sz="1150" dirty="0"/>
          </a:p>
        </p:txBody>
      </p:sp>
      <p:sp>
        <p:nvSpPr>
          <p:cNvPr id="23" name="Shape 20"/>
          <p:cNvSpPr/>
          <p:nvPr/>
        </p:nvSpPr>
        <p:spPr>
          <a:xfrm>
            <a:off x="731520" y="3904488"/>
            <a:ext cx="10698480" cy="566928"/>
          </a:xfrm>
          <a:prstGeom prst="roundRect">
            <a:avLst>
              <a:gd name="adj" fmla="val 9677"/>
            </a:avLst>
          </a:prstGeom>
          <a:solidFill>
            <a:srgbClr val="FFFFFF"/>
          </a:solidFill>
          <a:ln w="9525">
            <a:solidFill>
              <a:srgbClr val="DCE3DC"/>
            </a:solidFill>
            <a:prstDash val="solid"/>
          </a:ln>
        </p:spPr>
      </p:sp>
      <p:sp>
        <p:nvSpPr>
          <p:cNvPr id="24" name="Text 21"/>
          <p:cNvSpPr txBox="1"/>
          <p:nvPr/>
        </p:nvSpPr>
        <p:spPr>
          <a:xfrm>
            <a:off x="960120" y="3904488"/>
            <a:ext cx="1544422" cy="56692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NASA-TLX</a:t>
            </a:r>
            <a:endParaRPr lang="en-US" sz="1250" dirty="0"/>
          </a:p>
        </p:txBody>
      </p:sp>
      <p:sp>
        <p:nvSpPr>
          <p:cNvPr id="25" name="Text 22"/>
          <p:cNvSpPr txBox="1"/>
          <p:nvPr/>
        </p:nvSpPr>
        <p:spPr>
          <a:xfrm>
            <a:off x="2778862" y="3904488"/>
            <a:ext cx="1865376" cy="56692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Six sub-scales, then the total</a:t>
            </a:r>
            <a:endParaRPr lang="en-US" sz="1250" dirty="0"/>
          </a:p>
        </p:txBody>
      </p:sp>
      <p:sp>
        <p:nvSpPr>
          <p:cNvPr id="26" name="Text 23"/>
          <p:cNvSpPr txBox="1"/>
          <p:nvPr/>
        </p:nvSpPr>
        <p:spPr>
          <a:xfrm>
            <a:off x="4918558" y="3904488"/>
            <a:ext cx="6465722" cy="56692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Report the sub-scales — the total hides whether the load was mental, time pressure or frustration, and that is the finding.</a:t>
            </a:r>
            <a:endParaRPr lang="en-US" sz="1150" dirty="0"/>
          </a:p>
        </p:txBody>
      </p:sp>
      <p:sp>
        <p:nvSpPr>
          <p:cNvPr id="27" name="Shape 24"/>
          <p:cNvSpPr/>
          <p:nvPr/>
        </p:nvSpPr>
        <p:spPr>
          <a:xfrm>
            <a:off x="731520" y="4526280"/>
            <a:ext cx="10698480" cy="566928"/>
          </a:xfrm>
          <a:prstGeom prst="roundRect">
            <a:avLst>
              <a:gd name="adj" fmla="val 9677"/>
            </a:avLst>
          </a:prstGeom>
          <a:solidFill>
            <a:srgbClr val="EDF0EA"/>
          </a:solidFill>
          <a:ln w="9525">
            <a:solidFill>
              <a:srgbClr val="DCE3DC"/>
            </a:solidFill>
            <a:prstDash val="solid"/>
          </a:ln>
        </p:spPr>
      </p:sp>
      <p:sp>
        <p:nvSpPr>
          <p:cNvPr id="28" name="Text 25"/>
          <p:cNvSpPr txBox="1"/>
          <p:nvPr/>
        </p:nvSpPr>
        <p:spPr>
          <a:xfrm>
            <a:off x="960120" y="4526280"/>
            <a:ext cx="1544422" cy="56692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Non-completions</a:t>
            </a:r>
            <a:endParaRPr lang="en-US" sz="1250" dirty="0"/>
          </a:p>
        </p:txBody>
      </p:sp>
      <p:sp>
        <p:nvSpPr>
          <p:cNvPr id="29" name="Text 26"/>
          <p:cNvSpPr txBox="1"/>
          <p:nvPr/>
        </p:nvSpPr>
        <p:spPr>
          <a:xfrm>
            <a:off x="2778862" y="4526280"/>
            <a:ext cx="1865376" cy="56692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Never dropped</a:t>
            </a:r>
            <a:endParaRPr lang="en-US" sz="1250" dirty="0"/>
          </a:p>
        </p:txBody>
      </p:sp>
      <p:sp>
        <p:nvSpPr>
          <p:cNvPr id="30" name="Text 27"/>
          <p:cNvSpPr txBox="1"/>
          <p:nvPr/>
        </p:nvSpPr>
        <p:spPr>
          <a:xfrm>
            <a:off x="4918558" y="4526280"/>
            <a:ext cx="6465722" cy="56692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“Abandoned at 3:10 after two failed attempts” is data. Success as n of N; times for completers only.</a:t>
            </a:r>
            <a:endParaRPr lang="en-US" sz="1150" dirty="0"/>
          </a:p>
        </p:txBody>
      </p:sp>
      <p:sp>
        <p:nvSpPr>
          <p:cNvPr id="31" name="Shape 28"/>
          <p:cNvSpPr/>
          <p:nvPr/>
        </p:nvSpPr>
        <p:spPr>
          <a:xfrm>
            <a:off x="731520" y="5257800"/>
            <a:ext cx="10698480" cy="594360"/>
          </a:xfrm>
          <a:prstGeom prst="roundRect">
            <a:avLst>
              <a:gd name="adj" fmla="val 12308"/>
            </a:avLst>
          </a:prstGeom>
          <a:solidFill>
            <a:srgbClr val="F7EFDF"/>
          </a:solidFill>
          <a:ln w="12700">
            <a:solidFill>
              <a:srgbClr val="F7EFDF"/>
            </a:solidFill>
            <a:prstDash val="solid"/>
          </a:ln>
        </p:spPr>
      </p:sp>
      <p:sp>
        <p:nvSpPr>
          <p:cNvPr id="32" name="Text 29"/>
          <p:cNvSpPr txBox="1"/>
          <p:nvPr/>
        </p:nvSpPr>
        <p:spPr>
          <a:xfrm>
            <a:off x="1042416" y="5257800"/>
            <a:ext cx="10076688" cy="59436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The Colab notebook does all of this from one de-identified CSV, one row per person. Only de-identified numbers go into it. Transcripts never do.</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STEP 3 · ASK THE TWO QUESTIONS</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Two Questions You Can Ask the Numbers</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5257800" cy="2377440"/>
          </a:xfrm>
          <a:prstGeom prst="roundRect">
            <a:avLst>
              <a:gd name="adj" fmla="val 3077"/>
            </a:avLst>
          </a:prstGeom>
          <a:solidFill>
            <a:srgbClr val="FFFFFF"/>
          </a:solidFill>
          <a:ln w="9525">
            <a:solidFill>
              <a:srgbClr val="DCE3DC"/>
            </a:solidFill>
            <a:prstDash val="solid"/>
          </a:ln>
        </p:spPr>
      </p:sp>
      <p:sp>
        <p:nvSpPr>
          <p:cNvPr id="8" name="Text 5"/>
          <p:cNvSpPr txBox="1"/>
          <p:nvPr/>
        </p:nvSpPr>
        <p:spPr>
          <a:xfrm>
            <a:off x="98755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QUESTION 1</a:t>
            </a:r>
            <a:endParaRPr lang="en-US" sz="1000" dirty="0"/>
          </a:p>
        </p:txBody>
      </p:sp>
      <p:sp>
        <p:nvSpPr>
          <p:cNvPr id="9" name="Text 6"/>
          <p:cNvSpPr txBox="1"/>
          <p:nvPr/>
        </p:nvSpPr>
        <p:spPr>
          <a:xfrm>
            <a:off x="98755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Does one thing go with another?</a:t>
            </a:r>
            <a:endParaRPr lang="en-US" sz="1350" dirty="0"/>
          </a:p>
        </p:txBody>
      </p:sp>
      <p:sp>
        <p:nvSpPr>
          <p:cNvPr id="10" name="Text 7"/>
          <p:cNvSpPr txBox="1"/>
          <p:nvPr/>
        </p:nvSpPr>
        <p:spPr>
          <a:xfrm>
            <a:off x="987552" y="2267712"/>
            <a:ext cx="4745736" cy="14356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Does a person’s confidence go with their SUS score? Does age go with time on task?</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Called association. The picture is a scatterplot: one dot per person, one thing across, the other up.</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You are asking whether the dots drift in a direction — not whether one causes the other.</a:t>
            </a:r>
            <a:endParaRPr lang="en-US" sz="1250" dirty="0"/>
          </a:p>
        </p:txBody>
      </p:sp>
      <p:sp>
        <p:nvSpPr>
          <p:cNvPr id="11" name="Shape 8"/>
          <p:cNvSpPr/>
          <p:nvPr/>
        </p:nvSpPr>
        <p:spPr>
          <a:xfrm>
            <a:off x="6172200" y="1463040"/>
            <a:ext cx="5257800" cy="2377440"/>
          </a:xfrm>
          <a:prstGeom prst="roundRect">
            <a:avLst>
              <a:gd name="adj" fmla="val 3077"/>
            </a:avLst>
          </a:prstGeom>
          <a:solidFill>
            <a:srgbClr val="EDF0EA"/>
          </a:solidFill>
          <a:ln w="9525">
            <a:solidFill>
              <a:srgbClr val="EDF0EA"/>
            </a:solidFill>
            <a:prstDash val="solid"/>
          </a:ln>
        </p:spPr>
      </p:sp>
      <p:sp>
        <p:nvSpPr>
          <p:cNvPr id="12" name="Text 9"/>
          <p:cNvSpPr txBox="1"/>
          <p:nvPr/>
        </p:nvSpPr>
        <p:spPr>
          <a:xfrm>
            <a:off x="642823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QUESTION 2</a:t>
            </a:r>
            <a:endParaRPr lang="en-US" sz="1000" dirty="0"/>
          </a:p>
        </p:txBody>
      </p:sp>
      <p:sp>
        <p:nvSpPr>
          <p:cNvPr id="13" name="Text 10"/>
          <p:cNvSpPr txBox="1"/>
          <p:nvPr/>
        </p:nvSpPr>
        <p:spPr>
          <a:xfrm>
            <a:off x="642823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Do two groups differ?</a:t>
            </a:r>
            <a:endParaRPr lang="en-US" sz="1350" dirty="0"/>
          </a:p>
        </p:txBody>
      </p:sp>
      <p:sp>
        <p:nvSpPr>
          <p:cNvPr id="14" name="Text 11"/>
          <p:cNvSpPr txBox="1"/>
          <p:nvPr/>
        </p:nvSpPr>
        <p:spPr>
          <a:xfrm>
            <a:off x="6428232" y="2267712"/>
            <a:ext cx="4745736" cy="14356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Did people with a prior planning habit finish faster than those without? Did more high-confidence people complete unaided?</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Called difference. The picture is two columns of dots side by side, medians marked — or a 2×2 count table for yes/no outcomes.</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You are asking whether one group tends to sit higher — not why.</a:t>
            </a:r>
            <a:endParaRPr lang="en-US" sz="1250" dirty="0"/>
          </a:p>
        </p:txBody>
      </p:sp>
      <p:sp>
        <p:nvSpPr>
          <p:cNvPr id="15" name="Shape 12"/>
          <p:cNvSpPr/>
          <p:nvPr/>
        </p:nvSpPr>
        <p:spPr>
          <a:xfrm>
            <a:off x="731520" y="4069080"/>
            <a:ext cx="10698480" cy="822960"/>
          </a:xfrm>
          <a:prstGeom prst="roundRect">
            <a:avLst>
              <a:gd name="adj" fmla="val 8889"/>
            </a:avLst>
          </a:prstGeom>
          <a:solidFill>
            <a:srgbClr val="13403B"/>
          </a:solidFill>
          <a:ln w="12700">
            <a:solidFill>
              <a:srgbClr val="13403B"/>
            </a:solidFill>
            <a:prstDash val="solid"/>
          </a:ln>
        </p:spPr>
      </p:sp>
      <p:sp>
        <p:nvSpPr>
          <p:cNvPr id="16" name="Text 13"/>
          <p:cNvSpPr txBox="1"/>
          <p:nvPr/>
        </p:nvSpPr>
        <p:spPr>
          <a:xfrm>
            <a:off x="1024128" y="4069080"/>
            <a:ext cx="10113264"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One rule for both: look at the picture before you look at any number. If the picture shows nothing, there is nothing to report — whatever the number says. If one dot is doing all the work, say so.</a:t>
            </a:r>
            <a:endParaRPr lang="en-US" sz="1400" dirty="0"/>
          </a:p>
        </p:txBody>
      </p:sp>
      <p:sp>
        <p:nvSpPr>
          <p:cNvPr id="17" name="Shape 14"/>
          <p:cNvSpPr/>
          <p:nvPr/>
        </p:nvSpPr>
        <p:spPr>
          <a:xfrm>
            <a:off x="731520" y="5074920"/>
            <a:ext cx="10698480" cy="777240"/>
          </a:xfrm>
          <a:prstGeom prst="roundRect">
            <a:avLst>
              <a:gd name="adj" fmla="val 9412"/>
            </a:avLst>
          </a:prstGeom>
          <a:solidFill>
            <a:srgbClr val="F7EFDF"/>
          </a:solidFill>
          <a:ln w="12700">
            <a:solidFill>
              <a:srgbClr val="F7EFDF"/>
            </a:solidFill>
            <a:prstDash val="solid"/>
          </a:ln>
        </p:spPr>
      </p:sp>
      <p:sp>
        <p:nvSpPr>
          <p:cNvPr id="18" name="Text 15"/>
          <p:cNvSpPr txBox="1"/>
          <p:nvPr/>
        </p:nvSpPr>
        <p:spPr>
          <a:xfrm>
            <a:off x="1042416" y="5074920"/>
            <a:ext cx="10076688" cy="77724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Every tool on the next slide also gives a p-value: how surprising a pattern this big would be if there were really nothing there. With eighteen people, only a big pattern is surprising. So p = .07 is not a failure, and p = .03 is not proof.</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STEP 3 · ONE TOOL PER QUESTION AND KIND OF DATA</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The Four Tools the Notebook Uses</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17320"/>
            <a:ext cx="10698480" cy="841248"/>
          </a:xfrm>
          <a:prstGeom prst="roundRect">
            <a:avLst>
              <a:gd name="adj" fmla="val 6522"/>
            </a:avLst>
          </a:prstGeom>
          <a:solidFill>
            <a:srgbClr val="FFFFFF"/>
          </a:solidFill>
          <a:ln w="9525">
            <a:solidFill>
              <a:srgbClr val="DCE3DC"/>
            </a:solidFill>
            <a:prstDash val="solid"/>
          </a:ln>
        </p:spPr>
      </p:sp>
      <p:sp>
        <p:nvSpPr>
          <p:cNvPr id="8" name="Text 5"/>
          <p:cNvSpPr txBox="1"/>
          <p:nvPr/>
        </p:nvSpPr>
        <p:spPr>
          <a:xfrm>
            <a:off x="960120" y="1417320"/>
            <a:ext cx="1758391" cy="84124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Spearman’s ρ (rho)</a:t>
            </a:r>
            <a:endParaRPr lang="en-US" sz="1250" dirty="0"/>
          </a:p>
        </p:txBody>
      </p:sp>
      <p:sp>
        <p:nvSpPr>
          <p:cNvPr id="9" name="Text 6"/>
          <p:cNvSpPr txBox="1"/>
          <p:nvPr/>
        </p:nvSpPr>
        <p:spPr>
          <a:xfrm>
            <a:off x="2992831" y="1417320"/>
            <a:ext cx="2079346" cy="84124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Q1 · Association</a:t>
            </a:r>
            <a:endParaRPr lang="en-US" sz="1250" dirty="0"/>
          </a:p>
          <a:p>
            <a:pPr indent="0" marL="0">
              <a:buNone/>
            </a:pPr>
            <a:r>
              <a:rPr lang="en-US" sz="1250" b="1" dirty="0">
                <a:solidFill>
                  <a:srgbClr val="8A5F22"/>
                </a:solidFill>
                <a:latin typeface="Arial" pitchFamily="34" charset="0"/>
                <a:ea typeface="Arial" pitchFamily="34" charset="-122"/>
                <a:cs typeface="Arial" pitchFamily="34" charset="-120"/>
              </a:rPr>
              <a:t>Ordered or measured</a:t>
            </a:r>
            <a:endParaRPr lang="en-US" sz="1250" dirty="0"/>
          </a:p>
        </p:txBody>
      </p:sp>
      <p:sp>
        <p:nvSpPr>
          <p:cNvPr id="10" name="Text 7"/>
          <p:cNvSpPr txBox="1"/>
          <p:nvPr/>
        </p:nvSpPr>
        <p:spPr>
          <a:xfrm>
            <a:off x="5346497" y="1417320"/>
            <a:ext cx="6037783" cy="84124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Puts both things in rank order and asks: do the ranks move together? Gives a number from −1 to +1 — sign is direction, size is strength. An extreme value cannot drag it. The default.</a:t>
            </a:r>
            <a:endParaRPr lang="en-US" sz="1150" dirty="0"/>
          </a:p>
        </p:txBody>
      </p:sp>
      <p:sp>
        <p:nvSpPr>
          <p:cNvPr id="11" name="Shape 8"/>
          <p:cNvSpPr/>
          <p:nvPr/>
        </p:nvSpPr>
        <p:spPr>
          <a:xfrm>
            <a:off x="731520" y="2313432"/>
            <a:ext cx="10698480" cy="841248"/>
          </a:xfrm>
          <a:prstGeom prst="roundRect">
            <a:avLst>
              <a:gd name="adj" fmla="val 6522"/>
            </a:avLst>
          </a:prstGeom>
          <a:solidFill>
            <a:srgbClr val="EDF0EA"/>
          </a:solidFill>
          <a:ln w="9525">
            <a:solidFill>
              <a:srgbClr val="DCE3DC"/>
            </a:solidFill>
            <a:prstDash val="solid"/>
          </a:ln>
        </p:spPr>
      </p:sp>
      <p:sp>
        <p:nvSpPr>
          <p:cNvPr id="12" name="Text 9"/>
          <p:cNvSpPr txBox="1"/>
          <p:nvPr/>
        </p:nvSpPr>
        <p:spPr>
          <a:xfrm>
            <a:off x="960120" y="2313432"/>
            <a:ext cx="1758391" cy="84124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Pearson’s r</a:t>
            </a:r>
            <a:endParaRPr lang="en-US" sz="1250" dirty="0"/>
          </a:p>
        </p:txBody>
      </p:sp>
      <p:sp>
        <p:nvSpPr>
          <p:cNvPr id="13" name="Text 10"/>
          <p:cNvSpPr txBox="1"/>
          <p:nvPr/>
        </p:nvSpPr>
        <p:spPr>
          <a:xfrm>
            <a:off x="2992831" y="2313432"/>
            <a:ext cx="2079346" cy="84124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Q1 · Association</a:t>
            </a:r>
            <a:endParaRPr lang="en-US" sz="1250" dirty="0"/>
          </a:p>
          <a:p>
            <a:pPr indent="0" marL="0">
              <a:buNone/>
            </a:pPr>
            <a:r>
              <a:rPr lang="en-US" sz="1250" b="1" dirty="0">
                <a:solidFill>
                  <a:srgbClr val="8A5F22"/>
                </a:solidFill>
                <a:latin typeface="Arial" pitchFamily="34" charset="0"/>
                <a:ea typeface="Arial" pitchFamily="34" charset="-122"/>
                <a:cs typeface="Arial" pitchFamily="34" charset="-120"/>
              </a:rPr>
              <a:t>Measured only</a:t>
            </a:r>
            <a:endParaRPr lang="en-US" sz="1250" dirty="0"/>
          </a:p>
        </p:txBody>
      </p:sp>
      <p:sp>
        <p:nvSpPr>
          <p:cNvPr id="14" name="Text 11"/>
          <p:cNvSpPr txBox="1"/>
          <p:nvPr/>
        </p:nvSpPr>
        <p:spPr>
          <a:xfrm>
            <a:off x="5346497" y="2313432"/>
            <a:ext cx="6037783" cy="84124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Asks: is there a straight line through the actual values? Also −1 to +1. One extreme person can make or break it — so use it only when the scatterplot looks like a line.</a:t>
            </a:r>
            <a:endParaRPr lang="en-US" sz="1150" dirty="0"/>
          </a:p>
        </p:txBody>
      </p:sp>
      <p:sp>
        <p:nvSpPr>
          <p:cNvPr id="15" name="Shape 12"/>
          <p:cNvSpPr/>
          <p:nvPr/>
        </p:nvSpPr>
        <p:spPr>
          <a:xfrm>
            <a:off x="731520" y="3209544"/>
            <a:ext cx="10698480" cy="841248"/>
          </a:xfrm>
          <a:prstGeom prst="roundRect">
            <a:avLst>
              <a:gd name="adj" fmla="val 6522"/>
            </a:avLst>
          </a:prstGeom>
          <a:solidFill>
            <a:srgbClr val="FFFFFF"/>
          </a:solidFill>
          <a:ln w="9525">
            <a:solidFill>
              <a:srgbClr val="DCE3DC"/>
            </a:solidFill>
            <a:prstDash val="solid"/>
          </a:ln>
        </p:spPr>
      </p:sp>
      <p:sp>
        <p:nvSpPr>
          <p:cNvPr id="16" name="Text 13"/>
          <p:cNvSpPr txBox="1"/>
          <p:nvPr/>
        </p:nvSpPr>
        <p:spPr>
          <a:xfrm>
            <a:off x="960120" y="3209544"/>
            <a:ext cx="1758391" cy="84124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Mann–Whitney U</a:t>
            </a:r>
            <a:endParaRPr lang="en-US" sz="1250" dirty="0"/>
          </a:p>
        </p:txBody>
      </p:sp>
      <p:sp>
        <p:nvSpPr>
          <p:cNvPr id="17" name="Text 14"/>
          <p:cNvSpPr txBox="1"/>
          <p:nvPr/>
        </p:nvSpPr>
        <p:spPr>
          <a:xfrm>
            <a:off x="2992831" y="3209544"/>
            <a:ext cx="2079346" cy="84124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Q2 · Difference</a:t>
            </a:r>
            <a:endParaRPr lang="en-US" sz="1250" dirty="0"/>
          </a:p>
          <a:p>
            <a:pPr indent="0" marL="0">
              <a:buNone/>
            </a:pPr>
            <a:r>
              <a:rPr lang="en-US" sz="1250" b="1" dirty="0">
                <a:solidFill>
                  <a:srgbClr val="8A5F22"/>
                </a:solidFill>
                <a:latin typeface="Arial" pitchFamily="34" charset="0"/>
                <a:ea typeface="Arial" pitchFamily="34" charset="-122"/>
                <a:cs typeface="Arial" pitchFamily="34" charset="-120"/>
              </a:rPr>
              <a:t>Measured or ordered outcome</a:t>
            </a:r>
            <a:endParaRPr lang="en-US" sz="1250" dirty="0"/>
          </a:p>
        </p:txBody>
      </p:sp>
      <p:sp>
        <p:nvSpPr>
          <p:cNvPr id="18" name="Text 15"/>
          <p:cNvSpPr txBox="1"/>
          <p:nvPr/>
        </p:nvSpPr>
        <p:spPr>
          <a:xfrm>
            <a:off x="5346497" y="3209544"/>
            <a:ext cx="6037783" cy="84124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Ranks everyone from both groups together and asks: does one group tend to sit higher? No assumptions about the shape of the data. Use it for time, errors or SUS between two groups.</a:t>
            </a:r>
            <a:endParaRPr lang="en-US" sz="1150" dirty="0"/>
          </a:p>
        </p:txBody>
      </p:sp>
      <p:sp>
        <p:nvSpPr>
          <p:cNvPr id="19" name="Shape 16"/>
          <p:cNvSpPr/>
          <p:nvPr/>
        </p:nvSpPr>
        <p:spPr>
          <a:xfrm>
            <a:off x="731520" y="4105656"/>
            <a:ext cx="10698480" cy="841248"/>
          </a:xfrm>
          <a:prstGeom prst="roundRect">
            <a:avLst>
              <a:gd name="adj" fmla="val 6522"/>
            </a:avLst>
          </a:prstGeom>
          <a:solidFill>
            <a:srgbClr val="EDF0EA"/>
          </a:solidFill>
          <a:ln w="9525">
            <a:solidFill>
              <a:srgbClr val="DCE3DC"/>
            </a:solidFill>
            <a:prstDash val="solid"/>
          </a:ln>
        </p:spPr>
      </p:sp>
      <p:sp>
        <p:nvSpPr>
          <p:cNvPr id="20" name="Text 17"/>
          <p:cNvSpPr txBox="1"/>
          <p:nvPr/>
        </p:nvSpPr>
        <p:spPr>
          <a:xfrm>
            <a:off x="960120" y="4105656"/>
            <a:ext cx="1758391" cy="841248"/>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Fisher’s exact</a:t>
            </a:r>
            <a:endParaRPr lang="en-US" sz="1250" dirty="0"/>
          </a:p>
        </p:txBody>
      </p:sp>
      <p:sp>
        <p:nvSpPr>
          <p:cNvPr id="21" name="Text 18"/>
          <p:cNvSpPr txBox="1"/>
          <p:nvPr/>
        </p:nvSpPr>
        <p:spPr>
          <a:xfrm>
            <a:off x="2992831" y="4105656"/>
            <a:ext cx="2079346" cy="841248"/>
          </a:xfrm>
          <a:prstGeom prst="rect">
            <a:avLst/>
          </a:prstGeom>
          <a:noFill/>
          <a:ln/>
        </p:spPr>
        <p:txBody>
          <a:bodyPr wrap="square" lIns="0" tIns="0" rIns="0" bIns="0" rtlCol="0" anchor="ctr"/>
          <a:lstStyle/>
          <a:p>
            <a:pPr indent="0" marL="0">
              <a:buNone/>
            </a:pPr>
            <a:r>
              <a:rPr lang="en-US" sz="1250" b="1" dirty="0">
                <a:solidFill>
                  <a:srgbClr val="8A5F22"/>
                </a:solidFill>
                <a:latin typeface="Arial" pitchFamily="34" charset="0"/>
                <a:ea typeface="Arial" pitchFamily="34" charset="-122"/>
                <a:cs typeface="Arial" pitchFamily="34" charset="-120"/>
              </a:rPr>
              <a:t>Q2 · Difference</a:t>
            </a:r>
            <a:endParaRPr lang="en-US" sz="1250" dirty="0"/>
          </a:p>
          <a:p>
            <a:pPr indent="0" marL="0">
              <a:buNone/>
            </a:pPr>
            <a:r>
              <a:rPr lang="en-US" sz="1250" b="1" dirty="0">
                <a:solidFill>
                  <a:srgbClr val="8A5F22"/>
                </a:solidFill>
                <a:latin typeface="Arial" pitchFamily="34" charset="0"/>
                <a:ea typeface="Arial" pitchFamily="34" charset="-122"/>
                <a:cs typeface="Arial" pitchFamily="34" charset="-120"/>
              </a:rPr>
              <a:t>Yes / no outcome</a:t>
            </a:r>
            <a:endParaRPr lang="en-US" sz="1250" dirty="0"/>
          </a:p>
        </p:txBody>
      </p:sp>
      <p:sp>
        <p:nvSpPr>
          <p:cNvPr id="22" name="Text 19"/>
          <p:cNvSpPr txBox="1"/>
          <p:nvPr/>
        </p:nvSpPr>
        <p:spPr>
          <a:xfrm>
            <a:off x="5346497" y="4105656"/>
            <a:ext cx="6037783" cy="841248"/>
          </a:xfrm>
          <a:prstGeom prst="rect">
            <a:avLst/>
          </a:prstGeom>
          <a:noFill/>
          <a:ln/>
        </p:spPr>
        <p:txBody>
          <a:bodyPr wrap="square" lIns="0" tIns="0" rIns="0" bIns="0" rtlCol="0" anchor="ctr"/>
          <a:lstStyle/>
          <a:p>
            <a:pPr indent="0" marL="0">
              <a:buNone/>
            </a:pPr>
            <a:r>
              <a:rPr lang="en-US" sz="1150" dirty="0">
                <a:solidFill>
                  <a:srgbClr val="23302C"/>
                </a:solidFill>
                <a:latin typeface="Calibri" pitchFamily="34" charset="0"/>
                <a:ea typeface="Calibri" pitchFamily="34" charset="-122"/>
                <a:cs typeface="Calibri" pitchFamily="34" charset="-120"/>
              </a:rPr>
              <a:t>For the 2×2 count table — completed or not, in group A and group B. Asks: how unlikely is a split this uneven? Exact at small counts, where chi-square is not.</a:t>
            </a:r>
            <a:endParaRPr lang="en-US" sz="1150" dirty="0"/>
          </a:p>
        </p:txBody>
      </p:sp>
      <p:sp>
        <p:nvSpPr>
          <p:cNvPr id="23" name="Shape 20"/>
          <p:cNvSpPr/>
          <p:nvPr/>
        </p:nvSpPr>
        <p:spPr>
          <a:xfrm>
            <a:off x="731520" y="5166360"/>
            <a:ext cx="10698480" cy="685800"/>
          </a:xfrm>
          <a:prstGeom prst="roundRect">
            <a:avLst>
              <a:gd name="adj" fmla="val 10667"/>
            </a:avLst>
          </a:prstGeom>
          <a:solidFill>
            <a:srgbClr val="13403B"/>
          </a:solidFill>
          <a:ln w="12700">
            <a:solidFill>
              <a:srgbClr val="13403B"/>
            </a:solidFill>
            <a:prstDash val="solid"/>
          </a:ln>
        </p:spPr>
      </p:sp>
      <p:sp>
        <p:nvSpPr>
          <p:cNvPr id="24" name="Text 21"/>
          <p:cNvSpPr txBox="1"/>
          <p:nvPr/>
        </p:nvSpPr>
        <p:spPr>
          <a:xfrm>
            <a:off x="1024128" y="5166360"/>
            <a:ext cx="10113264"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None of them says why. None of them says cause. None of them says anything about people who were not in the room. That is what the six interviewees are for.</a:t>
            </a:r>
            <a:endParaRPr lang="en-US" sz="1400" dirty="0"/>
          </a:p>
        </p:txBody>
      </p:sp>
      <p:sp>
        <p:nvSpPr>
          <p:cNvPr id="25" name="Text 22"/>
          <p:cNvSpPr txBox="1"/>
          <p:nvPr/>
        </p:nvSpPr>
        <p:spPr>
          <a:xfrm>
            <a:off x="731520" y="594360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How big is big? For ρ: below 0.3 weak, 0.3–0.5 moderate, above 0.5 strong — as a description of this sample. With n = 18, ρ needs to reach about 0.47 before p &lt; .05.</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QUESTION 1 · DONE CAREFULLY</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Does One Thing Go With Another?</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0698480" cy="621792"/>
          </a:xfrm>
          <a:prstGeom prst="roundRect">
            <a:avLst>
              <a:gd name="adj" fmla="val 8824"/>
            </a:avLst>
          </a:prstGeom>
          <a:solidFill>
            <a:srgbClr val="FFFFFF"/>
          </a:solidFill>
          <a:ln w="9525">
            <a:solidFill>
              <a:srgbClr val="DCE3DC"/>
            </a:solidFill>
            <a:prstDash val="solid"/>
          </a:ln>
        </p:spPr>
      </p:sp>
      <p:sp>
        <p:nvSpPr>
          <p:cNvPr id="8" name="Shape 5"/>
          <p:cNvSpPr/>
          <p:nvPr/>
        </p:nvSpPr>
        <p:spPr>
          <a:xfrm>
            <a:off x="969264" y="1591056"/>
            <a:ext cx="365760" cy="365760"/>
          </a:xfrm>
          <a:prstGeom prst="roundRect">
            <a:avLst>
              <a:gd name="adj" fmla="val 15000"/>
            </a:avLst>
          </a:prstGeom>
          <a:solidFill>
            <a:srgbClr val="8A5F22"/>
          </a:solidFill>
          <a:ln w="12700">
            <a:solidFill>
              <a:srgbClr val="8A5F22"/>
            </a:solidFill>
            <a:prstDash val="solid"/>
          </a:ln>
        </p:spPr>
      </p:sp>
      <p:sp>
        <p:nvSpPr>
          <p:cNvPr id="9" name="Text 6"/>
          <p:cNvSpPr txBox="1"/>
          <p:nvPr/>
        </p:nvSpPr>
        <p:spPr>
          <a:xfrm>
            <a:off x="969264" y="15910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1508760" y="1463040"/>
            <a:ext cx="9692640" cy="621792"/>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Decide before you compute.</a:t>
            </a:r>
            <a:pPr indent="0" marL="0">
              <a:buNone/>
            </a:pPr>
            <a:r>
              <a:rPr lang="en-US" sz="1300" dirty="0">
                <a:solidFill>
                  <a:srgbClr val="23302C"/>
                </a:solidFill>
                <a:latin typeface="Calibri" pitchFamily="34" charset="0"/>
                <a:ea typeface="Calibri" pitchFamily="34" charset="-122"/>
                <a:cs typeface="Calibri" pitchFamily="34" charset="-120"/>
              </a:rPr>
              <a:t>  Write down the two or three pairs your committed questions care about, and why. Run those. Anything else is exploratory and labelled as such.</a:t>
            </a:r>
            <a:endParaRPr lang="en-US" sz="1300" dirty="0"/>
          </a:p>
        </p:txBody>
      </p:sp>
      <p:sp>
        <p:nvSpPr>
          <p:cNvPr id="11" name="Shape 8"/>
          <p:cNvSpPr/>
          <p:nvPr/>
        </p:nvSpPr>
        <p:spPr>
          <a:xfrm>
            <a:off x="731520" y="2139696"/>
            <a:ext cx="10698480" cy="621792"/>
          </a:xfrm>
          <a:prstGeom prst="roundRect">
            <a:avLst>
              <a:gd name="adj" fmla="val 8824"/>
            </a:avLst>
          </a:prstGeom>
          <a:solidFill>
            <a:srgbClr val="EDF0EA"/>
          </a:solidFill>
          <a:ln w="9525">
            <a:solidFill>
              <a:srgbClr val="DCE3DC"/>
            </a:solidFill>
            <a:prstDash val="solid"/>
          </a:ln>
        </p:spPr>
      </p:sp>
      <p:sp>
        <p:nvSpPr>
          <p:cNvPr id="12" name="Shape 9"/>
          <p:cNvSpPr/>
          <p:nvPr/>
        </p:nvSpPr>
        <p:spPr>
          <a:xfrm>
            <a:off x="969264" y="2267712"/>
            <a:ext cx="365760" cy="365760"/>
          </a:xfrm>
          <a:prstGeom prst="roundRect">
            <a:avLst>
              <a:gd name="adj" fmla="val 15000"/>
            </a:avLst>
          </a:prstGeom>
          <a:solidFill>
            <a:srgbClr val="8A5F22"/>
          </a:solidFill>
          <a:ln w="12700">
            <a:solidFill>
              <a:srgbClr val="8A5F22"/>
            </a:solidFill>
            <a:prstDash val="solid"/>
          </a:ln>
        </p:spPr>
      </p:sp>
      <p:sp>
        <p:nvSpPr>
          <p:cNvPr id="13" name="Text 10"/>
          <p:cNvSpPr txBox="1"/>
          <p:nvPr/>
        </p:nvSpPr>
        <p:spPr>
          <a:xfrm>
            <a:off x="969264" y="2267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1"/>
          <p:cNvSpPr txBox="1"/>
          <p:nvPr/>
        </p:nvSpPr>
        <p:spPr>
          <a:xfrm>
            <a:off x="1508760" y="2139696"/>
            <a:ext cx="9692640" cy="621792"/>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Plot first.</a:t>
            </a:r>
            <a:pPr indent="0" marL="0">
              <a:buNone/>
            </a:pPr>
            <a:r>
              <a:rPr lang="en-US" sz="1300" dirty="0">
                <a:solidFill>
                  <a:srgbClr val="23302C"/>
                </a:solidFill>
                <a:latin typeface="Calibri" pitchFamily="34" charset="0"/>
                <a:ea typeface="Calibri" pitchFamily="34" charset="-122"/>
                <a:cs typeface="Calibri" pitchFamily="34" charset="-120"/>
              </a:rPr>
              <a:t>  One dot per person. Nothing to see means nothing to report. One dot doing the work means say so.</a:t>
            </a:r>
            <a:endParaRPr lang="en-US" sz="1300" dirty="0"/>
          </a:p>
        </p:txBody>
      </p:sp>
      <p:sp>
        <p:nvSpPr>
          <p:cNvPr id="15" name="Shape 12"/>
          <p:cNvSpPr/>
          <p:nvPr/>
        </p:nvSpPr>
        <p:spPr>
          <a:xfrm>
            <a:off x="731520" y="2816352"/>
            <a:ext cx="10698480" cy="621792"/>
          </a:xfrm>
          <a:prstGeom prst="roundRect">
            <a:avLst>
              <a:gd name="adj" fmla="val 8824"/>
            </a:avLst>
          </a:prstGeom>
          <a:solidFill>
            <a:srgbClr val="FFFFFF"/>
          </a:solidFill>
          <a:ln w="9525">
            <a:solidFill>
              <a:srgbClr val="DCE3DC"/>
            </a:solidFill>
            <a:prstDash val="solid"/>
          </a:ln>
        </p:spPr>
      </p:sp>
      <p:sp>
        <p:nvSpPr>
          <p:cNvPr id="16" name="Shape 13"/>
          <p:cNvSpPr/>
          <p:nvPr/>
        </p:nvSpPr>
        <p:spPr>
          <a:xfrm>
            <a:off x="969264" y="2944368"/>
            <a:ext cx="365760" cy="365760"/>
          </a:xfrm>
          <a:prstGeom prst="roundRect">
            <a:avLst>
              <a:gd name="adj" fmla="val 15000"/>
            </a:avLst>
          </a:prstGeom>
          <a:solidFill>
            <a:srgbClr val="8A5F22"/>
          </a:solidFill>
          <a:ln w="12700">
            <a:solidFill>
              <a:srgbClr val="8A5F22"/>
            </a:solidFill>
            <a:prstDash val="solid"/>
          </a:ln>
        </p:spPr>
      </p:sp>
      <p:sp>
        <p:nvSpPr>
          <p:cNvPr id="17" name="Text 14"/>
          <p:cNvSpPr txBox="1"/>
          <p:nvPr/>
        </p:nvSpPr>
        <p:spPr>
          <a:xfrm>
            <a:off x="969264" y="29443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txBox="1"/>
          <p:nvPr/>
        </p:nvSpPr>
        <p:spPr>
          <a:xfrm>
            <a:off x="1508760" y="2816352"/>
            <a:ext cx="9692640" cy="621792"/>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Use Spearman unless both things are measured and the plot looks like a line.</a:t>
            </a:r>
            <a:pPr indent="0" marL="0">
              <a:buNone/>
            </a:pPr>
            <a:r>
              <a:rPr lang="en-US" sz="1300" dirty="0">
                <a:solidFill>
                  <a:srgbClr val="23302C"/>
                </a:solidFill>
                <a:latin typeface="Calibri" pitchFamily="34" charset="0"/>
                <a:ea typeface="Calibri" pitchFamily="34" charset="-122"/>
                <a:cs typeface="Calibri" pitchFamily="34" charset="-120"/>
              </a:rPr>
              <a:t>  Then Pearson as well. If the two disagree, an extreme value is why — the plot shows which person.</a:t>
            </a:r>
            <a:endParaRPr lang="en-US" sz="1300" dirty="0"/>
          </a:p>
        </p:txBody>
      </p:sp>
      <p:sp>
        <p:nvSpPr>
          <p:cNvPr id="19" name="Shape 16"/>
          <p:cNvSpPr/>
          <p:nvPr/>
        </p:nvSpPr>
        <p:spPr>
          <a:xfrm>
            <a:off x="731520" y="3493008"/>
            <a:ext cx="10698480" cy="621792"/>
          </a:xfrm>
          <a:prstGeom prst="roundRect">
            <a:avLst>
              <a:gd name="adj" fmla="val 8824"/>
            </a:avLst>
          </a:prstGeom>
          <a:solidFill>
            <a:srgbClr val="EDF0EA"/>
          </a:solidFill>
          <a:ln w="9525">
            <a:solidFill>
              <a:srgbClr val="DCE3DC"/>
            </a:solidFill>
            <a:prstDash val="solid"/>
          </a:ln>
        </p:spPr>
      </p:sp>
      <p:sp>
        <p:nvSpPr>
          <p:cNvPr id="20" name="Shape 17"/>
          <p:cNvSpPr/>
          <p:nvPr/>
        </p:nvSpPr>
        <p:spPr>
          <a:xfrm>
            <a:off x="969264" y="3621024"/>
            <a:ext cx="365760" cy="365760"/>
          </a:xfrm>
          <a:prstGeom prst="roundRect">
            <a:avLst>
              <a:gd name="adj" fmla="val 15000"/>
            </a:avLst>
          </a:prstGeom>
          <a:solidFill>
            <a:srgbClr val="8A5F22"/>
          </a:solidFill>
          <a:ln w="12700">
            <a:solidFill>
              <a:srgbClr val="8A5F22"/>
            </a:solidFill>
            <a:prstDash val="solid"/>
          </a:ln>
        </p:spPr>
      </p:sp>
      <p:sp>
        <p:nvSpPr>
          <p:cNvPr id="21" name="Text 18"/>
          <p:cNvSpPr txBox="1"/>
          <p:nvPr/>
        </p:nvSpPr>
        <p:spPr>
          <a:xfrm>
            <a:off x="969264" y="362102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2" name="Text 19"/>
          <p:cNvSpPr txBox="1"/>
          <p:nvPr/>
        </p:nvSpPr>
        <p:spPr>
          <a:xfrm>
            <a:off x="1508760" y="3493008"/>
            <a:ext cx="9692640" cy="621792"/>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Read the size, then the p.</a:t>
            </a:r>
            <a:pPr indent="0" marL="0">
              <a:buNone/>
            </a:pPr>
            <a:r>
              <a:rPr lang="en-US" sz="1300" dirty="0">
                <a:solidFill>
                  <a:srgbClr val="23302C"/>
                </a:solidFill>
                <a:latin typeface="Calibri" pitchFamily="34" charset="0"/>
                <a:ea typeface="Calibri" pitchFamily="34" charset="-122"/>
                <a:cs typeface="Calibri" pitchFamily="34" charset="-120"/>
              </a:rPr>
              <a:t>  Weak, moderate or strong, as a description of these eighteen. Then how surprising it would be if there were nothing there.</a:t>
            </a:r>
            <a:endParaRPr lang="en-US" sz="1300" dirty="0"/>
          </a:p>
        </p:txBody>
      </p:sp>
      <p:sp>
        <p:nvSpPr>
          <p:cNvPr id="23" name="Shape 20"/>
          <p:cNvSpPr/>
          <p:nvPr/>
        </p:nvSpPr>
        <p:spPr>
          <a:xfrm>
            <a:off x="731520" y="4169664"/>
            <a:ext cx="10698480" cy="621792"/>
          </a:xfrm>
          <a:prstGeom prst="roundRect">
            <a:avLst>
              <a:gd name="adj" fmla="val 8824"/>
            </a:avLst>
          </a:prstGeom>
          <a:solidFill>
            <a:srgbClr val="FFFFFF"/>
          </a:solidFill>
          <a:ln w="9525">
            <a:solidFill>
              <a:srgbClr val="DCE3DC"/>
            </a:solidFill>
            <a:prstDash val="solid"/>
          </a:ln>
        </p:spPr>
      </p:sp>
      <p:sp>
        <p:nvSpPr>
          <p:cNvPr id="24" name="Shape 21"/>
          <p:cNvSpPr/>
          <p:nvPr/>
        </p:nvSpPr>
        <p:spPr>
          <a:xfrm>
            <a:off x="969264" y="4297680"/>
            <a:ext cx="365760" cy="365760"/>
          </a:xfrm>
          <a:prstGeom prst="roundRect">
            <a:avLst>
              <a:gd name="adj" fmla="val 15000"/>
            </a:avLst>
          </a:prstGeom>
          <a:solidFill>
            <a:srgbClr val="8A5F22"/>
          </a:solidFill>
          <a:ln w="12700">
            <a:solidFill>
              <a:srgbClr val="8A5F22"/>
            </a:solidFill>
            <a:prstDash val="solid"/>
          </a:ln>
        </p:spPr>
      </p:sp>
      <p:sp>
        <p:nvSpPr>
          <p:cNvPr id="25" name="Text 22"/>
          <p:cNvSpPr txBox="1"/>
          <p:nvPr/>
        </p:nvSpPr>
        <p:spPr>
          <a:xfrm>
            <a:off x="969264" y="42976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6" name="Text 23"/>
          <p:cNvSpPr txBox="1"/>
          <p:nvPr/>
        </p:nvSpPr>
        <p:spPr>
          <a:xfrm>
            <a:off x="1508760" y="4169664"/>
            <a:ext cx="9692640" cy="621792"/>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Report ρ, n and p together — never p alone.</a:t>
            </a:r>
            <a:pPr indent="0" marL="0">
              <a:buNone/>
            </a:pPr>
            <a:r>
              <a:rPr lang="en-US" sz="1300" dirty="0">
                <a:solidFill>
                  <a:srgbClr val="23302C"/>
                </a:solidFill>
                <a:latin typeface="Calibri" pitchFamily="34" charset="0"/>
                <a:ea typeface="Calibri" pitchFamily="34" charset="-122"/>
                <a:cs typeface="Calibri" pitchFamily="34" charset="-120"/>
              </a:rPr>
              <a:t>  “Statistically significant” only if p &lt; .05 was actually computed. Association is not cause, and eighteen people who were available generalise to nobody in particular.</a:t>
            </a:r>
            <a:endParaRPr lang="en-US" sz="1300" dirty="0"/>
          </a:p>
        </p:txBody>
      </p:sp>
      <p:sp>
        <p:nvSpPr>
          <p:cNvPr id="27" name="Shape 24"/>
          <p:cNvSpPr/>
          <p:nvPr/>
        </p:nvSpPr>
        <p:spPr>
          <a:xfrm>
            <a:off x="731520" y="4937760"/>
            <a:ext cx="10698480" cy="594360"/>
          </a:xfrm>
          <a:prstGeom prst="roundRect">
            <a:avLst>
              <a:gd name="adj" fmla="val 12308"/>
            </a:avLst>
          </a:prstGeom>
          <a:solidFill>
            <a:srgbClr val="F7EFDF"/>
          </a:solidFill>
          <a:ln w="12700">
            <a:solidFill>
              <a:srgbClr val="F7EFDF"/>
            </a:solidFill>
            <a:prstDash val="solid"/>
          </a:ln>
        </p:spPr>
      </p:sp>
      <p:sp>
        <p:nvSpPr>
          <p:cNvPr id="28" name="Text 25"/>
          <p:cNvSpPr txBox="1"/>
          <p:nvPr/>
        </p:nvSpPr>
        <p:spPr>
          <a:xfrm>
            <a:off x="1042416" y="4937760"/>
            <a:ext cx="10076688" cy="59436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“We looked for an association between confidence and task success and found none worth reporting (ρ = 0.12, n = 18).” That is a finding, and a useful one for Week 8.</a:t>
            </a:r>
            <a:endParaRPr lang="en-US" sz="1400" dirty="0"/>
          </a:p>
        </p:txBody>
      </p:sp>
      <p:sp>
        <p:nvSpPr>
          <p:cNvPr id="29" name="Text 26"/>
          <p:cNvSpPr txBox="1"/>
          <p:nvPr/>
        </p:nvSpPr>
        <p:spPr>
          <a:xfrm>
            <a:off x="731520" y="566928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Still out: regression, and any tool you cannot explain in one sentence to a teammate.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QUESTION 2 · DONE CAREFULLY</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Do Two Groups Differ?</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10698480" cy="658368"/>
          </a:xfrm>
          <a:prstGeom prst="roundRect">
            <a:avLst>
              <a:gd name="adj" fmla="val 8333"/>
            </a:avLst>
          </a:prstGeom>
          <a:solidFill>
            <a:srgbClr val="FFFFFF"/>
          </a:solidFill>
          <a:ln w="9525">
            <a:solidFill>
              <a:srgbClr val="DCE3DC"/>
            </a:solidFill>
            <a:prstDash val="solid"/>
          </a:ln>
        </p:spPr>
      </p:sp>
      <p:sp>
        <p:nvSpPr>
          <p:cNvPr id="8" name="Shape 5"/>
          <p:cNvSpPr/>
          <p:nvPr/>
        </p:nvSpPr>
        <p:spPr>
          <a:xfrm>
            <a:off x="969264" y="1609344"/>
            <a:ext cx="365760" cy="365760"/>
          </a:xfrm>
          <a:prstGeom prst="roundRect">
            <a:avLst>
              <a:gd name="adj" fmla="val 15000"/>
            </a:avLst>
          </a:prstGeom>
          <a:solidFill>
            <a:srgbClr val="8A5F22"/>
          </a:solidFill>
          <a:ln w="12700">
            <a:solidFill>
              <a:srgbClr val="8A5F22"/>
            </a:solidFill>
            <a:prstDash val="solid"/>
          </a:ln>
        </p:spPr>
      </p:sp>
      <p:sp>
        <p:nvSpPr>
          <p:cNvPr id="9" name="Text 6"/>
          <p:cNvSpPr txBox="1"/>
          <p:nvPr/>
        </p:nvSpPr>
        <p:spPr>
          <a:xfrm>
            <a:off x="969264" y="16093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1508760" y="1463040"/>
            <a:ext cx="9692640" cy="658368"/>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Make the groups real, and make them first.</a:t>
            </a:r>
            <a:pPr indent="0" marL="0">
              <a:buNone/>
            </a:pPr>
            <a:r>
              <a:rPr lang="en-US" sz="1300" dirty="0">
                <a:solidFill>
                  <a:srgbClr val="23302C"/>
                </a:solidFill>
                <a:latin typeface="Calibri" pitchFamily="34" charset="0"/>
                <a:ea typeface="Calibri" pitchFamily="34" charset="-122"/>
                <a:cs typeface="Calibri" pitchFamily="34" charset="-120"/>
              </a:rPr>
              <a:t>  Nine and nine is the most the sample can stand. A group of two or three is not a group. Split a rating where it makes sense (4–5 vs 1–3), before you look at the outcome, and say why.</a:t>
            </a:r>
            <a:endParaRPr lang="en-US" sz="1300" dirty="0"/>
          </a:p>
        </p:txBody>
      </p:sp>
      <p:sp>
        <p:nvSpPr>
          <p:cNvPr id="11" name="Shape 8"/>
          <p:cNvSpPr/>
          <p:nvPr/>
        </p:nvSpPr>
        <p:spPr>
          <a:xfrm>
            <a:off x="731520" y="2176272"/>
            <a:ext cx="10698480" cy="658368"/>
          </a:xfrm>
          <a:prstGeom prst="roundRect">
            <a:avLst>
              <a:gd name="adj" fmla="val 8333"/>
            </a:avLst>
          </a:prstGeom>
          <a:solidFill>
            <a:srgbClr val="EDF0EA"/>
          </a:solidFill>
          <a:ln w="9525">
            <a:solidFill>
              <a:srgbClr val="DCE3DC"/>
            </a:solidFill>
            <a:prstDash val="solid"/>
          </a:ln>
        </p:spPr>
      </p:sp>
      <p:sp>
        <p:nvSpPr>
          <p:cNvPr id="12" name="Shape 9"/>
          <p:cNvSpPr/>
          <p:nvPr/>
        </p:nvSpPr>
        <p:spPr>
          <a:xfrm>
            <a:off x="969264" y="2322576"/>
            <a:ext cx="365760" cy="365760"/>
          </a:xfrm>
          <a:prstGeom prst="roundRect">
            <a:avLst>
              <a:gd name="adj" fmla="val 15000"/>
            </a:avLst>
          </a:prstGeom>
          <a:solidFill>
            <a:srgbClr val="8A5F22"/>
          </a:solidFill>
          <a:ln w="12700">
            <a:solidFill>
              <a:srgbClr val="8A5F22"/>
            </a:solidFill>
            <a:prstDash val="solid"/>
          </a:ln>
        </p:spPr>
      </p:sp>
      <p:sp>
        <p:nvSpPr>
          <p:cNvPr id="13" name="Text 10"/>
          <p:cNvSpPr txBox="1"/>
          <p:nvPr/>
        </p:nvSpPr>
        <p:spPr>
          <a:xfrm>
            <a:off x="969264" y="23225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1"/>
          <p:cNvSpPr txBox="1"/>
          <p:nvPr/>
        </p:nvSpPr>
        <p:spPr>
          <a:xfrm>
            <a:off x="1508760" y="2176272"/>
            <a:ext cx="9692640" cy="658368"/>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Describe each group, then plot.</a:t>
            </a:r>
            <a:pPr indent="0" marL="0">
              <a:buNone/>
            </a:pPr>
            <a:r>
              <a:rPr lang="en-US" sz="1300" dirty="0">
                <a:solidFill>
                  <a:srgbClr val="23302C"/>
                </a:solidFill>
                <a:latin typeface="Calibri" pitchFamily="34" charset="0"/>
                <a:ea typeface="Calibri" pitchFamily="34" charset="-122"/>
                <a:cs typeface="Calibri" pitchFamily="34" charset="-120"/>
              </a:rPr>
              <a:t>  Median and range (or count) per group. Two columns of dots, medians marked. If the columns overlap almost entirely, that is the finding.</a:t>
            </a:r>
            <a:endParaRPr lang="en-US" sz="1300" dirty="0"/>
          </a:p>
        </p:txBody>
      </p:sp>
      <p:sp>
        <p:nvSpPr>
          <p:cNvPr id="15" name="Shape 12"/>
          <p:cNvSpPr/>
          <p:nvPr/>
        </p:nvSpPr>
        <p:spPr>
          <a:xfrm>
            <a:off x="731520" y="2889504"/>
            <a:ext cx="10698480" cy="658368"/>
          </a:xfrm>
          <a:prstGeom prst="roundRect">
            <a:avLst>
              <a:gd name="adj" fmla="val 8333"/>
            </a:avLst>
          </a:prstGeom>
          <a:solidFill>
            <a:srgbClr val="FFFFFF"/>
          </a:solidFill>
          <a:ln w="9525">
            <a:solidFill>
              <a:srgbClr val="DCE3DC"/>
            </a:solidFill>
            <a:prstDash val="solid"/>
          </a:ln>
        </p:spPr>
      </p:sp>
      <p:sp>
        <p:nvSpPr>
          <p:cNvPr id="16" name="Shape 13"/>
          <p:cNvSpPr/>
          <p:nvPr/>
        </p:nvSpPr>
        <p:spPr>
          <a:xfrm>
            <a:off x="969264" y="3035808"/>
            <a:ext cx="365760" cy="365760"/>
          </a:xfrm>
          <a:prstGeom prst="roundRect">
            <a:avLst>
              <a:gd name="adj" fmla="val 15000"/>
            </a:avLst>
          </a:prstGeom>
          <a:solidFill>
            <a:srgbClr val="8A5F22"/>
          </a:solidFill>
          <a:ln w="12700">
            <a:solidFill>
              <a:srgbClr val="8A5F22"/>
            </a:solidFill>
            <a:prstDash val="solid"/>
          </a:ln>
        </p:spPr>
      </p:sp>
      <p:sp>
        <p:nvSpPr>
          <p:cNvPr id="17" name="Text 14"/>
          <p:cNvSpPr txBox="1"/>
          <p:nvPr/>
        </p:nvSpPr>
        <p:spPr>
          <a:xfrm>
            <a:off x="969264" y="30358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txBox="1"/>
          <p:nvPr/>
        </p:nvSpPr>
        <p:spPr>
          <a:xfrm>
            <a:off x="1508760" y="2889504"/>
            <a:ext cx="9692640" cy="658368"/>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Pick the tool from the kind of outcome.</a:t>
            </a:r>
            <a:pPr indent="0" marL="0">
              <a:buNone/>
            </a:pPr>
            <a:r>
              <a:rPr lang="en-US" sz="1300" dirty="0">
                <a:solidFill>
                  <a:srgbClr val="23302C"/>
                </a:solidFill>
                <a:latin typeface="Calibri" pitchFamily="34" charset="0"/>
                <a:ea typeface="Calibri" pitchFamily="34" charset="-122"/>
                <a:cs typeface="Calibri" pitchFamily="34" charset="-120"/>
              </a:rPr>
              <a:t>  A measured or ordered outcome (time, errors, SUS, a rating): Mann–Whitney U. A yes/no outcome (completed or not): Fisher’s exact on the 2×2 table.</a:t>
            </a:r>
            <a:endParaRPr lang="en-US" sz="1300" dirty="0"/>
          </a:p>
        </p:txBody>
      </p:sp>
      <p:sp>
        <p:nvSpPr>
          <p:cNvPr id="19" name="Shape 16"/>
          <p:cNvSpPr/>
          <p:nvPr/>
        </p:nvSpPr>
        <p:spPr>
          <a:xfrm>
            <a:off x="731520" y="3602736"/>
            <a:ext cx="10698480" cy="658368"/>
          </a:xfrm>
          <a:prstGeom prst="roundRect">
            <a:avLst>
              <a:gd name="adj" fmla="val 8333"/>
            </a:avLst>
          </a:prstGeom>
          <a:solidFill>
            <a:srgbClr val="EDF0EA"/>
          </a:solidFill>
          <a:ln w="9525">
            <a:solidFill>
              <a:srgbClr val="DCE3DC"/>
            </a:solidFill>
            <a:prstDash val="solid"/>
          </a:ln>
        </p:spPr>
      </p:sp>
      <p:sp>
        <p:nvSpPr>
          <p:cNvPr id="20" name="Shape 17"/>
          <p:cNvSpPr/>
          <p:nvPr/>
        </p:nvSpPr>
        <p:spPr>
          <a:xfrm>
            <a:off x="969264" y="3749040"/>
            <a:ext cx="365760" cy="365760"/>
          </a:xfrm>
          <a:prstGeom prst="roundRect">
            <a:avLst>
              <a:gd name="adj" fmla="val 15000"/>
            </a:avLst>
          </a:prstGeom>
          <a:solidFill>
            <a:srgbClr val="8A5F22"/>
          </a:solidFill>
          <a:ln w="12700">
            <a:solidFill>
              <a:srgbClr val="8A5F22"/>
            </a:solidFill>
            <a:prstDash val="solid"/>
          </a:ln>
        </p:spPr>
      </p:sp>
      <p:sp>
        <p:nvSpPr>
          <p:cNvPr id="21" name="Text 18"/>
          <p:cNvSpPr txBox="1"/>
          <p:nvPr/>
        </p:nvSpPr>
        <p:spPr>
          <a:xfrm>
            <a:off x="969264" y="3749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2" name="Text 19"/>
          <p:cNvSpPr txBox="1"/>
          <p:nvPr/>
        </p:nvSpPr>
        <p:spPr>
          <a:xfrm>
            <a:off x="1508760" y="3602736"/>
            <a:ext cx="9692640" cy="658368"/>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Report the difference, then the test.</a:t>
            </a:r>
            <a:pPr indent="0" marL="0">
              <a:buNone/>
            </a:pPr>
            <a:r>
              <a:rPr lang="en-US" sz="1300" dirty="0">
                <a:solidFill>
                  <a:srgbClr val="23302C"/>
                </a:solidFill>
                <a:latin typeface="Calibri" pitchFamily="34" charset="0"/>
                <a:ea typeface="Calibri" pitchFamily="34" charset="-122"/>
                <a:cs typeface="Calibri" pitchFamily="34" charset="-120"/>
              </a:rPr>
              <a:t>  “Median 52 s vs 69 s (n = 9 and 8)” is the finding. U and p say whether a gap that size would be surprising in groups this small — and with nine a side, it takes a large one.</a:t>
            </a:r>
            <a:endParaRPr lang="en-US" sz="1300" dirty="0"/>
          </a:p>
        </p:txBody>
      </p:sp>
      <p:sp>
        <p:nvSpPr>
          <p:cNvPr id="23" name="Shape 20"/>
          <p:cNvSpPr/>
          <p:nvPr/>
        </p:nvSpPr>
        <p:spPr>
          <a:xfrm>
            <a:off x="731520" y="4315968"/>
            <a:ext cx="10698480" cy="658368"/>
          </a:xfrm>
          <a:prstGeom prst="roundRect">
            <a:avLst>
              <a:gd name="adj" fmla="val 8333"/>
            </a:avLst>
          </a:prstGeom>
          <a:solidFill>
            <a:srgbClr val="FFFFFF"/>
          </a:solidFill>
          <a:ln w="9525">
            <a:solidFill>
              <a:srgbClr val="DCE3DC"/>
            </a:solidFill>
            <a:prstDash val="solid"/>
          </a:ln>
        </p:spPr>
      </p:sp>
      <p:sp>
        <p:nvSpPr>
          <p:cNvPr id="24" name="Shape 21"/>
          <p:cNvSpPr/>
          <p:nvPr/>
        </p:nvSpPr>
        <p:spPr>
          <a:xfrm>
            <a:off x="969264" y="4462272"/>
            <a:ext cx="365760" cy="365760"/>
          </a:xfrm>
          <a:prstGeom prst="roundRect">
            <a:avLst>
              <a:gd name="adj" fmla="val 15000"/>
            </a:avLst>
          </a:prstGeom>
          <a:solidFill>
            <a:srgbClr val="8A5F22"/>
          </a:solidFill>
          <a:ln w="12700">
            <a:solidFill>
              <a:srgbClr val="8A5F22"/>
            </a:solidFill>
            <a:prstDash val="solid"/>
          </a:ln>
        </p:spPr>
      </p:sp>
      <p:sp>
        <p:nvSpPr>
          <p:cNvPr id="25" name="Text 22"/>
          <p:cNvSpPr txBox="1"/>
          <p:nvPr/>
        </p:nvSpPr>
        <p:spPr>
          <a:xfrm>
            <a:off x="969264" y="44622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6" name="Text 23"/>
          <p:cNvSpPr txBox="1"/>
          <p:nvPr/>
        </p:nvSpPr>
        <p:spPr>
          <a:xfrm>
            <a:off x="1508760" y="4315968"/>
            <a:ext cx="9692640" cy="658368"/>
          </a:xfrm>
          <a:prstGeom prst="rect">
            <a:avLst/>
          </a:prstGeom>
          <a:noFill/>
          <a:ln/>
        </p:spPr>
        <p:txBody>
          <a:bodyPr wrap="square" lIns="0" tIns="0" rIns="0" bIns="0" rtlCol="0" anchor="ctr"/>
          <a:lstStyle/>
          <a:p>
            <a:pPr indent="0" marL="0">
              <a:buNone/>
            </a:pPr>
            <a:r>
              <a:rPr lang="en-US" sz="1300" b="1" dirty="0">
                <a:solidFill>
                  <a:srgbClr val="13403B"/>
                </a:solidFill>
                <a:latin typeface="Arial" pitchFamily="34" charset="0"/>
                <a:ea typeface="Arial" pitchFamily="34" charset="-122"/>
                <a:cs typeface="Arial" pitchFamily="34" charset="-120"/>
              </a:rPr>
              <a:t>A null is not “no difference”.</a:t>
            </a:r>
            <a:pPr indent="0" marL="0">
              <a:buNone/>
            </a:pPr>
            <a:r>
              <a:rPr lang="en-US" sz="1300" dirty="0">
                <a:solidFill>
                  <a:srgbClr val="23302C"/>
                </a:solidFill>
                <a:latin typeface="Calibri" pitchFamily="34" charset="0"/>
                <a:ea typeface="Calibri" pitchFamily="34" charset="-122"/>
                <a:cs typeface="Calibri" pitchFamily="34" charset="-120"/>
              </a:rPr>
              <a:t>  “No statistically significant difference” is honest. “The groups performed the same” is a claim the data cannot make. Say the study was too small to detect anything but a large effect.</a:t>
            </a:r>
            <a:endParaRPr lang="en-US" sz="1300" dirty="0"/>
          </a:p>
        </p:txBody>
      </p:sp>
      <p:sp>
        <p:nvSpPr>
          <p:cNvPr id="27" name="Text 24"/>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Still out: more than two groups; the same people under two versions (a paired test — ask a tutor); and any test you cannot explain in one sentence.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ACTIVITY B · THE STRONGEST HONEST CLAIM</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Eighteen Participants, One Table</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6949440" cy="914400"/>
        </p:xfrm>
        <a:graphic>
          <a:graphicData uri="http://schemas.openxmlformats.org/drawingml/2006/table">
            <a:tbl>
              <a:tblPr/>
              <a:tblGrid>
                <a:gridCol w="548640"/>
                <a:gridCol w="777240"/>
                <a:gridCol w="868680"/>
                <a:gridCol w="868680"/>
                <a:gridCol w="914400"/>
                <a:gridCol w="1051560"/>
                <a:gridCol w="685800"/>
                <a:gridCol w="594360"/>
                <a:gridCol w="640080"/>
              </a:tblGrid>
              <a:tr h="224028">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ID</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Age</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Conf. (1–5)</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Prior habit</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Interviewed</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Task 1</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Time (s)</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Errors</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SUS</a:t>
                      </a:r>
                      <a:endParaRPr lang="en-US" sz="900" dirty="0">
                        <a:latin typeface="Arial" charset="0"/>
                        <a:ea typeface="Arial" charset="0"/>
                        <a:cs typeface="Arial"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13403B"/>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78</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70.0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60.0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25–34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58</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57.5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assisted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55.0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97.5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P06</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not completed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62.5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P07</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25–34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88</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62.5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P08</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65.0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P09</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70.0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25–34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55.0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140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62.5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assisted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49</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50.0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66</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57.5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25–34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72.5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74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57.5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P16</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60.0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P17</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25–34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42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57.5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FFFFFF"/>
                    </a:solidFill>
                  </a:tcPr>
                </a:tc>
              </a:tr>
              <a:tr h="224028">
                <a:tc>
                  <a:txBody>
                    <a:bodyPr/>
                    <a:lstStyle/>
                    <a:p>
                      <a:pPr algn="l" indent="0" marL="0">
                        <a:buNone/>
                      </a:pPr>
                      <a:r>
                        <a:rPr lang="en-US" sz="900" b="1" dirty="0">
                          <a:solidFill>
                            <a:srgbClr val="23302C"/>
                          </a:solidFill>
                          <a:latin typeface="Calibri" pitchFamily="34" charset="0"/>
                          <a:ea typeface="Calibri" pitchFamily="34" charset="-122"/>
                          <a:cs typeface="Calibri" pitchFamily="34" charset="-120"/>
                        </a:rPr>
                        <a:t>P18</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unaided</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75</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c>
                  <a:txBody>
                    <a:bodyPr/>
                    <a:lstStyle/>
                    <a:p>
                      <a:pPr algn="ctr" indent="0" marL="0">
                        <a:buNone/>
                      </a:pPr>
                      <a:r>
                        <a:rPr lang="en-US" sz="900" dirty="0">
                          <a:solidFill>
                            <a:srgbClr val="23302C"/>
                          </a:solidFill>
                          <a:latin typeface="Calibri" pitchFamily="34" charset="0"/>
                          <a:ea typeface="Calibri" pitchFamily="34" charset="-122"/>
                          <a:cs typeface="Calibri" pitchFamily="34" charset="-120"/>
                        </a:rPr>
                        <a:t>85.0</a:t>
                      </a:r>
                      <a:endParaRPr lang="en-US" sz="900" dirty="0">
                        <a:latin typeface="Calibri" charset="0"/>
                        <a:ea typeface="Calibri" charset="0"/>
                        <a:cs typeface="Calibri" charset="0"/>
                      </a:endParaRPr>
                    </a:p>
                  </a:txBody>
                  <a:tcPr marL="27432" marR="27432" marT="27432" marB="27432" anchor="ctr">
                    <a:lnL w="6350" cap="flat" cmpd="sng" algn="ctr">
                      <a:solidFill>
                        <a:srgbClr val="DCE3DC"/>
                      </a:solidFill>
                      <a:prstDash val="solid"/>
                      <a:round/>
                      <a:headEnd type="none" w="med" len="med"/>
                      <a:tailEnd type="none" w="med" len="med"/>
                    </a:lnL>
                    <a:lnR w="6350" cap="flat" cmpd="sng" algn="ctr">
                      <a:solidFill>
                        <a:srgbClr val="DCE3DC"/>
                      </a:solidFill>
                      <a:prstDash val="solid"/>
                      <a:round/>
                      <a:headEnd type="none" w="med" len="med"/>
                      <a:tailEnd type="none" w="med" len="med"/>
                    </a:lnR>
                    <a:lnT w="6350" cap="flat" cmpd="sng" algn="ctr">
                      <a:solidFill>
                        <a:srgbClr val="DCE3DC"/>
                      </a:solidFill>
                      <a:prstDash val="solid"/>
                      <a:round/>
                      <a:headEnd type="none" w="med" len="med"/>
                      <a:tailEnd type="none" w="med" len="med"/>
                    </a:lnT>
                    <a:lnB w="6350" cap="flat" cmpd="sng" algn="ctr">
                      <a:solidFill>
                        <a:srgbClr val="DCE3DC"/>
                      </a:solidFill>
                      <a:prstDash val="solid"/>
                      <a:round/>
                      <a:headEnd type="none" w="med" len="med"/>
                      <a:tailEnd type="none" w="med" len="med"/>
                    </a:lnB>
                    <a:solidFill>
                      <a:srgbClr val="EDF0EA"/>
                    </a:solidFill>
                  </a:tcPr>
                </a:tc>
              </a:tr>
            </a:tbl>
          </a:graphicData>
        </a:graphic>
      </p:graphicFrame>
      <p:sp>
        <p:nvSpPr>
          <p:cNvPr id="8" name="Shape 4"/>
          <p:cNvSpPr/>
          <p:nvPr/>
        </p:nvSpPr>
        <p:spPr>
          <a:xfrm>
            <a:off x="7955280" y="1371600"/>
            <a:ext cx="3474720" cy="2286000"/>
          </a:xfrm>
          <a:prstGeom prst="roundRect">
            <a:avLst>
              <a:gd name="adj" fmla="val 3200"/>
            </a:avLst>
          </a:prstGeom>
          <a:solidFill>
            <a:srgbClr val="FFFFFF"/>
          </a:solidFill>
          <a:ln w="9525">
            <a:solidFill>
              <a:srgbClr val="DCE3DC"/>
            </a:solidFill>
            <a:prstDash val="solid"/>
          </a:ln>
        </p:spPr>
      </p:sp>
      <p:sp>
        <p:nvSpPr>
          <p:cNvPr id="9" name="Text 5"/>
          <p:cNvSpPr txBox="1"/>
          <p:nvPr/>
        </p:nvSpPr>
        <p:spPr>
          <a:xfrm>
            <a:off x="8211312" y="1554480"/>
            <a:ext cx="296265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IN YOUR GROUP</a:t>
            </a:r>
            <a:endParaRPr lang="en-US" sz="1000" dirty="0"/>
          </a:p>
        </p:txBody>
      </p:sp>
      <p:sp>
        <p:nvSpPr>
          <p:cNvPr id="10" name="Text 6"/>
          <p:cNvSpPr txBox="1"/>
          <p:nvPr/>
        </p:nvSpPr>
        <p:spPr>
          <a:xfrm>
            <a:off x="8211312" y="1828800"/>
            <a:ext cx="296265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Write two sentences</a:t>
            </a:r>
            <a:endParaRPr lang="en-US" sz="1350" dirty="0"/>
          </a:p>
        </p:txBody>
      </p:sp>
      <p:sp>
        <p:nvSpPr>
          <p:cNvPr id="11" name="Text 7"/>
          <p:cNvSpPr txBox="1"/>
          <p:nvPr/>
        </p:nvSpPr>
        <p:spPr>
          <a:xfrm>
            <a:off x="8211312" y="2176272"/>
            <a:ext cx="2962656" cy="134416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The strongest claim this data supports.</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One claim it cannot support.</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Name the n every time.</a:t>
            </a:r>
            <a:endParaRPr lang="en-US" sz="1250" dirty="0"/>
          </a:p>
        </p:txBody>
      </p:sp>
      <p:sp>
        <p:nvSpPr>
          <p:cNvPr id="12" name="Shape 8"/>
          <p:cNvSpPr/>
          <p:nvPr/>
        </p:nvSpPr>
        <p:spPr>
          <a:xfrm>
            <a:off x="7955280" y="3840480"/>
            <a:ext cx="3474720" cy="1691640"/>
          </a:xfrm>
          <a:prstGeom prst="roundRect">
            <a:avLst>
              <a:gd name="adj" fmla="val 4324"/>
            </a:avLst>
          </a:prstGeom>
          <a:solidFill>
            <a:srgbClr val="EDF0EA"/>
          </a:solidFill>
          <a:ln w="9525">
            <a:solidFill>
              <a:srgbClr val="EDF0EA"/>
            </a:solidFill>
            <a:prstDash val="solid"/>
          </a:ln>
        </p:spPr>
      </p:sp>
      <p:sp>
        <p:nvSpPr>
          <p:cNvPr id="13" name="Text 9"/>
          <p:cNvSpPr txBox="1"/>
          <p:nvPr/>
        </p:nvSpPr>
        <p:spPr>
          <a:xfrm>
            <a:off x="8211312" y="4023360"/>
            <a:ext cx="296265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THE TRAPS</a:t>
            </a:r>
            <a:endParaRPr lang="en-US" sz="1000" dirty="0"/>
          </a:p>
        </p:txBody>
      </p:sp>
      <p:sp>
        <p:nvSpPr>
          <p:cNvPr id="14" name="Text 10"/>
          <p:cNvSpPr txBox="1"/>
          <p:nvPr/>
        </p:nvSpPr>
        <p:spPr>
          <a:xfrm>
            <a:off x="8211312" y="4297680"/>
            <a:ext cx="296265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Watch for</a:t>
            </a:r>
            <a:endParaRPr lang="en-US" sz="1350" dirty="0"/>
          </a:p>
        </p:txBody>
      </p:sp>
      <p:sp>
        <p:nvSpPr>
          <p:cNvPr id="15" name="Text 11"/>
          <p:cNvSpPr txBox="1"/>
          <p:nvPr/>
        </p:nvSpPr>
        <p:spPr>
          <a:xfrm>
            <a:off x="8211312" y="4645152"/>
            <a:ext cx="2962656" cy="74980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percentage without its count.</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mean time.</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Anything that says “because”.</a:t>
            </a:r>
            <a:endParaRPr lang="en-US" sz="1250" dirty="0"/>
          </a:p>
        </p:txBody>
      </p:sp>
      <p:sp>
        <p:nvSpPr>
          <p:cNvPr id="16" name="Text 12"/>
          <p:cNvSpPr txBox="1"/>
          <p:nvPr/>
        </p:nvSpPr>
        <p:spPr>
          <a:xfrm>
            <a:off x="731520" y="5989320"/>
            <a:ext cx="10698480" cy="274320"/>
          </a:xfrm>
          <a:prstGeom prst="rect">
            <a:avLst/>
          </a:prstGeom>
          <a:noFill/>
          <a:ln/>
        </p:spPr>
        <p:txBody>
          <a:bodyPr wrap="square" lIns="0" tIns="0" rIns="0" bIns="0" rtlCol="0" anchor="ctr"/>
          <a:lstStyle/>
          <a:p>
            <a:pPr indent="0" marL="0">
              <a:buNone/>
            </a:pPr>
            <a:r>
              <a:rPr lang="en-US" sz="1100" b="1" spc="150" kern="0" dirty="0">
                <a:solidFill>
                  <a:srgbClr val="8A5F22"/>
                </a:solidFill>
                <a:latin typeface="Arial" pitchFamily="34" charset="0"/>
                <a:ea typeface="Arial" pitchFamily="34" charset="-122"/>
                <a:cs typeface="Arial" pitchFamily="34" charset="-120"/>
              </a:rPr>
              <a:t>4 MINUTES IN GROUPS · THEN THE PLOTS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ACTIVITY B · TWO PLOTS FROM THE SAME EIGHTEEN</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Now Look Before You Believe the Number</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pic>
        <p:nvPicPr>
          <p:cNvPr id="7" name="Image 0" descr="scatter.png">    </p:cNvPr>
          <p:cNvPicPr>
            <a:picLocks noChangeAspect="1"/>
          </p:cNvPicPr>
          <p:nvPr/>
        </p:nvPicPr>
        <p:blipFill>
          <a:blip r:embed="rId1"/>
          <a:stretch>
            <a:fillRect/>
          </a:stretch>
        </p:blipFill>
        <p:spPr>
          <a:xfrm>
            <a:off x="731520" y="1417320"/>
            <a:ext cx="5257800" cy="3941064"/>
          </a:xfrm>
          <a:prstGeom prst="rect">
            <a:avLst/>
          </a:prstGeom>
        </p:spPr>
      </p:pic>
      <p:pic>
        <p:nvPicPr>
          <p:cNvPr id="8" name="Image 1" descr="groups.png">    </p:cNvPr>
          <p:cNvPicPr>
            <a:picLocks noChangeAspect="1"/>
          </p:cNvPicPr>
          <p:nvPr/>
        </p:nvPicPr>
        <p:blipFill>
          <a:blip r:embed="rId2"/>
          <a:stretch>
            <a:fillRect/>
          </a:stretch>
        </p:blipFill>
        <p:spPr>
          <a:xfrm>
            <a:off x="6172200" y="1417320"/>
            <a:ext cx="5257800" cy="3941064"/>
          </a:xfrm>
          <a:prstGeom prst="rect">
            <a:avLst/>
          </a:prstGeom>
        </p:spPr>
      </p:pic>
      <p:sp>
        <p:nvSpPr>
          <p:cNvPr id="9" name="Shape 4"/>
          <p:cNvSpPr/>
          <p:nvPr/>
        </p:nvSpPr>
        <p:spPr>
          <a:xfrm>
            <a:off x="731520" y="5532120"/>
            <a:ext cx="10698480" cy="548640"/>
          </a:xfrm>
          <a:prstGeom prst="roundRect">
            <a:avLst>
              <a:gd name="adj" fmla="val 13333"/>
            </a:avLst>
          </a:prstGeom>
          <a:solidFill>
            <a:srgbClr val="F7EFDF"/>
          </a:solidFill>
          <a:ln w="12700">
            <a:solidFill>
              <a:srgbClr val="F7EFDF"/>
            </a:solidFill>
            <a:prstDash val="solid"/>
          </a:ln>
        </p:spPr>
      </p:sp>
      <p:sp>
        <p:nvSpPr>
          <p:cNvPr id="10" name="Text 5"/>
          <p:cNvSpPr txBox="1"/>
          <p:nvPr/>
        </p:nvSpPr>
        <p:spPr>
          <a:xfrm>
            <a:off x="1042416" y="5532120"/>
            <a:ext cx="10076688" cy="548640"/>
          </a:xfrm>
          <a:prstGeom prst="rect">
            <a:avLst/>
          </a:prstGeom>
          <a:noFill/>
          <a:ln/>
        </p:spPr>
        <p:txBody>
          <a:bodyPr wrap="square" lIns="0" tIns="0" rIns="0" bIns="0" rtlCol="0" anchor="ctr"/>
          <a:lstStyle/>
          <a:p>
            <a:pPr indent="0" marL="0">
              <a:buNone/>
            </a:pPr>
            <a:r>
              <a:rPr lang="en-US" sz="1400" dirty="0">
                <a:solidFill>
                  <a:srgbClr val="8A5F22"/>
                </a:solidFill>
                <a:latin typeface="Calibri" pitchFamily="34" charset="0"/>
                <a:ea typeface="Calibri" pitchFamily="34" charset="-122"/>
                <a:cs typeface="Calibri" pitchFamily="34" charset="-120"/>
              </a:rPr>
              <a:t>Left: which participant is the correlation? Right: is p = .11 “no difference”? Write the honest sentence for each.</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ACTIVITY B · WHAT WE SAW</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The Honest Claim Names Its n and Shows Its Plot</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508760"/>
            <a:ext cx="10698480" cy="713232"/>
          </a:xfrm>
          <a:prstGeom prst="roundRect">
            <a:avLst>
              <a:gd name="adj" fmla="val 7692"/>
            </a:avLst>
          </a:prstGeom>
          <a:solidFill>
            <a:srgbClr val="FFFFFF"/>
          </a:solidFill>
          <a:ln w="9525">
            <a:solidFill>
              <a:srgbClr val="DCE3DC"/>
            </a:solidFill>
            <a:prstDash val="solid"/>
          </a:ln>
        </p:spPr>
      </p:sp>
      <p:sp>
        <p:nvSpPr>
          <p:cNvPr id="8" name="Text 5"/>
          <p:cNvSpPr txBox="1"/>
          <p:nvPr/>
        </p:nvSpPr>
        <p:spPr>
          <a:xfrm>
            <a:off x="960120" y="1508760"/>
            <a:ext cx="2935224" cy="713232"/>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“83% completed”</a:t>
            </a:r>
            <a:endParaRPr lang="en-US" sz="1250" dirty="0"/>
          </a:p>
        </p:txBody>
      </p:sp>
      <p:sp>
        <p:nvSpPr>
          <p:cNvPr id="9" name="Text 6"/>
          <p:cNvSpPr txBox="1"/>
          <p:nvPr/>
        </p:nvSpPr>
        <p:spPr>
          <a:xfrm>
            <a:off x="4169664" y="1508760"/>
            <a:ext cx="7214616" cy="713232"/>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Fifteen of eighteen (83%) completed unaided; two with assistance; one did not. The count carries the n; the assisted completions are not the same evidence.</a:t>
            </a:r>
            <a:endParaRPr lang="en-US" sz="1200" dirty="0"/>
          </a:p>
        </p:txBody>
      </p:sp>
      <p:sp>
        <p:nvSpPr>
          <p:cNvPr id="10" name="Shape 7"/>
          <p:cNvSpPr/>
          <p:nvPr/>
        </p:nvSpPr>
        <p:spPr>
          <a:xfrm>
            <a:off x="731520" y="2276856"/>
            <a:ext cx="10698480" cy="713232"/>
          </a:xfrm>
          <a:prstGeom prst="roundRect">
            <a:avLst>
              <a:gd name="adj" fmla="val 7692"/>
            </a:avLst>
          </a:prstGeom>
          <a:solidFill>
            <a:srgbClr val="EDF0EA"/>
          </a:solidFill>
          <a:ln w="9525">
            <a:solidFill>
              <a:srgbClr val="DCE3DC"/>
            </a:solidFill>
            <a:prstDash val="solid"/>
          </a:ln>
        </p:spPr>
      </p:sp>
      <p:sp>
        <p:nvSpPr>
          <p:cNvPr id="11" name="Text 8"/>
          <p:cNvSpPr txBox="1"/>
          <p:nvPr/>
        </p:nvSpPr>
        <p:spPr>
          <a:xfrm>
            <a:off x="960120" y="2276856"/>
            <a:ext cx="2935224" cy="713232"/>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“Mean time 63 s”</a:t>
            </a:r>
            <a:endParaRPr lang="en-US" sz="1250" dirty="0"/>
          </a:p>
        </p:txBody>
      </p:sp>
      <p:sp>
        <p:nvSpPr>
          <p:cNvPr id="12" name="Text 9"/>
          <p:cNvSpPr txBox="1"/>
          <p:nvPr/>
        </p:nvSpPr>
        <p:spPr>
          <a:xfrm>
            <a:off x="4169664" y="2276856"/>
            <a:ext cx="7214616" cy="713232"/>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Median 58 s (range 36–140, n = 17 completers). P11’s 140 seconds drags the mean; the median is the middle person.</a:t>
            </a:r>
            <a:endParaRPr lang="en-US" sz="1200" dirty="0"/>
          </a:p>
        </p:txBody>
      </p:sp>
      <p:sp>
        <p:nvSpPr>
          <p:cNvPr id="13" name="Shape 10"/>
          <p:cNvSpPr/>
          <p:nvPr/>
        </p:nvSpPr>
        <p:spPr>
          <a:xfrm>
            <a:off x="731520" y="3044952"/>
            <a:ext cx="10698480" cy="713232"/>
          </a:xfrm>
          <a:prstGeom prst="roundRect">
            <a:avLst>
              <a:gd name="adj" fmla="val 7692"/>
            </a:avLst>
          </a:prstGeom>
          <a:solidFill>
            <a:srgbClr val="FFFFFF"/>
          </a:solidFill>
          <a:ln w="9525">
            <a:solidFill>
              <a:srgbClr val="DCE3DC"/>
            </a:solidFill>
            <a:prstDash val="solid"/>
          </a:ln>
        </p:spPr>
      </p:sp>
      <p:sp>
        <p:nvSpPr>
          <p:cNvPr id="14" name="Text 11"/>
          <p:cNvSpPr txBox="1"/>
          <p:nvPr/>
        </p:nvSpPr>
        <p:spPr>
          <a:xfrm>
            <a:off x="960120" y="3044952"/>
            <a:ext cx="2935224" cy="713232"/>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“Confidence significantly predicts SUS”</a:t>
            </a:r>
            <a:endParaRPr lang="en-US" sz="1250" dirty="0"/>
          </a:p>
        </p:txBody>
      </p:sp>
      <p:sp>
        <p:nvSpPr>
          <p:cNvPr id="15" name="Text 12"/>
          <p:cNvSpPr txBox="1"/>
          <p:nvPr/>
        </p:nvSpPr>
        <p:spPr>
          <a:xfrm>
            <a:off x="4169664" y="3044952"/>
            <a:ext cx="7214616" cy="713232"/>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Spearman ρ = 0.44, p = .07, n = 18 — moderate, not significant, and the scatterplot shows P05 at 97.5 making Pearson look strong. Association, not prediction.</a:t>
            </a:r>
            <a:endParaRPr lang="en-US" sz="1200" dirty="0"/>
          </a:p>
        </p:txBody>
      </p:sp>
      <p:sp>
        <p:nvSpPr>
          <p:cNvPr id="16" name="Shape 13"/>
          <p:cNvSpPr/>
          <p:nvPr/>
        </p:nvSpPr>
        <p:spPr>
          <a:xfrm>
            <a:off x="731520" y="3813048"/>
            <a:ext cx="10698480" cy="713232"/>
          </a:xfrm>
          <a:prstGeom prst="roundRect">
            <a:avLst>
              <a:gd name="adj" fmla="val 7692"/>
            </a:avLst>
          </a:prstGeom>
          <a:solidFill>
            <a:srgbClr val="EDF0EA"/>
          </a:solidFill>
          <a:ln w="9525">
            <a:solidFill>
              <a:srgbClr val="DCE3DC"/>
            </a:solidFill>
            <a:prstDash val="solid"/>
          </a:ln>
        </p:spPr>
      </p:sp>
      <p:sp>
        <p:nvSpPr>
          <p:cNvPr id="17" name="Text 14"/>
          <p:cNvSpPr txBox="1"/>
          <p:nvPr/>
        </p:nvSpPr>
        <p:spPr>
          <a:xfrm>
            <a:off x="960120" y="3813048"/>
            <a:ext cx="2935224" cy="713232"/>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“Prior habit made no difference”</a:t>
            </a:r>
            <a:endParaRPr lang="en-US" sz="1250" dirty="0"/>
          </a:p>
        </p:txBody>
      </p:sp>
      <p:sp>
        <p:nvSpPr>
          <p:cNvPr id="18" name="Text 15"/>
          <p:cNvSpPr txBox="1"/>
          <p:nvPr/>
        </p:nvSpPr>
        <p:spPr>
          <a:xfrm>
            <a:off x="4169664" y="3813048"/>
            <a:ext cx="7214616" cy="713232"/>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Median 52 s vs 69 s (n = 9 and 8), U = 53, p = .11. A visible difference the test cannot confirm at this size — not “no difference”.</a:t>
            </a:r>
            <a:endParaRPr lang="en-US" sz="1200" dirty="0"/>
          </a:p>
        </p:txBody>
      </p:sp>
      <p:sp>
        <p:nvSpPr>
          <p:cNvPr id="19" name="Shape 16"/>
          <p:cNvSpPr/>
          <p:nvPr/>
        </p:nvSpPr>
        <p:spPr>
          <a:xfrm>
            <a:off x="731520" y="4709160"/>
            <a:ext cx="10698480" cy="822960"/>
          </a:xfrm>
          <a:prstGeom prst="roundRect">
            <a:avLst>
              <a:gd name="adj" fmla="val 8889"/>
            </a:avLst>
          </a:prstGeom>
          <a:solidFill>
            <a:srgbClr val="13403B"/>
          </a:solidFill>
          <a:ln w="12700">
            <a:solidFill>
              <a:srgbClr val="13403B"/>
            </a:solidFill>
            <a:prstDash val="solid"/>
          </a:ln>
        </p:spPr>
      </p:sp>
      <p:sp>
        <p:nvSpPr>
          <p:cNvPr id="20" name="Text 17"/>
          <p:cNvSpPr txBox="1"/>
          <p:nvPr/>
        </p:nvSpPr>
        <p:spPr>
          <a:xfrm>
            <a:off x="1024128" y="4709160"/>
            <a:ext cx="10113264" cy="8229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And the six interviewees had a median confidence of 4.5 against 3.0 for the rest. Whatever the talk says about ease of use, it is the talk of the confident — which bounds the claim, and goes in the limitations now.</a:t>
            </a:r>
            <a:endParaRPr lang="en-US" sz="1350" dirty="0"/>
          </a:p>
        </p:txBody>
      </p:sp>
      <p:sp>
        <p:nvSpPr>
          <p:cNvPr id="21" name="Text 18"/>
          <p:cNvSpPr txBox="1"/>
          <p:nvPr/>
        </p:nvSpPr>
        <p:spPr>
          <a:xfrm>
            <a:off x="731520" y="566928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This dataset is the sample inside the Colab notebook. On Friday the notebook reproduces every number on this slide.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TWO RECORDS TO KEEP AS YOU GO</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Deviations, and the Claim-Strength Check</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5257800" cy="2468880"/>
          </a:xfrm>
          <a:prstGeom prst="roundRect">
            <a:avLst>
              <a:gd name="adj" fmla="val 2963"/>
            </a:avLst>
          </a:prstGeom>
          <a:solidFill>
            <a:srgbClr val="FFFFFF"/>
          </a:solidFill>
          <a:ln w="9525">
            <a:solidFill>
              <a:srgbClr val="DCE3DC"/>
            </a:solidFill>
            <a:prstDash val="solid"/>
          </a:ln>
        </p:spPr>
      </p:sp>
      <p:sp>
        <p:nvSpPr>
          <p:cNvPr id="8" name="Text 5"/>
          <p:cNvSpPr txBox="1"/>
          <p:nvPr/>
        </p:nvSpPr>
        <p:spPr>
          <a:xfrm>
            <a:off x="98755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AS IT HAPPENS</a:t>
            </a:r>
            <a:endParaRPr lang="en-US" sz="1000" dirty="0"/>
          </a:p>
        </p:txBody>
      </p:sp>
      <p:sp>
        <p:nvSpPr>
          <p:cNvPr id="9" name="Text 6"/>
          <p:cNvSpPr txBox="1"/>
          <p:nvPr/>
        </p:nvSpPr>
        <p:spPr>
          <a:xfrm>
            <a:off x="98755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The deviation log</a:t>
            </a:r>
            <a:endParaRPr lang="en-US" sz="1350" dirty="0"/>
          </a:p>
        </p:txBody>
      </p:sp>
      <p:sp>
        <p:nvSpPr>
          <p:cNvPr id="10" name="Text 7"/>
          <p:cNvSpPr txBox="1"/>
          <p:nvPr/>
        </p:nvSpPr>
        <p:spPr>
          <a:xfrm>
            <a:off x="987552" y="2267712"/>
            <a:ext cx="4745736" cy="152704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A dated list in the notebook: what changed, why, who decided, and what it does to interpretation.</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“P04’s time on Task 2 is not comparable — the prototype crashed and was restarted.”</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Written as it happens it is a strength. Reconstructed in Week 8 it is worth nothing.</a:t>
            </a:r>
            <a:endParaRPr lang="en-US" sz="1250" dirty="0"/>
          </a:p>
        </p:txBody>
      </p:sp>
      <p:sp>
        <p:nvSpPr>
          <p:cNvPr id="11" name="Shape 8"/>
          <p:cNvSpPr/>
          <p:nvPr/>
        </p:nvSpPr>
        <p:spPr>
          <a:xfrm>
            <a:off x="6172200" y="1463040"/>
            <a:ext cx="5257800" cy="2468880"/>
          </a:xfrm>
          <a:prstGeom prst="roundRect">
            <a:avLst>
              <a:gd name="adj" fmla="val 2963"/>
            </a:avLst>
          </a:prstGeom>
          <a:solidFill>
            <a:srgbClr val="EDF0EA"/>
          </a:solidFill>
          <a:ln w="9525">
            <a:solidFill>
              <a:srgbClr val="EDF0EA"/>
            </a:solidFill>
            <a:prstDash val="solid"/>
          </a:ln>
        </p:spPr>
      </p:sp>
      <p:sp>
        <p:nvSpPr>
          <p:cNvPr id="12" name="Text 9"/>
          <p:cNvSpPr txBox="1"/>
          <p:nvPr/>
        </p:nvSpPr>
        <p:spPr>
          <a:xfrm>
            <a:off x="6428232" y="1645920"/>
            <a:ext cx="4745736" cy="237744"/>
          </a:xfrm>
          <a:prstGeom prst="rect">
            <a:avLst/>
          </a:prstGeom>
          <a:noFill/>
          <a:ln/>
        </p:spPr>
        <p:txBody>
          <a:bodyPr wrap="square" lIns="0" tIns="0" rIns="0" bIns="0" rtlCol="0" anchor="ctr"/>
          <a:lstStyle/>
          <a:p>
            <a:pPr indent="0" marL="0">
              <a:buNone/>
            </a:pPr>
            <a:r>
              <a:rPr lang="en-US" sz="1000" b="1" spc="150" kern="0" dirty="0">
                <a:solidFill>
                  <a:srgbClr val="6B7A72"/>
                </a:solidFill>
                <a:latin typeface="Arial" pitchFamily="34" charset="0"/>
                <a:ea typeface="Arial" pitchFamily="34" charset="-122"/>
                <a:cs typeface="Arial" pitchFamily="34" charset="-120"/>
              </a:rPr>
              <a:t>ON FRIDAY</a:t>
            </a:r>
            <a:endParaRPr lang="en-US" sz="1000" dirty="0"/>
          </a:p>
        </p:txBody>
      </p:sp>
      <p:sp>
        <p:nvSpPr>
          <p:cNvPr id="13" name="Text 10"/>
          <p:cNvSpPr txBox="1"/>
          <p:nvPr/>
        </p:nvSpPr>
        <p:spPr>
          <a:xfrm>
            <a:off x="6428232" y="1920240"/>
            <a:ext cx="47457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The claim-strength check</a:t>
            </a:r>
            <a:endParaRPr lang="en-US" sz="1350" dirty="0"/>
          </a:p>
        </p:txBody>
      </p:sp>
      <p:sp>
        <p:nvSpPr>
          <p:cNvPr id="14" name="Text 11"/>
          <p:cNvSpPr txBox="1"/>
          <p:nvPr/>
        </p:nvSpPr>
        <p:spPr>
          <a:xfrm>
            <a:off x="6428232" y="2267712"/>
            <a:ext cx="4745736" cy="152704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Beside each committed question: the Week 5 prospective claim, and the claim the evidence now supports.</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Three honest outcomes: it holds; it drops a register, and you say why; or “cannot establish”, with the reason.</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The third outcome is a finding — and often a systemic question register entry for A3.</a:t>
            </a:r>
            <a:endParaRPr lang="en-US" sz="1250" dirty="0"/>
          </a:p>
        </p:txBody>
      </p:sp>
      <p:sp>
        <p:nvSpPr>
          <p:cNvPr id="15" name="Shape 12"/>
          <p:cNvSpPr/>
          <p:nvPr/>
        </p:nvSpPr>
        <p:spPr>
          <a:xfrm>
            <a:off x="731520" y="4160520"/>
            <a:ext cx="10698480" cy="777240"/>
          </a:xfrm>
          <a:prstGeom prst="roundRect">
            <a:avLst>
              <a:gd name="adj" fmla="val 7059"/>
            </a:avLst>
          </a:prstGeom>
          <a:solidFill>
            <a:srgbClr val="FFFFFF"/>
          </a:solidFill>
          <a:ln w="9525">
            <a:solidFill>
              <a:srgbClr val="DCE3DC"/>
            </a:solidFill>
            <a:prstDash val="solid"/>
          </a:ln>
        </p:spPr>
      </p:sp>
      <p:sp>
        <p:nvSpPr>
          <p:cNvPr id="16" name="Text 13"/>
          <p:cNvSpPr txBox="1"/>
          <p:nvPr/>
        </p:nvSpPr>
        <p:spPr>
          <a:xfrm>
            <a:off x="960120" y="4160520"/>
            <a:ext cx="1544422" cy="777240"/>
          </a:xfrm>
          <a:prstGeom prst="rect">
            <a:avLst/>
          </a:prstGeom>
          <a:noFill/>
          <a:ln/>
        </p:spPr>
        <p:txBody>
          <a:bodyPr wrap="square" lIns="0" tIns="0" rIns="0" bIns="0" rtlCol="0" anchor="ctr"/>
          <a:lstStyle/>
          <a:p>
            <a:pPr indent="0" marL="0">
              <a:buNone/>
            </a:pPr>
            <a:r>
              <a:rPr lang="en-US" sz="1250" b="1" dirty="0">
                <a:solidFill>
                  <a:srgbClr val="13403B"/>
                </a:solidFill>
                <a:latin typeface="Arial" pitchFamily="34" charset="0"/>
                <a:ea typeface="Arial" pitchFamily="34" charset="-122"/>
                <a:cs typeface="Arial" pitchFamily="34" charset="-120"/>
              </a:rPr>
              <a:t>Demonstrates</a:t>
            </a:r>
            <a:endParaRPr lang="en-US" sz="1250" dirty="0"/>
          </a:p>
        </p:txBody>
      </p:sp>
      <p:sp>
        <p:nvSpPr>
          <p:cNvPr id="17" name="Text 14"/>
          <p:cNvSpPr txBox="1"/>
          <p:nvPr/>
        </p:nvSpPr>
        <p:spPr>
          <a:xfrm>
            <a:off x="2778862" y="4160520"/>
            <a:ext cx="8605418" cy="777240"/>
          </a:xfrm>
          <a:prstGeom prst="rect">
            <a:avLst/>
          </a:prstGeom>
          <a:noFill/>
          <a:ln/>
        </p:spPr>
        <p:txBody>
          <a:bodyPr wrap="square" lIns="0" tIns="0" rIns="0" bIns="0" rtlCol="0" anchor="ctr"/>
          <a:lstStyle/>
          <a:p>
            <a:pPr indent="0" marL="0">
              <a:buNone/>
            </a:pPr>
            <a:r>
              <a:rPr lang="en-US" sz="1200" dirty="0">
                <a:solidFill>
                  <a:srgbClr val="23302C"/>
                </a:solidFill>
                <a:latin typeface="Calibri" pitchFamily="34" charset="0"/>
                <a:ea typeface="Calibri" pitchFamily="34" charset="-122"/>
                <a:cs typeface="Calibri" pitchFamily="34" charset="-120"/>
              </a:rPr>
              <a:t>Every relevant case, directly observed, no plausible other explanation. “All eighteen completed the sign-up unaided” demonstrates that people like these eighteen can — not that it is easy, and not that the intended users can if these were not them.</a:t>
            </a:r>
            <a:endParaRPr lang="en-US" sz="1200" dirty="0"/>
          </a:p>
        </p:txBody>
      </p:sp>
      <p:sp>
        <p:nvSpPr>
          <p:cNvPr id="18" name="Shape 15"/>
          <p:cNvSpPr/>
          <p:nvPr/>
        </p:nvSpPr>
        <p:spPr>
          <a:xfrm>
            <a:off x="731520" y="5120640"/>
            <a:ext cx="10698480" cy="640080"/>
          </a:xfrm>
          <a:prstGeom prst="roundRect">
            <a:avLst>
              <a:gd name="adj" fmla="val 11429"/>
            </a:avLst>
          </a:prstGeom>
          <a:solidFill>
            <a:srgbClr val="13403B"/>
          </a:solidFill>
          <a:ln w="12700">
            <a:solidFill>
              <a:srgbClr val="13403B"/>
            </a:solidFill>
            <a:prstDash val="solid"/>
          </a:ln>
        </p:spPr>
      </p:sp>
      <p:sp>
        <p:nvSpPr>
          <p:cNvPr id="19" name="Text 16"/>
          <p:cNvSpPr txBox="1"/>
          <p:nvPr/>
        </p:nvSpPr>
        <p:spPr>
          <a:xfrm>
            <a:off x="1024128" y="5120640"/>
            <a:ext cx="10113264"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deviation you logged is evidence of judgement. A deviation you hid is evidence of the opposite, and markers can tell.</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5EE"/>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6B7A72"/>
                </a:solidFill>
                <a:latin typeface="Arial" pitchFamily="34" charset="0"/>
                <a:ea typeface="Arial" pitchFamily="34" charset="-122"/>
                <a:cs typeface="Arial" pitchFamily="34" charset="-120"/>
              </a:rPr>
              <a:t>BEFORE FRIDAY</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13403B"/>
                </a:solidFill>
                <a:latin typeface="Arial" pitchFamily="34" charset="0"/>
                <a:ea typeface="Arial" pitchFamily="34" charset="-122"/>
                <a:cs typeface="Arial" pitchFamily="34" charset="-120"/>
              </a:rPr>
              <a:t>Three Things To Do on Friday, in This Order</a:t>
            </a:r>
            <a:endParaRPr lang="en-US" sz="3000" dirty="0"/>
          </a:p>
        </p:txBody>
      </p:sp>
      <p:sp>
        <p:nvSpPr>
          <p:cNvPr id="4" name="Text 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6B7A72"/>
                </a:solidFill>
                <a:latin typeface="Calibri" pitchFamily="34" charset="0"/>
                <a:ea typeface="Calibri" pitchFamily="34" charset="-122"/>
                <a:cs typeface="Calibri" pitchFamily="34" charset="-120"/>
              </a:rPr>
              <a:t>Week 7 — What the Evidence Can Tell You</a:t>
            </a:r>
            <a:endParaRPr lang="en-US" sz="900" dirty="0"/>
          </a:p>
        </p:txBody>
      </p:sp>
      <p:sp>
        <p:nvSpPr>
          <p:cNvPr id="5" name="Text 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6B7A72"/>
                </a:solidFill>
                <a:latin typeface="Calibri" pitchFamily="34" charset="0"/>
                <a:ea typeface="Calibri" pitchFamily="34" charset="-122"/>
                <a:cs typeface="Calibri" pitchFamily="34" charset="-120"/>
              </a:rPr>
              <a:t>DECO6500 | Week 7 Lecture</a:t>
            </a:r>
            <a:endParaRPr lang="en-US" sz="900" dirty="0"/>
          </a:p>
        </p:txBody>
      </p:sp>
      <p:sp>
        <p:nvSpPr>
          <p:cNvPr id="7" name="Shape 4"/>
          <p:cNvSpPr/>
          <p:nvPr/>
        </p:nvSpPr>
        <p:spPr>
          <a:xfrm>
            <a:off x="731520" y="1463040"/>
            <a:ext cx="3429000" cy="2743200"/>
          </a:xfrm>
          <a:prstGeom prst="roundRect">
            <a:avLst>
              <a:gd name="adj" fmla="val 2667"/>
            </a:avLst>
          </a:prstGeom>
          <a:solidFill>
            <a:srgbClr val="FFFFFF"/>
          </a:solidFill>
          <a:ln w="9525">
            <a:solidFill>
              <a:srgbClr val="DCE3DC"/>
            </a:solidFill>
            <a:prstDash val="solid"/>
          </a:ln>
        </p:spPr>
      </p:sp>
      <p:sp>
        <p:nvSpPr>
          <p:cNvPr id="8" name="Text 5"/>
          <p:cNvSpPr txBox="1"/>
          <p:nvPr/>
        </p:nvSpPr>
        <p:spPr>
          <a:xfrm>
            <a:off x="987552" y="164592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1 · Organise and de-identify</a:t>
            </a:r>
            <a:endParaRPr lang="en-US" sz="1350" dirty="0"/>
          </a:p>
        </p:txBody>
      </p:sp>
      <p:sp>
        <p:nvSpPr>
          <p:cNvPr id="9" name="Text 6"/>
          <p:cNvSpPr txBox="1"/>
          <p:nvPr/>
        </p:nvSpPr>
        <p:spPr>
          <a:xfrm>
            <a:off x="987552" y="1993392"/>
            <a:ext cx="2916936" cy="207568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Everything into the Team SharePoint folder. IDs, not names; one key file kept separately.</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Transcription approach decided and started.</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The one-row-per-participant CSV built.</a:t>
            </a:r>
            <a:endParaRPr lang="en-US" sz="1250" dirty="0"/>
          </a:p>
        </p:txBody>
      </p:sp>
      <p:sp>
        <p:nvSpPr>
          <p:cNvPr id="10" name="Shape 7"/>
          <p:cNvSpPr/>
          <p:nvPr/>
        </p:nvSpPr>
        <p:spPr>
          <a:xfrm>
            <a:off x="4389120" y="1463040"/>
            <a:ext cx="3429000" cy="2743200"/>
          </a:xfrm>
          <a:prstGeom prst="roundRect">
            <a:avLst>
              <a:gd name="adj" fmla="val 2667"/>
            </a:avLst>
          </a:prstGeom>
          <a:solidFill>
            <a:srgbClr val="FFFFFF"/>
          </a:solidFill>
          <a:ln w="9525">
            <a:solidFill>
              <a:srgbClr val="DCE3DC"/>
            </a:solidFill>
            <a:prstDash val="solid"/>
          </a:ln>
        </p:spPr>
      </p:sp>
      <p:sp>
        <p:nvSpPr>
          <p:cNvPr id="11" name="Text 8"/>
          <p:cNvSpPr txBox="1"/>
          <p:nvPr/>
        </p:nvSpPr>
        <p:spPr>
          <a:xfrm>
            <a:off x="4645152" y="1645920"/>
            <a:ext cx="291693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2 · Start in the real tools</a:t>
            </a:r>
            <a:endParaRPr lang="en-US" sz="1350" dirty="0"/>
          </a:p>
        </p:txBody>
      </p:sp>
      <p:sp>
        <p:nvSpPr>
          <p:cNvPr id="12" name="Text 9"/>
          <p:cNvSpPr txBox="1"/>
          <p:nvPr/>
        </p:nvSpPr>
        <p:spPr>
          <a:xfrm>
            <a:off x="4645152" y="1993392"/>
            <a:ext cx="2916936" cy="207568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NVivo through the UQ Digital Workspace — nothing to install, the same on Mac and Windows — with your codebook set up from the resource page.</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The Colab notebook on your de-identified CSV. Sample data first if yours is not ready.</a:t>
            </a:r>
            <a:endParaRPr lang="en-US" sz="1250" dirty="0"/>
          </a:p>
        </p:txBody>
      </p:sp>
      <p:sp>
        <p:nvSpPr>
          <p:cNvPr id="13" name="Shape 10"/>
          <p:cNvSpPr/>
          <p:nvPr/>
        </p:nvSpPr>
        <p:spPr>
          <a:xfrm>
            <a:off x="8046720" y="1463040"/>
            <a:ext cx="3383280" cy="2743200"/>
          </a:xfrm>
          <a:prstGeom prst="roundRect">
            <a:avLst>
              <a:gd name="adj" fmla="val 2667"/>
            </a:avLst>
          </a:prstGeom>
          <a:solidFill>
            <a:srgbClr val="EDF0EA"/>
          </a:solidFill>
          <a:ln w="9525">
            <a:solidFill>
              <a:srgbClr val="EDF0EA"/>
            </a:solidFill>
            <a:prstDash val="solid"/>
          </a:ln>
        </p:spPr>
      </p:sp>
      <p:sp>
        <p:nvSpPr>
          <p:cNvPr id="14" name="Text 11"/>
          <p:cNvSpPr txBox="1"/>
          <p:nvPr/>
        </p:nvSpPr>
        <p:spPr>
          <a:xfrm>
            <a:off x="8302752" y="1645920"/>
            <a:ext cx="2871216" cy="274320"/>
          </a:xfrm>
          <a:prstGeom prst="rect">
            <a:avLst/>
          </a:prstGeom>
          <a:noFill/>
          <a:ln/>
        </p:spPr>
        <p:txBody>
          <a:bodyPr wrap="square" lIns="0" tIns="0" rIns="0" bIns="0" rtlCol="0" anchor="ctr"/>
          <a:lstStyle/>
          <a:p>
            <a:pPr indent="0" marL="0">
              <a:buNone/>
            </a:pPr>
            <a:r>
              <a:rPr lang="en-US" sz="1350" b="1" dirty="0">
                <a:solidFill>
                  <a:srgbClr val="13403B"/>
                </a:solidFill>
                <a:latin typeface="Arial" pitchFamily="34" charset="0"/>
                <a:ea typeface="Arial" pitchFamily="34" charset="-122"/>
                <a:cs typeface="Arial" pitchFamily="34" charset="-120"/>
              </a:rPr>
              <a:t>3 · The two checks, and the review</a:t>
            </a:r>
            <a:endParaRPr lang="en-US" sz="1350" dirty="0"/>
          </a:p>
        </p:txBody>
      </p:sp>
      <p:sp>
        <p:nvSpPr>
          <p:cNvPr id="15" name="Text 12"/>
          <p:cNvSpPr txBox="1"/>
          <p:nvPr/>
        </p:nvSpPr>
        <p:spPr>
          <a:xfrm>
            <a:off x="8302752" y="1993392"/>
            <a:ext cx="2871216" cy="207568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Deviation log current.</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Claim-strength check for every committed question with any evidence.</a:t>
            </a:r>
            <a:endParaRPr lang="en-US" sz="1250" dirty="0"/>
          </a:p>
          <a:p>
            <a:pPr marL="342900" indent="-342900">
              <a:spcAft>
                <a:spcPts val="500"/>
              </a:spcAft>
              <a:buSzPct val="100000"/>
              <a:buChar char="•"/>
            </a:pPr>
            <a:r>
              <a:rPr lang="en-US" sz="1250" dirty="0">
                <a:solidFill>
                  <a:srgbClr val="23302C"/>
                </a:solidFill>
                <a:latin typeface="Calibri" pitchFamily="34" charset="0"/>
                <a:ea typeface="Calibri" pitchFamily="34" charset="-122"/>
                <a:cs typeface="Calibri" pitchFamily="34" charset="-120"/>
              </a:rPr>
              <a:t>The mid-project team review — every team, at the same time, in the middle of the class.</a:t>
            </a:r>
            <a:endParaRPr lang="en-US" sz="1250" dirty="0"/>
          </a:p>
        </p:txBody>
      </p:sp>
      <p:sp>
        <p:nvSpPr>
          <p:cNvPr id="16" name="Shape 13"/>
          <p:cNvSpPr/>
          <p:nvPr/>
        </p:nvSpPr>
        <p:spPr>
          <a:xfrm>
            <a:off x="731520" y="4434840"/>
            <a:ext cx="10698480" cy="914400"/>
          </a:xfrm>
          <a:prstGeom prst="roundRect">
            <a:avLst>
              <a:gd name="adj" fmla="val 8000"/>
            </a:avLst>
          </a:prstGeom>
          <a:solidFill>
            <a:srgbClr val="13403B"/>
          </a:solidFill>
          <a:ln w="12700">
            <a:solidFill>
              <a:srgbClr val="13403B"/>
            </a:solidFill>
            <a:prstDash val="solid"/>
          </a:ln>
        </p:spPr>
      </p:sp>
      <p:sp>
        <p:nvSpPr>
          <p:cNvPr id="17" name="Text 14"/>
          <p:cNvSpPr txBox="1"/>
          <p:nvPr/>
        </p:nvSpPr>
        <p:spPr>
          <a:xfrm>
            <a:off x="1024128" y="4434840"/>
            <a:ext cx="10113264" cy="9144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Do not write themes. Do not write findings. Do not report a percentage without its count, or call a correlation significant without its scatterplot, or say two groups were the same because a test came back null. Do not wait for the last session before coding the first.</a:t>
            </a:r>
            <a:endParaRPr lang="en-US" sz="1350" dirty="0"/>
          </a:p>
        </p:txBody>
      </p:sp>
      <p:sp>
        <p:nvSpPr>
          <p:cNvPr id="18" name="Text 15"/>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250" dirty="0">
                <a:solidFill>
                  <a:srgbClr val="6B7A72"/>
                </a:solidFill>
                <a:latin typeface="Calibri" pitchFamily="34" charset="0"/>
                <a:ea typeface="Calibri" pitchFamily="34" charset="-122"/>
                <a:cs typeface="Calibri" pitchFamily="34" charset="-120"/>
              </a:rPr>
              <a:t>Week 8 is where the numbers and the talk meet: what they agree on, where they disagree, where one is silent. Friday is for starting both.</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3403B"/>
        </a:solidFill>
      </p:bgPr>
    </p:bg>
    <p:spTree>
      <p:nvGrpSpPr>
        <p:cNvPr id="1" name=""/>
        <p:cNvGrpSpPr/>
        <p:nvPr/>
      </p:nvGrpSpPr>
      <p:grpSpPr>
        <a:xfrm>
          <a:off x="0" y="0"/>
          <a:ext cx="0" cy="0"/>
          <a:chOff x="0" y="0"/>
          <a:chExt cx="0" cy="0"/>
        </a:xfrm>
      </p:grpSpPr>
      <p:sp>
        <p:nvSpPr>
          <p:cNvPr id="2" name="Text 0"/>
          <p:cNvSpPr txBox="1"/>
          <p:nvPr/>
        </p:nvSpPr>
        <p:spPr>
          <a:xfrm>
            <a:off x="731520" y="457200"/>
            <a:ext cx="10607040" cy="256032"/>
          </a:xfrm>
          <a:prstGeom prst="rect">
            <a:avLst/>
          </a:prstGeom>
          <a:noFill/>
          <a:ln/>
        </p:spPr>
        <p:txBody>
          <a:bodyPr wrap="square" lIns="0" tIns="0" rIns="0" bIns="0" rtlCol="0" anchor="ctr"/>
          <a:lstStyle/>
          <a:p>
            <a:pPr indent="0" marL="0">
              <a:buNone/>
            </a:pPr>
            <a:r>
              <a:rPr lang="en-US" sz="1000" b="1" spc="200" kern="0" dirty="0">
                <a:solidFill>
                  <a:srgbClr val="9FB5AC"/>
                </a:solidFill>
                <a:latin typeface="Arial" pitchFamily="34" charset="0"/>
                <a:ea typeface="Arial" pitchFamily="34" charset="-122"/>
                <a:cs typeface="Arial" pitchFamily="34" charset="-120"/>
              </a:rPr>
              <a:t>WHERE TO FIND THINGS</a:t>
            </a:r>
            <a:endParaRPr lang="en-US" sz="1000" dirty="0"/>
          </a:p>
        </p:txBody>
      </p:sp>
      <p:sp>
        <p:nvSpPr>
          <p:cNvPr id="3" name="Text 1"/>
          <p:cNvSpPr txBox="1"/>
          <p:nvPr/>
        </p:nvSpPr>
        <p:spPr>
          <a:xfrm>
            <a:off x="731520" y="749808"/>
            <a:ext cx="1069848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Resources for This Week</a:t>
            </a:r>
            <a:endParaRPr lang="en-US" sz="3000" dirty="0"/>
          </a:p>
        </p:txBody>
      </p:sp>
      <p:sp>
        <p:nvSpPr>
          <p:cNvPr id="4" name="Text 2"/>
          <p:cNvSpPr txBox="1"/>
          <p:nvPr/>
        </p:nvSpPr>
        <p:spPr>
          <a:xfrm>
            <a:off x="731520" y="1554480"/>
            <a:ext cx="3840480" cy="5029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Quantitative Analysis with Colab</a:t>
            </a:r>
            <a:endParaRPr lang="en-US" sz="1250" dirty="0"/>
          </a:p>
        </p:txBody>
      </p:sp>
      <p:sp>
        <p:nvSpPr>
          <p:cNvPr id="5" name="Text 3"/>
          <p:cNvSpPr txBox="1"/>
          <p:nvPr/>
        </p:nvSpPr>
        <p:spPr>
          <a:xfrm>
            <a:off x="4663440" y="1554480"/>
            <a:ext cx="2377440" cy="502920"/>
          </a:xfrm>
          <a:prstGeom prst="rect">
            <a:avLst/>
          </a:prstGeom>
          <a:noFill/>
          <a:ln/>
        </p:spPr>
        <p:txBody>
          <a:bodyPr wrap="square" lIns="0" tIns="0" rIns="0" bIns="0" rtlCol="0" anchor="ctr"/>
          <a:lstStyle/>
          <a:p>
            <a:pPr indent="0" marL="0">
              <a:buNone/>
            </a:pPr>
            <a:r>
              <a:rPr lang="en-US" sz="1200" dirty="0">
                <a:solidFill>
                  <a:srgbClr val="D9A05B"/>
                </a:solidFill>
                <a:latin typeface="Calibri" pitchFamily="34" charset="0"/>
                <a:ea typeface="Calibri" pitchFamily="34" charset="-122"/>
                <a:cs typeface="Calibri" pitchFamily="34" charset="-120"/>
              </a:rPr>
              <a:t>Course website · Resources</a:t>
            </a:r>
            <a:endParaRPr lang="en-US" sz="1200" dirty="0"/>
          </a:p>
        </p:txBody>
      </p:sp>
      <p:sp>
        <p:nvSpPr>
          <p:cNvPr id="6" name="Text 4"/>
          <p:cNvSpPr txBox="1"/>
          <p:nvPr/>
        </p:nvSpPr>
        <p:spPr>
          <a:xfrm>
            <a:off x="7178040" y="1554480"/>
            <a:ext cx="4251960" cy="502920"/>
          </a:xfrm>
          <a:prstGeom prst="rect">
            <a:avLst/>
          </a:prstGeom>
          <a:noFill/>
          <a:ln/>
        </p:spPr>
        <p:txBody>
          <a:bodyPr wrap="square" lIns="0" tIns="0" rIns="0" bIns="0" rtlCol="0" anchor="ctr"/>
          <a:lstStyle/>
          <a:p>
            <a:pPr indent="0" marL="0">
              <a:buNone/>
            </a:pPr>
            <a:r>
              <a:rPr lang="en-US" sz="1150" dirty="0">
                <a:solidFill>
                  <a:srgbClr val="C3D2CB"/>
                </a:solidFill>
                <a:latin typeface="Calibri" pitchFamily="34" charset="0"/>
                <a:ea typeface="Calibri" pitchFamily="34" charset="-122"/>
                <a:cs typeface="Calibri" pitchFamily="34" charset="-120"/>
              </a:rPr>
              <a:t>The notebook step by step, what to write as you go, and how to report eighteen people honestly.</a:t>
            </a:r>
            <a:endParaRPr lang="en-US" sz="1150" dirty="0"/>
          </a:p>
        </p:txBody>
      </p:sp>
      <p:sp>
        <p:nvSpPr>
          <p:cNvPr id="7" name="Text 5"/>
          <p:cNvSpPr txBox="1"/>
          <p:nvPr/>
        </p:nvSpPr>
        <p:spPr>
          <a:xfrm>
            <a:off x="731520" y="2176272"/>
            <a:ext cx="3840480" cy="5029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Getting Set Up with NVivo</a:t>
            </a:r>
            <a:endParaRPr lang="en-US" sz="1250" dirty="0"/>
          </a:p>
        </p:txBody>
      </p:sp>
      <p:sp>
        <p:nvSpPr>
          <p:cNvPr id="8" name="Text 6"/>
          <p:cNvSpPr txBox="1"/>
          <p:nvPr/>
        </p:nvSpPr>
        <p:spPr>
          <a:xfrm>
            <a:off x="4663440" y="2176272"/>
            <a:ext cx="2377440" cy="502920"/>
          </a:xfrm>
          <a:prstGeom prst="rect">
            <a:avLst/>
          </a:prstGeom>
          <a:noFill/>
          <a:ln/>
        </p:spPr>
        <p:txBody>
          <a:bodyPr wrap="square" lIns="0" tIns="0" rIns="0" bIns="0" rtlCol="0" anchor="ctr"/>
          <a:lstStyle/>
          <a:p>
            <a:pPr indent="0" marL="0">
              <a:buNone/>
            </a:pPr>
            <a:r>
              <a:rPr lang="en-US" sz="1200" dirty="0">
                <a:solidFill>
                  <a:srgbClr val="D9A05B"/>
                </a:solidFill>
                <a:latin typeface="Calibri" pitchFamily="34" charset="0"/>
                <a:ea typeface="Calibri" pitchFamily="34" charset="-122"/>
                <a:cs typeface="Calibri" pitchFamily="34" charset="-120"/>
              </a:rPr>
              <a:t>Course website · Resources</a:t>
            </a:r>
            <a:endParaRPr lang="en-US" sz="1200" dirty="0"/>
          </a:p>
        </p:txBody>
      </p:sp>
      <p:sp>
        <p:nvSpPr>
          <p:cNvPr id="9" name="Text 7"/>
          <p:cNvSpPr txBox="1"/>
          <p:nvPr/>
        </p:nvSpPr>
        <p:spPr>
          <a:xfrm>
            <a:off x="7178040" y="2176272"/>
            <a:ext cx="4251960" cy="502920"/>
          </a:xfrm>
          <a:prstGeom prst="rect">
            <a:avLst/>
          </a:prstGeom>
          <a:noFill/>
          <a:ln/>
        </p:spPr>
        <p:txBody>
          <a:bodyPr wrap="square" lIns="0" tIns="0" rIns="0" bIns="0" rtlCol="0" anchor="ctr"/>
          <a:lstStyle/>
          <a:p>
            <a:pPr indent="0" marL="0">
              <a:buNone/>
            </a:pPr>
            <a:r>
              <a:rPr lang="en-US" sz="1150" dirty="0">
                <a:solidFill>
                  <a:srgbClr val="C3D2CB"/>
                </a:solidFill>
                <a:latin typeface="Calibri" pitchFamily="34" charset="0"/>
                <a:ea typeface="Calibri" pitchFamily="34" charset="-122"/>
                <a:cs typeface="Calibri" pitchFamily="34" charset="-120"/>
              </a:rPr>
              <a:t>Four steps into NVivo through the UQ Digital Workspace, and where your project has to live.</a:t>
            </a:r>
            <a:endParaRPr lang="en-US" sz="1150" dirty="0"/>
          </a:p>
        </p:txBody>
      </p:sp>
      <p:sp>
        <p:nvSpPr>
          <p:cNvPr id="10" name="Text 8"/>
          <p:cNvSpPr txBox="1"/>
          <p:nvPr/>
        </p:nvSpPr>
        <p:spPr>
          <a:xfrm>
            <a:off x="731520" y="2798064"/>
            <a:ext cx="3840480" cy="5029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Using NVivo for Qualitative Analysis</a:t>
            </a:r>
            <a:endParaRPr lang="en-US" sz="1250" dirty="0"/>
          </a:p>
        </p:txBody>
      </p:sp>
      <p:sp>
        <p:nvSpPr>
          <p:cNvPr id="11" name="Text 9"/>
          <p:cNvSpPr txBox="1"/>
          <p:nvPr/>
        </p:nvSpPr>
        <p:spPr>
          <a:xfrm>
            <a:off x="4663440" y="2798064"/>
            <a:ext cx="2377440" cy="502920"/>
          </a:xfrm>
          <a:prstGeom prst="rect">
            <a:avLst/>
          </a:prstGeom>
          <a:noFill/>
          <a:ln/>
        </p:spPr>
        <p:txBody>
          <a:bodyPr wrap="square" lIns="0" tIns="0" rIns="0" bIns="0" rtlCol="0" anchor="ctr"/>
          <a:lstStyle/>
          <a:p>
            <a:pPr indent="0" marL="0">
              <a:buNone/>
            </a:pPr>
            <a:r>
              <a:rPr lang="en-US" sz="1200" dirty="0">
                <a:solidFill>
                  <a:srgbClr val="D9A05B"/>
                </a:solidFill>
                <a:latin typeface="Calibri" pitchFamily="34" charset="0"/>
                <a:ea typeface="Calibri" pitchFamily="34" charset="-122"/>
                <a:cs typeface="Calibri" pitchFamily="34" charset="-120"/>
              </a:rPr>
              <a:t>Course website · Resources</a:t>
            </a:r>
            <a:endParaRPr lang="en-US" sz="1200" dirty="0"/>
          </a:p>
        </p:txBody>
      </p:sp>
      <p:sp>
        <p:nvSpPr>
          <p:cNvPr id="12" name="Text 10"/>
          <p:cNvSpPr txBox="1"/>
          <p:nvPr/>
        </p:nvSpPr>
        <p:spPr>
          <a:xfrm>
            <a:off x="7178040" y="2798064"/>
            <a:ext cx="4251960" cy="502920"/>
          </a:xfrm>
          <a:prstGeom prst="rect">
            <a:avLst/>
          </a:prstGeom>
          <a:noFill/>
          <a:ln/>
        </p:spPr>
        <p:txBody>
          <a:bodyPr wrap="square" lIns="0" tIns="0" rIns="0" bIns="0" rtlCol="0" anchor="ctr"/>
          <a:lstStyle/>
          <a:p>
            <a:pPr indent="0" marL="0">
              <a:buNone/>
            </a:pPr>
            <a:r>
              <a:rPr lang="en-US" sz="1150" dirty="0">
                <a:solidFill>
                  <a:srgbClr val="C3D2CB"/>
                </a:solidFill>
                <a:latin typeface="Calibri" pitchFamily="34" charset="0"/>
                <a:ea typeface="Calibri" pitchFamily="34" charset="-122"/>
                <a:cs typeface="Calibri" pitchFamily="34" charset="-120"/>
              </a:rPr>
              <a:t>The two videos, NVivo’s parts in the course’s terms, and the order of work.</a:t>
            </a:r>
            <a:endParaRPr lang="en-US" sz="1150" dirty="0"/>
          </a:p>
        </p:txBody>
      </p:sp>
      <p:sp>
        <p:nvSpPr>
          <p:cNvPr id="13" name="Text 11"/>
          <p:cNvSpPr txBox="1"/>
          <p:nvPr/>
        </p:nvSpPr>
        <p:spPr>
          <a:xfrm>
            <a:off x="731520" y="3419856"/>
            <a:ext cx="3840480" cy="5029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Analysis frameworks: PACE+W, Nielsen, Norman</a:t>
            </a:r>
            <a:endParaRPr lang="en-US" sz="1250" dirty="0"/>
          </a:p>
        </p:txBody>
      </p:sp>
      <p:sp>
        <p:nvSpPr>
          <p:cNvPr id="14" name="Text 12"/>
          <p:cNvSpPr txBox="1"/>
          <p:nvPr/>
        </p:nvSpPr>
        <p:spPr>
          <a:xfrm>
            <a:off x="4663440" y="3419856"/>
            <a:ext cx="2377440" cy="502920"/>
          </a:xfrm>
          <a:prstGeom prst="rect">
            <a:avLst/>
          </a:prstGeom>
          <a:noFill/>
          <a:ln/>
        </p:spPr>
        <p:txBody>
          <a:bodyPr wrap="square" lIns="0" tIns="0" rIns="0" bIns="0" rtlCol="0" anchor="ctr"/>
          <a:lstStyle/>
          <a:p>
            <a:pPr indent="0" marL="0">
              <a:buNone/>
            </a:pPr>
            <a:r>
              <a:rPr lang="en-US" sz="1200" dirty="0">
                <a:solidFill>
                  <a:srgbClr val="D9A05B"/>
                </a:solidFill>
                <a:latin typeface="Calibri" pitchFamily="34" charset="0"/>
                <a:ea typeface="Calibri" pitchFamily="34" charset="-122"/>
                <a:cs typeface="Calibri" pitchFamily="34" charset="-120"/>
              </a:rPr>
              <a:t>Course website · Resources</a:t>
            </a:r>
            <a:endParaRPr lang="en-US" sz="1200" dirty="0"/>
          </a:p>
        </p:txBody>
      </p:sp>
      <p:sp>
        <p:nvSpPr>
          <p:cNvPr id="15" name="Text 13"/>
          <p:cNvSpPr txBox="1"/>
          <p:nvPr/>
        </p:nvSpPr>
        <p:spPr>
          <a:xfrm>
            <a:off x="7178040" y="3419856"/>
            <a:ext cx="4251960" cy="502920"/>
          </a:xfrm>
          <a:prstGeom prst="rect">
            <a:avLst/>
          </a:prstGeom>
          <a:noFill/>
          <a:ln/>
        </p:spPr>
        <p:txBody>
          <a:bodyPr wrap="square" lIns="0" tIns="0" rIns="0" bIns="0" rtlCol="0" anchor="ctr"/>
          <a:lstStyle/>
          <a:p>
            <a:pPr indent="0" marL="0">
              <a:buNone/>
            </a:pPr>
            <a:r>
              <a:rPr lang="en-US" sz="1150" dirty="0">
                <a:solidFill>
                  <a:srgbClr val="C3D2CB"/>
                </a:solidFill>
                <a:latin typeface="Calibri" pitchFamily="34" charset="0"/>
                <a:ea typeface="Calibri" pitchFamily="34" charset="-122"/>
                <a:cs typeface="Calibri" pitchFamily="34" charset="-120"/>
              </a:rPr>
              <a:t>Codebooks with definitions and example passages, ready to set up in NVivo. Being prepared this week.</a:t>
            </a:r>
            <a:endParaRPr lang="en-US" sz="1150" dirty="0"/>
          </a:p>
        </p:txBody>
      </p:sp>
      <p:sp>
        <p:nvSpPr>
          <p:cNvPr id="16" name="Text 14"/>
          <p:cNvSpPr txBox="1"/>
          <p:nvPr/>
        </p:nvSpPr>
        <p:spPr>
          <a:xfrm>
            <a:off x="731520" y="4041648"/>
            <a:ext cx="3840480" cy="5029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Analysing What You Collect</a:t>
            </a:r>
            <a:endParaRPr lang="en-US" sz="1250" dirty="0"/>
          </a:p>
        </p:txBody>
      </p:sp>
      <p:sp>
        <p:nvSpPr>
          <p:cNvPr id="17" name="Text 15"/>
          <p:cNvSpPr txBox="1"/>
          <p:nvPr/>
        </p:nvSpPr>
        <p:spPr>
          <a:xfrm>
            <a:off x="4663440" y="4041648"/>
            <a:ext cx="2377440" cy="502920"/>
          </a:xfrm>
          <a:prstGeom prst="rect">
            <a:avLst/>
          </a:prstGeom>
          <a:noFill/>
          <a:ln/>
        </p:spPr>
        <p:txBody>
          <a:bodyPr wrap="square" lIns="0" tIns="0" rIns="0" bIns="0" rtlCol="0" anchor="ctr"/>
          <a:lstStyle/>
          <a:p>
            <a:pPr indent="0" marL="0">
              <a:buNone/>
            </a:pPr>
            <a:r>
              <a:rPr lang="en-US" sz="1200" dirty="0">
                <a:solidFill>
                  <a:srgbClr val="D9A05B"/>
                </a:solidFill>
                <a:latin typeface="Calibri" pitchFamily="34" charset="0"/>
                <a:ea typeface="Calibri" pitchFamily="34" charset="-122"/>
                <a:cs typeface="Calibri" pitchFamily="34" charset="-120"/>
              </a:rPr>
              <a:t>Course website · Resources</a:t>
            </a:r>
            <a:endParaRPr lang="en-US" sz="1200" dirty="0"/>
          </a:p>
        </p:txBody>
      </p:sp>
      <p:sp>
        <p:nvSpPr>
          <p:cNvPr id="18" name="Text 16"/>
          <p:cNvSpPr txBox="1"/>
          <p:nvPr/>
        </p:nvSpPr>
        <p:spPr>
          <a:xfrm>
            <a:off x="7178040" y="4041648"/>
            <a:ext cx="4251960" cy="502920"/>
          </a:xfrm>
          <a:prstGeom prst="rect">
            <a:avLst/>
          </a:prstGeom>
          <a:noFill/>
          <a:ln/>
        </p:spPr>
        <p:txBody>
          <a:bodyPr wrap="square" lIns="0" tIns="0" rIns="0" bIns="0" rtlCol="0" anchor="ctr"/>
          <a:lstStyle/>
          <a:p>
            <a:pPr indent="0" marL="0">
              <a:buNone/>
            </a:pPr>
            <a:r>
              <a:rPr lang="en-US" sz="1150" dirty="0">
                <a:solidFill>
                  <a:srgbClr val="C3D2CB"/>
                </a:solidFill>
                <a:latin typeface="Calibri" pitchFamily="34" charset="0"/>
                <a:ea typeface="Calibri" pitchFamily="34" charset="-122"/>
                <a:cs typeface="Calibri" pitchFamily="34" charset="-120"/>
              </a:rPr>
              <a:t>Qualitative, quantitative, triangulation, and the claim language.</a:t>
            </a:r>
            <a:endParaRPr lang="en-US" sz="1150" dirty="0"/>
          </a:p>
        </p:txBody>
      </p:sp>
      <p:sp>
        <p:nvSpPr>
          <p:cNvPr id="19" name="Text 17"/>
          <p:cNvSpPr txBox="1"/>
          <p:nvPr/>
        </p:nvSpPr>
        <p:spPr>
          <a:xfrm>
            <a:off x="731520" y="4663440"/>
            <a:ext cx="3840480" cy="5029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Research Ethics and Data Handling</a:t>
            </a:r>
            <a:endParaRPr lang="en-US" sz="1250" dirty="0"/>
          </a:p>
        </p:txBody>
      </p:sp>
      <p:sp>
        <p:nvSpPr>
          <p:cNvPr id="20" name="Text 18"/>
          <p:cNvSpPr txBox="1"/>
          <p:nvPr/>
        </p:nvSpPr>
        <p:spPr>
          <a:xfrm>
            <a:off x="4663440" y="4663440"/>
            <a:ext cx="2377440" cy="502920"/>
          </a:xfrm>
          <a:prstGeom prst="rect">
            <a:avLst/>
          </a:prstGeom>
          <a:noFill/>
          <a:ln/>
        </p:spPr>
        <p:txBody>
          <a:bodyPr wrap="square" lIns="0" tIns="0" rIns="0" bIns="0" rtlCol="0" anchor="ctr"/>
          <a:lstStyle/>
          <a:p>
            <a:pPr indent="0" marL="0">
              <a:buNone/>
            </a:pPr>
            <a:r>
              <a:rPr lang="en-US" sz="1200" dirty="0">
                <a:solidFill>
                  <a:srgbClr val="D9A05B"/>
                </a:solidFill>
                <a:latin typeface="Calibri" pitchFamily="34" charset="0"/>
                <a:ea typeface="Calibri" pitchFamily="34" charset="-122"/>
                <a:cs typeface="Calibri" pitchFamily="34" charset="-120"/>
              </a:rPr>
              <a:t>Course website · Resources</a:t>
            </a:r>
            <a:endParaRPr lang="en-US" sz="1200" dirty="0"/>
          </a:p>
        </p:txBody>
      </p:sp>
      <p:sp>
        <p:nvSpPr>
          <p:cNvPr id="21" name="Text 19"/>
          <p:cNvSpPr txBox="1"/>
          <p:nvPr/>
        </p:nvSpPr>
        <p:spPr>
          <a:xfrm>
            <a:off x="7178040" y="4663440"/>
            <a:ext cx="4251960" cy="502920"/>
          </a:xfrm>
          <a:prstGeom prst="rect">
            <a:avLst/>
          </a:prstGeom>
          <a:noFill/>
          <a:ln/>
        </p:spPr>
        <p:txBody>
          <a:bodyPr wrap="square" lIns="0" tIns="0" rIns="0" bIns="0" rtlCol="0" anchor="ctr"/>
          <a:lstStyle/>
          <a:p>
            <a:pPr indent="0" marL="0">
              <a:buNone/>
            </a:pPr>
            <a:r>
              <a:rPr lang="en-US" sz="1150" dirty="0">
                <a:solidFill>
                  <a:srgbClr val="C3D2CB"/>
                </a:solidFill>
                <a:latin typeface="Calibri" pitchFamily="34" charset="0"/>
                <a:ea typeface="Calibri" pitchFamily="34" charset="-122"/>
                <a:cs typeface="Calibri" pitchFamily="34" charset="-120"/>
              </a:rPr>
              <a:t>Where data lives, what may leave the team folder, and the transcription rules.</a:t>
            </a:r>
            <a:endParaRPr lang="en-US" sz="1150" dirty="0"/>
          </a:p>
        </p:txBody>
      </p:sp>
      <p:sp>
        <p:nvSpPr>
          <p:cNvPr id="22" name="Shape 20"/>
          <p:cNvSpPr/>
          <p:nvPr/>
        </p:nvSpPr>
        <p:spPr>
          <a:xfrm>
            <a:off x="731520" y="5440680"/>
            <a:ext cx="10698480" cy="0"/>
          </a:xfrm>
          <a:prstGeom prst="line">
            <a:avLst/>
          </a:prstGeom>
          <a:noFill/>
          <a:ln w="12700">
            <a:solidFill>
              <a:srgbClr val="2C5E52"/>
            </a:solidFill>
            <a:prstDash val="solid"/>
          </a:ln>
        </p:spPr>
      </p:sp>
      <p:sp>
        <p:nvSpPr>
          <p:cNvPr id="23" name="Text 21"/>
          <p:cNvSpPr txBox="1"/>
          <p:nvPr/>
        </p:nvSpPr>
        <p:spPr>
          <a:xfrm>
            <a:off x="731520" y="5577840"/>
            <a:ext cx="10698480" cy="274320"/>
          </a:xfrm>
          <a:prstGeom prst="rect">
            <a:avLst/>
          </a:prstGeom>
          <a:noFill/>
          <a:ln/>
        </p:spPr>
        <p:txBody>
          <a:bodyPr wrap="square" lIns="0" tIns="0" rIns="0" bIns="0" rtlCol="0" anchor="ctr"/>
          <a:lstStyle/>
          <a:p>
            <a:pPr indent="0" marL="0">
              <a:buNone/>
            </a:pPr>
            <a:r>
              <a:rPr lang="en-US" sz="1150" dirty="0">
                <a:solidFill>
                  <a:srgbClr val="C3D2CB"/>
                </a:solidFill>
                <a:latin typeface="Calibri" pitchFamily="34" charset="0"/>
                <a:ea typeface="Calibri" pitchFamily="34" charset="-122"/>
                <a:cs typeface="Calibri" pitchFamily="34" charset="-120"/>
              </a:rPr>
              <a:t>Ask your tutor in the applied class if anything on this list is unclear.</a:t>
            </a:r>
            <a:endParaRPr lang="en-US" sz="1150" dirty="0"/>
          </a:p>
        </p:txBody>
      </p:sp>
      <p:sp>
        <p:nvSpPr>
          <p:cNvPr id="24" name="Text 22"/>
          <p:cNvSpPr txBox="1"/>
          <p:nvPr/>
        </p:nvSpPr>
        <p:spPr>
          <a:xfrm>
            <a:off x="731520" y="6400800"/>
            <a:ext cx="4572000" cy="228600"/>
          </a:xfrm>
          <a:prstGeom prst="rect">
            <a:avLst/>
          </a:prstGeom>
          <a:noFill/>
          <a:ln/>
        </p:spPr>
        <p:txBody>
          <a:bodyPr wrap="square" lIns="0" tIns="0" rIns="0" bIns="0" rtlCol="0" anchor="ctr"/>
          <a:lstStyle/>
          <a:p>
            <a:pPr indent="0" marL="0">
              <a:buNone/>
            </a:pPr>
            <a:r>
              <a:rPr lang="en-US" sz="900" dirty="0">
                <a:solidFill>
                  <a:srgbClr val="7E938B"/>
                </a:solidFill>
                <a:latin typeface="Calibri" pitchFamily="34" charset="0"/>
                <a:ea typeface="Calibri" pitchFamily="34" charset="-122"/>
                <a:cs typeface="Calibri" pitchFamily="34" charset="-120"/>
              </a:rPr>
              <a:t>Week 7 — What the Evidence Can Tell You</a:t>
            </a:r>
            <a:endParaRPr lang="en-US" sz="900" dirty="0"/>
          </a:p>
        </p:txBody>
      </p:sp>
      <p:sp>
        <p:nvSpPr>
          <p:cNvPr id="25" name="Text 23"/>
          <p:cNvSpPr txBox="1"/>
          <p:nvPr/>
        </p:nvSpPr>
        <p:spPr>
          <a:xfrm>
            <a:off x="6858000" y="6400800"/>
            <a:ext cx="4572000" cy="228600"/>
          </a:xfrm>
          <a:prstGeom prst="rect">
            <a:avLst/>
          </a:prstGeom>
          <a:noFill/>
          <a:ln/>
        </p:spPr>
        <p:txBody>
          <a:bodyPr wrap="square" lIns="0" tIns="0" rIns="0" bIns="0" rtlCol="0" anchor="ctr"/>
          <a:lstStyle/>
          <a:p>
            <a:pPr algn="r" indent="0" marL="0">
              <a:buNone/>
            </a:pPr>
            <a:r>
              <a:rPr lang="en-US" sz="900" dirty="0">
                <a:solidFill>
                  <a:srgbClr val="7E938B"/>
                </a:solidFill>
                <a:latin typeface="Calibri" pitchFamily="34" charset="0"/>
                <a:ea typeface="Calibri" pitchFamily="34" charset="-122"/>
                <a:cs typeface="Calibri" pitchFamily="34" charset="-120"/>
              </a:rPr>
              <a:t>DECO6500 | Week 7 Lecture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2026-09-07T10:12:13Z</dcterms:created>
  <dcterms:modified xsi:type="dcterms:W3CDTF">2026-09-07T10:12:13Z</dcterms:modified>
</cp:coreProperties>
</file>